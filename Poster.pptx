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56" r:id="rId5"/>
  </p:sldIdLst>
  <p:sldSz cx="36576000" cy="36576000"/>
  <p:notesSz cx="9309100" cy="7023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317"/>
    <a:srgbClr val="373AC1"/>
    <a:srgbClr val="3F56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57" autoAdjust="0"/>
  </p:normalViewPr>
  <p:slideViewPr>
    <p:cSldViewPr snapToGrid="0">
      <p:cViewPr>
        <p:scale>
          <a:sx n="25" d="100"/>
          <a:sy n="25" d="100"/>
        </p:scale>
        <p:origin x="1872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33944" cy="352373"/>
          </a:xfrm>
          <a:prstGeom prst="rect">
            <a:avLst/>
          </a:prstGeom>
        </p:spPr>
        <p:txBody>
          <a:bodyPr vert="horz" lIns="93299" tIns="46650" rIns="93299" bIns="4665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3004" y="1"/>
            <a:ext cx="4033944" cy="352373"/>
          </a:xfrm>
          <a:prstGeom prst="rect">
            <a:avLst/>
          </a:prstGeom>
        </p:spPr>
        <p:txBody>
          <a:bodyPr vert="horz" lIns="93299" tIns="46650" rIns="93299" bIns="46650" rtlCol="0"/>
          <a:lstStyle>
            <a:lvl1pPr algn="r">
              <a:defRPr sz="1200"/>
            </a:lvl1pPr>
          </a:lstStyle>
          <a:p>
            <a:fld id="{7269A88F-2C4C-4B7B-B929-FF98F3D29C38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68688" y="876300"/>
            <a:ext cx="2371725" cy="23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99" tIns="46650" rIns="93299" bIns="4665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0912" y="3379868"/>
            <a:ext cx="7447280" cy="2765345"/>
          </a:xfrm>
          <a:prstGeom prst="rect">
            <a:avLst/>
          </a:prstGeom>
        </p:spPr>
        <p:txBody>
          <a:bodyPr vert="horz" lIns="93299" tIns="46650" rIns="93299" bIns="4665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70728"/>
            <a:ext cx="4033944" cy="352373"/>
          </a:xfrm>
          <a:prstGeom prst="rect">
            <a:avLst/>
          </a:prstGeom>
        </p:spPr>
        <p:txBody>
          <a:bodyPr vert="horz" lIns="93299" tIns="46650" rIns="93299" bIns="4665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3004" y="6670728"/>
            <a:ext cx="4033944" cy="352373"/>
          </a:xfrm>
          <a:prstGeom prst="rect">
            <a:avLst/>
          </a:prstGeom>
        </p:spPr>
        <p:txBody>
          <a:bodyPr vert="horz" lIns="93299" tIns="46650" rIns="93299" bIns="46650" rtlCol="0" anchor="b"/>
          <a:lstStyle>
            <a:lvl1pPr algn="r">
              <a:defRPr sz="1200"/>
            </a:lvl1pPr>
          </a:lstStyle>
          <a:p>
            <a:fld id="{AFACA840-045E-4DA1-A5B7-44798B76B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9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1pPr>
    <a:lvl2pPr marL="1755648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2pPr>
    <a:lvl3pPr marL="3511296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3pPr>
    <a:lvl4pPr marL="5266944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4pPr>
    <a:lvl5pPr marL="7022592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5pPr>
    <a:lvl6pPr marL="8778240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6pPr>
    <a:lvl7pPr marL="10533888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7pPr>
    <a:lvl8pPr marL="12289536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8pPr>
    <a:lvl9pPr marL="14045184" algn="l" defTabSz="3511296" rtl="0" eaLnBrk="1" latinLnBrk="0" hangingPunct="1">
      <a:defRPr sz="46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ACA840-045E-4DA1-A5B7-44798B76B3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19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0" y="5985936"/>
            <a:ext cx="31089600" cy="12733867"/>
          </a:xfrm>
        </p:spPr>
        <p:txBody>
          <a:bodyPr anchor="b"/>
          <a:lstStyle>
            <a:lvl1pPr algn="ctr"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19210869"/>
            <a:ext cx="27432000" cy="8830731"/>
          </a:xfrm>
        </p:spPr>
        <p:txBody>
          <a:bodyPr/>
          <a:lstStyle>
            <a:lvl1pPr marL="0" indent="0" algn="ctr">
              <a:buNone/>
              <a:defRPr sz="9600"/>
            </a:lvl1pPr>
            <a:lvl2pPr marL="1828800" indent="0" algn="ctr">
              <a:buNone/>
              <a:defRPr sz="8000"/>
            </a:lvl2pPr>
            <a:lvl3pPr marL="3657600" indent="0" algn="ctr">
              <a:buNone/>
              <a:defRPr sz="7200"/>
            </a:lvl3pPr>
            <a:lvl4pPr marL="5486400" indent="0" algn="ctr">
              <a:buNone/>
              <a:defRPr sz="6400"/>
            </a:lvl4pPr>
            <a:lvl5pPr marL="7315200" indent="0" algn="ctr">
              <a:buNone/>
              <a:defRPr sz="6400"/>
            </a:lvl5pPr>
            <a:lvl6pPr marL="9144000" indent="0" algn="ctr">
              <a:buNone/>
              <a:defRPr sz="6400"/>
            </a:lvl6pPr>
            <a:lvl7pPr marL="10972800" indent="0" algn="ctr">
              <a:buNone/>
              <a:defRPr sz="6400"/>
            </a:lvl7pPr>
            <a:lvl8pPr marL="12801600" indent="0" algn="ctr">
              <a:buNone/>
              <a:defRPr sz="6400"/>
            </a:lvl8pPr>
            <a:lvl9pPr marL="14630400" indent="0" algn="ctr">
              <a:buNone/>
              <a:defRPr sz="6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90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19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2" y="9118611"/>
            <a:ext cx="31546800" cy="15214597"/>
          </a:xfrm>
        </p:spPr>
        <p:txBody>
          <a:bodyPr anchor="b"/>
          <a:lstStyle>
            <a:lvl1pPr>
              <a:defRPr sz="2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2" y="24477144"/>
            <a:ext cx="31546800" cy="8000997"/>
          </a:xfrm>
        </p:spPr>
        <p:txBody>
          <a:bodyPr/>
          <a:lstStyle>
            <a:lvl1pPr marL="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1pPr>
            <a:lvl2pPr marL="1828800" indent="0">
              <a:buNone/>
              <a:defRPr sz="8000">
                <a:solidFill>
                  <a:schemeClr val="tx1">
                    <a:tint val="82000"/>
                  </a:schemeClr>
                </a:solidFill>
              </a:defRPr>
            </a:lvl2pPr>
            <a:lvl3pPr marL="365760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3pPr>
            <a:lvl4pPr marL="54864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4pPr>
            <a:lvl5pPr marL="73152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5pPr>
            <a:lvl6pPr marL="91440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6pPr>
            <a:lvl7pPr marL="109728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7pPr>
            <a:lvl8pPr marL="128016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8pPr>
            <a:lvl9pPr marL="14630400" indent="0">
              <a:buNone/>
              <a:defRPr sz="6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7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9736667"/>
            <a:ext cx="155448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9736667"/>
            <a:ext cx="15544800" cy="23207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1947342"/>
            <a:ext cx="31546800" cy="70696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8" y="8966203"/>
            <a:ext cx="15473360" cy="439419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8" y="13360400"/>
            <a:ext cx="15473360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2" y="8966203"/>
            <a:ext cx="15549564" cy="4394197"/>
          </a:xfrm>
        </p:spPr>
        <p:txBody>
          <a:bodyPr anchor="b"/>
          <a:lstStyle>
            <a:lvl1pPr marL="0" indent="0">
              <a:buNone/>
              <a:defRPr sz="9600" b="1"/>
            </a:lvl1pPr>
            <a:lvl2pPr marL="1828800" indent="0">
              <a:buNone/>
              <a:defRPr sz="8000" b="1"/>
            </a:lvl2pPr>
            <a:lvl3pPr marL="3657600" indent="0">
              <a:buNone/>
              <a:defRPr sz="7200" b="1"/>
            </a:lvl3pPr>
            <a:lvl4pPr marL="5486400" indent="0">
              <a:buNone/>
              <a:defRPr sz="6400" b="1"/>
            </a:lvl4pPr>
            <a:lvl5pPr marL="7315200" indent="0">
              <a:buNone/>
              <a:defRPr sz="6400" b="1"/>
            </a:lvl5pPr>
            <a:lvl6pPr marL="9144000" indent="0">
              <a:buNone/>
              <a:defRPr sz="6400" b="1"/>
            </a:lvl6pPr>
            <a:lvl7pPr marL="10972800" indent="0">
              <a:buNone/>
              <a:defRPr sz="6400" b="1"/>
            </a:lvl7pPr>
            <a:lvl8pPr marL="12801600" indent="0">
              <a:buNone/>
              <a:defRPr sz="6400" b="1"/>
            </a:lvl8pPr>
            <a:lvl9pPr marL="14630400" indent="0">
              <a:buNone/>
              <a:defRPr sz="6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2" y="13360400"/>
            <a:ext cx="15549564" cy="19651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32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438400"/>
            <a:ext cx="11796712" cy="85344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5266275"/>
            <a:ext cx="18516600" cy="25992667"/>
          </a:xfrm>
        </p:spPr>
        <p:txBody>
          <a:bodyPr/>
          <a:lstStyle>
            <a:lvl1pPr>
              <a:defRPr sz="12800"/>
            </a:lvl1pPr>
            <a:lvl2pPr>
              <a:defRPr sz="11200"/>
            </a:lvl2pPr>
            <a:lvl3pPr>
              <a:defRPr sz="9600"/>
            </a:lvl3pPr>
            <a:lvl4pPr>
              <a:defRPr sz="8000"/>
            </a:lvl4pPr>
            <a:lvl5pPr>
              <a:defRPr sz="8000"/>
            </a:lvl5pPr>
            <a:lvl6pPr>
              <a:defRPr sz="8000"/>
            </a:lvl6pPr>
            <a:lvl7pPr>
              <a:defRPr sz="8000"/>
            </a:lvl7pPr>
            <a:lvl8pPr>
              <a:defRPr sz="8000"/>
            </a:lvl8pPr>
            <a:lvl9pPr>
              <a:defRPr sz="8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0972800"/>
            <a:ext cx="11796712" cy="20328469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9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2438400"/>
            <a:ext cx="11796712" cy="8534400"/>
          </a:xfrm>
        </p:spPr>
        <p:txBody>
          <a:bodyPr anchor="b"/>
          <a:lstStyle>
            <a:lvl1pPr>
              <a:defRPr sz="1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5266275"/>
            <a:ext cx="18516600" cy="25992667"/>
          </a:xfrm>
        </p:spPr>
        <p:txBody>
          <a:bodyPr anchor="t"/>
          <a:lstStyle>
            <a:lvl1pPr marL="0" indent="0">
              <a:buNone/>
              <a:defRPr sz="12800"/>
            </a:lvl1pPr>
            <a:lvl2pPr marL="1828800" indent="0">
              <a:buNone/>
              <a:defRPr sz="11200"/>
            </a:lvl2pPr>
            <a:lvl3pPr marL="3657600" indent="0">
              <a:buNone/>
              <a:defRPr sz="9600"/>
            </a:lvl3pPr>
            <a:lvl4pPr marL="5486400" indent="0">
              <a:buNone/>
              <a:defRPr sz="8000"/>
            </a:lvl4pPr>
            <a:lvl5pPr marL="7315200" indent="0">
              <a:buNone/>
              <a:defRPr sz="8000"/>
            </a:lvl5pPr>
            <a:lvl6pPr marL="9144000" indent="0">
              <a:buNone/>
              <a:defRPr sz="8000"/>
            </a:lvl6pPr>
            <a:lvl7pPr marL="10972800" indent="0">
              <a:buNone/>
              <a:defRPr sz="8000"/>
            </a:lvl7pPr>
            <a:lvl8pPr marL="12801600" indent="0">
              <a:buNone/>
              <a:defRPr sz="8000"/>
            </a:lvl8pPr>
            <a:lvl9pPr marL="14630400" indent="0">
              <a:buNone/>
              <a:defRPr sz="8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4" y="10972800"/>
            <a:ext cx="11796712" cy="20328469"/>
          </a:xfrm>
        </p:spPr>
        <p:txBody>
          <a:bodyPr/>
          <a:lstStyle>
            <a:lvl1pPr marL="0" indent="0">
              <a:buNone/>
              <a:defRPr sz="6400"/>
            </a:lvl1pPr>
            <a:lvl2pPr marL="1828800" indent="0">
              <a:buNone/>
              <a:defRPr sz="5600"/>
            </a:lvl2pPr>
            <a:lvl3pPr marL="3657600" indent="0">
              <a:buNone/>
              <a:defRPr sz="4800"/>
            </a:lvl3pPr>
            <a:lvl4pPr marL="5486400" indent="0">
              <a:buNone/>
              <a:defRPr sz="4000"/>
            </a:lvl4pPr>
            <a:lvl5pPr marL="7315200" indent="0">
              <a:buNone/>
              <a:defRPr sz="4000"/>
            </a:lvl5pPr>
            <a:lvl6pPr marL="9144000" indent="0">
              <a:buNone/>
              <a:defRPr sz="4000"/>
            </a:lvl6pPr>
            <a:lvl7pPr marL="10972800" indent="0">
              <a:buNone/>
              <a:defRPr sz="4000"/>
            </a:lvl7pPr>
            <a:lvl8pPr marL="12801600" indent="0">
              <a:buNone/>
              <a:defRPr sz="4000"/>
            </a:lvl8pPr>
            <a:lvl9pPr marL="14630400" indent="0">
              <a:buNone/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97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2" y="1947334"/>
            <a:ext cx="7886700" cy="309964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2" y="1947334"/>
            <a:ext cx="23202900" cy="309964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1947342"/>
            <a:ext cx="31546800" cy="7069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9736667"/>
            <a:ext cx="31546800" cy="23207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33900542"/>
            <a:ext cx="82296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51C04-09F6-4666-9E9D-1159F84DBD5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33900542"/>
            <a:ext cx="123444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33900542"/>
            <a:ext cx="8229600" cy="1947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61807-5A36-4ECB-AEAD-413BDF4A0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02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0" rtl="0" eaLnBrk="1" latinLnBrk="0" hangingPunct="1">
        <a:lnSpc>
          <a:spcPct val="90000"/>
        </a:lnSpc>
        <a:spcBef>
          <a:spcPct val="0"/>
        </a:spcBef>
        <a:buNone/>
        <a:defRPr sz="1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0" indent="-914400" algn="l" defTabSz="3657600" rtl="0" eaLnBrk="1" latinLnBrk="0" hangingPunct="1">
        <a:lnSpc>
          <a:spcPct val="90000"/>
        </a:lnSpc>
        <a:spcBef>
          <a:spcPts val="40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8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0" indent="-914400" algn="l" defTabSz="36576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0" algn="l" defTabSz="3657600" rtl="0" eaLnBrk="1" latinLnBrk="0" hangingPunct="1">
        <a:defRPr sz="7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60F4CE1B-7AA0-4E82-1B5D-B4C7217C60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981" y="30296608"/>
            <a:ext cx="36632981" cy="6287206"/>
          </a:xfrm>
          <a:prstGeom prst="rect">
            <a:avLst/>
          </a:prstGeom>
          <a:noFill/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34018BC-1E9A-DD80-5E2E-823C59261E12}"/>
              </a:ext>
            </a:extLst>
          </p:cNvPr>
          <p:cNvSpPr/>
          <p:nvPr/>
        </p:nvSpPr>
        <p:spPr>
          <a:xfrm>
            <a:off x="14843485" y="7582299"/>
            <a:ext cx="8978734" cy="5789450"/>
          </a:xfrm>
          <a:prstGeom prst="rect">
            <a:avLst/>
          </a:prstGeom>
          <a:solidFill>
            <a:schemeClr val="tx1"/>
          </a:solidFill>
          <a:ln w="50800">
            <a:solidFill>
              <a:schemeClr val="bg1"/>
            </a:solidFill>
          </a:ln>
          <a:effectLst>
            <a:outerShdw blurRad="1270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2A61DDC-C341-6017-EBE5-EFA9C4BCFDC2}"/>
              </a:ext>
            </a:extLst>
          </p:cNvPr>
          <p:cNvCxnSpPr>
            <a:cxnSpLocks/>
          </p:cNvCxnSpPr>
          <p:nvPr/>
        </p:nvCxnSpPr>
        <p:spPr>
          <a:xfrm flipV="1">
            <a:off x="20284466" y="9017399"/>
            <a:ext cx="1144067" cy="733120"/>
          </a:xfrm>
          <a:prstGeom prst="bentConnector3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96FD045C-D841-025C-685E-C8B356801E20}"/>
              </a:ext>
            </a:extLst>
          </p:cNvPr>
          <p:cNvCxnSpPr>
            <a:cxnSpLocks/>
          </p:cNvCxnSpPr>
          <p:nvPr/>
        </p:nvCxnSpPr>
        <p:spPr>
          <a:xfrm>
            <a:off x="20301394" y="8035086"/>
            <a:ext cx="1144067" cy="982313"/>
          </a:xfrm>
          <a:prstGeom prst="bentConnector3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8F4525AD-5BFD-91C9-5594-2D7B40467E23}"/>
              </a:ext>
            </a:extLst>
          </p:cNvPr>
          <p:cNvCxnSpPr>
            <a:cxnSpLocks/>
          </p:cNvCxnSpPr>
          <p:nvPr/>
        </p:nvCxnSpPr>
        <p:spPr>
          <a:xfrm>
            <a:off x="20185771" y="8939207"/>
            <a:ext cx="1160995" cy="80746"/>
          </a:xfrm>
          <a:prstGeom prst="bentConnector3">
            <a:avLst>
              <a:gd name="adj1" fmla="val 50000"/>
            </a:avLst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24BCE3-60FA-A088-C40B-19DF88313281}"/>
                  </a:ext>
                </a:extLst>
              </p:cNvPr>
              <p:cNvSpPr/>
              <p:nvPr/>
            </p:nvSpPr>
            <p:spPr>
              <a:xfrm>
                <a:off x="1150374" y="33524033"/>
                <a:ext cx="3403600" cy="2021758"/>
              </a:xfrm>
              <a:prstGeom prst="rect">
                <a:avLst/>
              </a:prstGeom>
              <a:solidFill>
                <a:srgbClr val="FFC3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RET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NMF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 + 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RET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_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NMP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</a:rPr>
                            <m:t>RRFTCTA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</a:rPr>
                            <m:t> + 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</a:rPr>
                            <m:t>RRPTCTA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24BCE3-60FA-A088-C40B-19DF883132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374" y="33524033"/>
                <a:ext cx="3403600" cy="20217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4EC140-0022-3729-E819-3872B79C4F90}"/>
                  </a:ext>
                </a:extLst>
              </p:cNvPr>
              <p:cNvSpPr/>
              <p:nvPr/>
            </p:nvSpPr>
            <p:spPr>
              <a:xfrm>
                <a:off x="5011174" y="33536733"/>
                <a:ext cx="3403600" cy="2009059"/>
              </a:xfrm>
              <a:prstGeom prst="rect">
                <a:avLst/>
              </a:prstGeom>
              <a:solidFill>
                <a:srgbClr val="FFC3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eqArr>
                            <m:eqArrPr>
                              <m:ctrlPr>
                                <a:rPr lang="en-US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</a:rPr>
                                <m:t>OMCERT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</a:rPr>
                                <m:t>8 + 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</a:rPr>
                                <m:t>OMASSC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</a:rPr>
                                <m:t>8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</a:rPr>
                                <m:t>+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</a:rPr>
                                <m:t>OMBACH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</a:rPr>
                                <m:t>8 +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solidFill>
                                    <a:schemeClr val="bg1"/>
                                  </a:solidFill>
                                </a:rPr>
                                <m:t>OMENRAI</m:t>
                              </m:r>
                            </m:e>
                          </m:eqArr>
                        </m:num>
                        <m:den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OMACHRT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OMCHRT = 50</a:t>
                </a: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4EC140-0022-3729-E819-3872B79C4F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1174" y="33536733"/>
                <a:ext cx="3403600" cy="2009059"/>
              </a:xfrm>
              <a:prstGeom prst="rect">
                <a:avLst/>
              </a:prstGeom>
              <a:blipFill>
                <a:blip r:embed="rId5"/>
                <a:stretch>
                  <a:fillRect b="-210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6451A8A9-70C5-2ADB-DCF2-CD44EFD0984F}"/>
              </a:ext>
            </a:extLst>
          </p:cNvPr>
          <p:cNvSpPr/>
          <p:nvPr/>
        </p:nvSpPr>
        <p:spPr>
          <a:xfrm>
            <a:off x="24315174" y="33524033"/>
            <a:ext cx="3403600" cy="2021758"/>
          </a:xfrm>
          <a:prstGeom prst="rect">
            <a:avLst/>
          </a:prstGeom>
          <a:solidFill>
            <a:srgbClr val="FFC31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STUFACR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0201F2A-1C77-9B16-8EE7-82713E51D27F}"/>
                  </a:ext>
                </a:extLst>
              </p:cNvPr>
              <p:cNvSpPr/>
              <p:nvPr/>
            </p:nvSpPr>
            <p:spPr>
              <a:xfrm>
                <a:off x="8871974" y="33524033"/>
                <a:ext cx="3403600" cy="2021758"/>
              </a:xfrm>
              <a:prstGeom prst="rect">
                <a:avLst/>
              </a:prstGeom>
              <a:solidFill>
                <a:srgbClr val="FFC3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</a:rPr>
                            <m:t>GRTOTLT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</a:rPr>
                            <m:t>GRTYPE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</a:rPr>
                            <m:t> = 3)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GRTOTLT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GRTYPE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chemeClr val="bg1"/>
                              </a:solidFill>
                            </a:rPr>
                            <m:t> = 2)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0201F2A-1C77-9B16-8EE7-82713E51D2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974" y="33524033"/>
                <a:ext cx="3403600" cy="20217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8450D338-FDB6-9BC1-86B4-3A69250D234A}"/>
              </a:ext>
            </a:extLst>
          </p:cNvPr>
          <p:cNvSpPr/>
          <p:nvPr/>
        </p:nvSpPr>
        <p:spPr>
          <a:xfrm>
            <a:off x="16593574" y="33524033"/>
            <a:ext cx="3403600" cy="2021758"/>
          </a:xfrm>
          <a:prstGeom prst="rect">
            <a:avLst/>
          </a:prstGeom>
          <a:solidFill>
            <a:srgbClr val="FFC31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See Reference Material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676E92A-5CBD-E4C2-1FB9-15C6CEEBA936}"/>
                  </a:ext>
                </a:extLst>
              </p:cNvPr>
              <p:cNvSpPr/>
              <p:nvPr/>
            </p:nvSpPr>
            <p:spPr>
              <a:xfrm>
                <a:off x="28175974" y="33962191"/>
                <a:ext cx="3403600" cy="1589949"/>
              </a:xfrm>
              <a:prstGeom prst="rect">
                <a:avLst/>
              </a:prstGeom>
              <a:solidFill>
                <a:srgbClr val="FFC3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EFRES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HS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Grads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∗ (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DS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SUM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DS</m:t>
                              </m:r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DS = EFUG(1ST + TRN + CNT)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676E92A-5CBD-E4C2-1FB9-15C6CEEBA9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5974" y="33962191"/>
                <a:ext cx="3403600" cy="1589949"/>
              </a:xfrm>
              <a:prstGeom prst="rect">
                <a:avLst/>
              </a:prstGeom>
              <a:blipFill>
                <a:blip r:embed="rId7"/>
                <a:stretch>
                  <a:fillRect b="-379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21E8D28C-F537-A4C3-B43D-817C768F5574}"/>
              </a:ext>
            </a:extLst>
          </p:cNvPr>
          <p:cNvSpPr/>
          <p:nvPr/>
        </p:nvSpPr>
        <p:spPr>
          <a:xfrm>
            <a:off x="32036774" y="33530383"/>
            <a:ext cx="3403600" cy="2021758"/>
          </a:xfrm>
          <a:prstGeom prst="rect">
            <a:avLst/>
          </a:prstGeom>
          <a:solidFill>
            <a:srgbClr val="FFC31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ENRTOT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5CDA25-75F1-E2AB-E113-E82CBB4925F6}"/>
                  </a:ext>
                </a:extLst>
              </p:cNvPr>
              <p:cNvSpPr/>
              <p:nvPr/>
            </p:nvSpPr>
            <p:spPr>
              <a:xfrm>
                <a:off x="12732774" y="33530383"/>
                <a:ext cx="3403600" cy="2021758"/>
              </a:xfrm>
              <a:prstGeom prst="rect">
                <a:avLst/>
              </a:prstGeom>
              <a:solidFill>
                <a:srgbClr val="FFC3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CSTOTLT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∗ $100,000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191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5CDA25-75F1-E2AB-E113-E82CBB4925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2774" y="33530383"/>
                <a:ext cx="3403600" cy="202175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7CDF3F9-3EA0-4E48-676E-95E0A9F1356C}"/>
                  </a:ext>
                </a:extLst>
              </p:cNvPr>
              <p:cNvSpPr/>
              <p:nvPr/>
            </p:nvSpPr>
            <p:spPr>
              <a:xfrm>
                <a:off x="20454374" y="33524033"/>
                <a:ext cx="3403600" cy="2021758"/>
              </a:xfrm>
              <a:prstGeom prst="rect">
                <a:avLst/>
              </a:prstGeom>
              <a:solidFill>
                <a:srgbClr val="FFC317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191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EFTEUG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7CDF3F9-3EA0-4E48-676E-95E0A9F135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4374" y="33524033"/>
                <a:ext cx="3403600" cy="202175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9C47DF9-216D-82B0-7CDA-EA46314E324D}"/>
              </a:ext>
            </a:extLst>
          </p:cNvPr>
          <p:cNvSpPr/>
          <p:nvPr/>
        </p:nvSpPr>
        <p:spPr>
          <a:xfrm>
            <a:off x="1150374" y="3353038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First-Year Retention Rate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C5F69-A46D-BCD3-3DAF-7555F3265D01}"/>
              </a:ext>
            </a:extLst>
          </p:cNvPr>
          <p:cNvSpPr/>
          <p:nvPr/>
        </p:nvSpPr>
        <p:spPr>
          <a:xfrm>
            <a:off x="5011174" y="3353038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Completion &amp; Transfer Rate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6A968-57B6-D897-0E3C-E73753529709}"/>
              </a:ext>
            </a:extLst>
          </p:cNvPr>
          <p:cNvSpPr/>
          <p:nvPr/>
        </p:nvSpPr>
        <p:spPr>
          <a:xfrm>
            <a:off x="24315174" y="3353038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Student-to-Faculty Ratio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20BC18-0171-0E12-4352-663917E30E14}"/>
              </a:ext>
            </a:extLst>
          </p:cNvPr>
          <p:cNvSpPr/>
          <p:nvPr/>
        </p:nvSpPr>
        <p:spPr>
          <a:xfrm>
            <a:off x="8871974" y="3353038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Graduation Rate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8548F5-1AB3-0E1F-8116-C1ED9A63E4FF}"/>
              </a:ext>
            </a:extLst>
          </p:cNvPr>
          <p:cNvSpPr/>
          <p:nvPr/>
        </p:nvSpPr>
        <p:spPr>
          <a:xfrm>
            <a:off x="16593574" y="3353038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Composite Financial Index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DC21B-252E-2B11-5A91-9730B8C96A2A}"/>
              </a:ext>
            </a:extLst>
          </p:cNvPr>
          <p:cNvSpPr/>
          <p:nvPr/>
        </p:nvSpPr>
        <p:spPr>
          <a:xfrm>
            <a:off x="28175974" y="3353673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Weighted Market Share Index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833730-B2FF-C137-D71E-7C9576ED8F52}"/>
              </a:ext>
            </a:extLst>
          </p:cNvPr>
          <p:cNvSpPr/>
          <p:nvPr/>
        </p:nvSpPr>
        <p:spPr>
          <a:xfrm>
            <a:off x="32036774" y="3353673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Fall Enrollment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AEA98B-6C8B-94E8-CBEC-E35E155B7B77}"/>
              </a:ext>
            </a:extLst>
          </p:cNvPr>
          <p:cNvSpPr/>
          <p:nvPr/>
        </p:nvSpPr>
        <p:spPr>
          <a:xfrm>
            <a:off x="12732774" y="3353673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Outcome Efficiency Index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B52A3A-DCF2-B75C-2F67-1DCB7AC76BE8}"/>
              </a:ext>
            </a:extLst>
          </p:cNvPr>
          <p:cNvSpPr/>
          <p:nvPr/>
        </p:nvSpPr>
        <p:spPr>
          <a:xfrm>
            <a:off x="20454374" y="33530383"/>
            <a:ext cx="3403600" cy="4254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Expenditure per FTE Student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B7DECE-62CA-045B-6B5A-886B649D2B8E}"/>
              </a:ext>
            </a:extLst>
          </p:cNvPr>
          <p:cNvSpPr/>
          <p:nvPr/>
        </p:nvSpPr>
        <p:spPr>
          <a:xfrm>
            <a:off x="-56981" y="-92088"/>
            <a:ext cx="36632981" cy="5121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66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C648EF-3D0A-D6A8-5250-436618ED3C1C}"/>
              </a:ext>
            </a:extLst>
          </p:cNvPr>
          <p:cNvSpPr/>
          <p:nvPr/>
        </p:nvSpPr>
        <p:spPr>
          <a:xfrm>
            <a:off x="2918185" y="7582299"/>
            <a:ext cx="8978734" cy="5789450"/>
          </a:xfrm>
          <a:prstGeom prst="rect">
            <a:avLst/>
          </a:prstGeom>
          <a:solidFill>
            <a:schemeClr val="tx1"/>
          </a:solidFill>
          <a:ln w="50800">
            <a:solidFill>
              <a:schemeClr val="bg1"/>
            </a:solidFill>
          </a:ln>
          <a:effectLst>
            <a:outerShdw blurRad="1270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B6E335-1953-252D-ABCE-F4BB0E04A0ED}"/>
              </a:ext>
            </a:extLst>
          </p:cNvPr>
          <p:cNvSpPr/>
          <p:nvPr/>
        </p:nvSpPr>
        <p:spPr>
          <a:xfrm>
            <a:off x="2918185" y="6388490"/>
            <a:ext cx="8978734" cy="578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Start with Purpose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002B05-6F71-1736-D683-972079840A09}"/>
              </a:ext>
            </a:extLst>
          </p:cNvPr>
          <p:cNvSpPr/>
          <p:nvPr/>
        </p:nvSpPr>
        <p:spPr>
          <a:xfrm>
            <a:off x="14843485" y="6388490"/>
            <a:ext cx="8978734" cy="578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Create a Benchmarking Data Store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896B99-2660-4D57-E8AA-28E85B6F93D0}"/>
              </a:ext>
            </a:extLst>
          </p:cNvPr>
          <p:cNvSpPr/>
          <p:nvPr/>
        </p:nvSpPr>
        <p:spPr>
          <a:xfrm>
            <a:off x="26768785" y="6388490"/>
            <a:ext cx="8978734" cy="578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Grouping Peers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7E21B9-E3DD-8AED-14D5-96FB63A28AA6}"/>
              </a:ext>
            </a:extLst>
          </p:cNvPr>
          <p:cNvSpPr/>
          <p:nvPr/>
        </p:nvSpPr>
        <p:spPr>
          <a:xfrm>
            <a:off x="26768785" y="7582299"/>
            <a:ext cx="8978734" cy="5789450"/>
          </a:xfrm>
          <a:prstGeom prst="rect">
            <a:avLst/>
          </a:prstGeom>
          <a:solidFill>
            <a:schemeClr val="tx1"/>
          </a:solidFill>
          <a:ln w="50800">
            <a:solidFill>
              <a:schemeClr val="bg1"/>
            </a:solidFill>
          </a:ln>
          <a:effectLst>
            <a:outerShdw blurRad="1270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1" name="Flowchart: Magnetic Disk 30">
            <a:extLst>
              <a:ext uri="{FF2B5EF4-FFF2-40B4-BE49-F238E27FC236}">
                <a16:creationId xmlns:a16="http://schemas.microsoft.com/office/drawing/2014/main" id="{28109626-E174-AEAF-62D0-2F2738ABE741}"/>
              </a:ext>
            </a:extLst>
          </p:cNvPr>
          <p:cNvSpPr/>
          <p:nvPr/>
        </p:nvSpPr>
        <p:spPr>
          <a:xfrm>
            <a:off x="15132755" y="8466344"/>
            <a:ext cx="2151155" cy="665259"/>
          </a:xfrm>
          <a:prstGeom prst="flowChartMagneticDisk">
            <a:avLst/>
          </a:prstGeom>
          <a:solidFill>
            <a:srgbClr val="00206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IPEDS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8CBE155-F039-5CF8-43A5-C0E4FDBE06D3}"/>
              </a:ext>
            </a:extLst>
          </p:cNvPr>
          <p:cNvCxnSpPr>
            <a:cxnSpLocks/>
          </p:cNvCxnSpPr>
          <p:nvPr/>
        </p:nvCxnSpPr>
        <p:spPr>
          <a:xfrm flipV="1">
            <a:off x="17407454" y="8043161"/>
            <a:ext cx="1617518" cy="511266"/>
          </a:xfrm>
          <a:prstGeom prst="bentConnector3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D611173B-DEC4-5271-9F0C-FF05E40A13AF}"/>
              </a:ext>
            </a:extLst>
          </p:cNvPr>
          <p:cNvCxnSpPr>
            <a:cxnSpLocks/>
          </p:cNvCxnSpPr>
          <p:nvPr/>
        </p:nvCxnSpPr>
        <p:spPr>
          <a:xfrm>
            <a:off x="17407454" y="8816365"/>
            <a:ext cx="1620598" cy="128096"/>
          </a:xfrm>
          <a:prstGeom prst="bentConnector3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A485C6E-F86F-A134-465E-42538D0E9681}"/>
              </a:ext>
            </a:extLst>
          </p:cNvPr>
          <p:cNvCxnSpPr>
            <a:cxnSpLocks/>
          </p:cNvCxnSpPr>
          <p:nvPr/>
        </p:nvCxnSpPr>
        <p:spPr>
          <a:xfrm>
            <a:off x="17407454" y="9044965"/>
            <a:ext cx="1617518" cy="700459"/>
          </a:xfrm>
          <a:prstGeom prst="bentConnector3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lowchart: Internal Storage 42">
            <a:extLst>
              <a:ext uri="{FF2B5EF4-FFF2-40B4-BE49-F238E27FC236}">
                <a16:creationId xmlns:a16="http://schemas.microsoft.com/office/drawing/2014/main" id="{5450C5EE-DE5A-1D85-6F4D-7BD611657F3C}"/>
              </a:ext>
            </a:extLst>
          </p:cNvPr>
          <p:cNvSpPr/>
          <p:nvPr/>
        </p:nvSpPr>
        <p:spPr>
          <a:xfrm>
            <a:off x="19170840" y="7735936"/>
            <a:ext cx="1113626" cy="617052"/>
          </a:xfrm>
          <a:prstGeom prst="flowChartInternalStorage">
            <a:avLst/>
          </a:prstGeom>
          <a:solidFill>
            <a:srgbClr val="00206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Survey A 2024</a:t>
            </a:r>
          </a:p>
        </p:txBody>
      </p:sp>
      <p:sp>
        <p:nvSpPr>
          <p:cNvPr id="44" name="Flowchart: Internal Storage 43">
            <a:extLst>
              <a:ext uri="{FF2B5EF4-FFF2-40B4-BE49-F238E27FC236}">
                <a16:creationId xmlns:a16="http://schemas.microsoft.com/office/drawing/2014/main" id="{5C28AAE8-6C41-AB7E-2325-A3A64164A770}"/>
              </a:ext>
            </a:extLst>
          </p:cNvPr>
          <p:cNvSpPr/>
          <p:nvPr/>
        </p:nvSpPr>
        <p:spPr>
          <a:xfrm>
            <a:off x="19170840" y="8624931"/>
            <a:ext cx="1113626" cy="617052"/>
          </a:xfrm>
          <a:prstGeom prst="flowChartInternalStorage">
            <a:avLst/>
          </a:prstGeom>
          <a:solidFill>
            <a:srgbClr val="00206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Survey A 2023</a:t>
            </a:r>
          </a:p>
        </p:txBody>
      </p:sp>
      <p:sp>
        <p:nvSpPr>
          <p:cNvPr id="45" name="Flowchart: Internal Storage 44">
            <a:extLst>
              <a:ext uri="{FF2B5EF4-FFF2-40B4-BE49-F238E27FC236}">
                <a16:creationId xmlns:a16="http://schemas.microsoft.com/office/drawing/2014/main" id="{E8187170-364D-4B50-B8E5-53B937FB550C}"/>
              </a:ext>
            </a:extLst>
          </p:cNvPr>
          <p:cNvSpPr/>
          <p:nvPr/>
        </p:nvSpPr>
        <p:spPr>
          <a:xfrm>
            <a:off x="19170840" y="9513926"/>
            <a:ext cx="1113626" cy="617052"/>
          </a:xfrm>
          <a:prstGeom prst="flowChartInternalStorage">
            <a:avLst/>
          </a:prstGeom>
          <a:solidFill>
            <a:srgbClr val="00206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Survey A 2022</a:t>
            </a:r>
          </a:p>
        </p:txBody>
      </p:sp>
      <p:sp>
        <p:nvSpPr>
          <p:cNvPr id="76" name="Flowchart: Internal Storage 75">
            <a:extLst>
              <a:ext uri="{FF2B5EF4-FFF2-40B4-BE49-F238E27FC236}">
                <a16:creationId xmlns:a16="http://schemas.microsoft.com/office/drawing/2014/main" id="{9C178721-2B9B-A00C-6E67-1464AEF5275D}"/>
              </a:ext>
            </a:extLst>
          </p:cNvPr>
          <p:cNvSpPr/>
          <p:nvPr/>
        </p:nvSpPr>
        <p:spPr>
          <a:xfrm>
            <a:off x="21543960" y="8009850"/>
            <a:ext cx="1913485" cy="1966846"/>
          </a:xfrm>
          <a:prstGeom prst="flowChartInternalStorage">
            <a:avLst/>
          </a:prstGeom>
          <a:solidFill>
            <a:srgbClr val="00206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Storage:</a:t>
            </a:r>
          </a:p>
          <a:p>
            <a:pPr algn="ctr"/>
            <a:r>
              <a:rPr lang="en-US" dirty="0"/>
              <a:t>Survey A</a:t>
            </a:r>
          </a:p>
          <a:p>
            <a:pPr algn="ctr"/>
            <a:r>
              <a:rPr lang="en-US" dirty="0"/>
              <a:t>Concatenated </a:t>
            </a:r>
          </a:p>
          <a:p>
            <a:pPr algn="ctr"/>
            <a:r>
              <a:rPr lang="en-US" dirty="0"/>
              <a:t>Years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2E625FC-907E-E668-E131-62627D30CE65}"/>
              </a:ext>
            </a:extLst>
          </p:cNvPr>
          <p:cNvSpPr txBox="1"/>
          <p:nvPr/>
        </p:nvSpPr>
        <p:spPr>
          <a:xfrm>
            <a:off x="27026429" y="7653076"/>
            <a:ext cx="818159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Using Carnegie Filters</a:t>
            </a:r>
          </a:p>
          <a:p>
            <a:r>
              <a:rPr lang="en-US" dirty="0">
                <a:solidFill>
                  <a:schemeClr val="bg1"/>
                </a:solidFill>
              </a:rPr>
              <a:t>What </a:t>
            </a:r>
          </a:p>
          <a:p>
            <a:r>
              <a:rPr lang="en-US" dirty="0">
                <a:solidFill>
                  <a:schemeClr val="bg1"/>
                </a:solidFill>
              </a:rPr>
              <a:t>we chose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2AEC99E1-34B4-4E96-2B9F-B8720D1A5B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56063" y="8941712"/>
            <a:ext cx="7620253" cy="4297176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4DF724F6-4B33-BF87-7AEC-35E7EBAB3361}"/>
              </a:ext>
            </a:extLst>
          </p:cNvPr>
          <p:cNvSpPr txBox="1"/>
          <p:nvPr/>
        </p:nvSpPr>
        <p:spPr>
          <a:xfrm>
            <a:off x="29104390" y="8134825"/>
            <a:ext cx="6796998" cy="92333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Public (CONTROL)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Medium to Very Large (CARNEGIESIZE)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Associate’s Colleges (C21BASIC)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50C0C5A-C01D-4482-9BAD-BE4CAA1997B3}"/>
              </a:ext>
            </a:extLst>
          </p:cNvPr>
          <p:cNvSpPr txBox="1"/>
          <p:nvPr/>
        </p:nvSpPr>
        <p:spPr>
          <a:xfrm>
            <a:off x="15259363" y="10044347"/>
            <a:ext cx="846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Each desired survey from IPEDS can be combined into one table for all collection years</a:t>
            </a:r>
          </a:p>
          <a:p>
            <a:r>
              <a:rPr lang="en-US" b="1" dirty="0">
                <a:solidFill>
                  <a:schemeClr val="bg1"/>
                </a:solidFill>
              </a:rPr>
              <a:t>	Granularity: </a:t>
            </a:r>
            <a:r>
              <a:rPr lang="en-US" dirty="0">
                <a:solidFill>
                  <a:schemeClr val="bg1"/>
                </a:solidFill>
              </a:rPr>
              <a:t>One row per School per Year</a:t>
            </a:r>
          </a:p>
        </p:txBody>
      </p:sp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B76F3A0F-D849-E952-3599-AF20B6ACD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9553"/>
              </p:ext>
            </p:extLst>
          </p:nvPr>
        </p:nvGraphicFramePr>
        <p:xfrm>
          <a:off x="15259363" y="11400751"/>
          <a:ext cx="814697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854">
                  <a:extLst>
                    <a:ext uri="{9D8B030D-6E8A-4147-A177-3AD203B41FA5}">
                      <a16:colId xmlns:a16="http://schemas.microsoft.com/office/drawing/2014/main" val="3965153037"/>
                    </a:ext>
                  </a:extLst>
                </a:gridCol>
                <a:gridCol w="1163854">
                  <a:extLst>
                    <a:ext uri="{9D8B030D-6E8A-4147-A177-3AD203B41FA5}">
                      <a16:colId xmlns:a16="http://schemas.microsoft.com/office/drawing/2014/main" val="2775297645"/>
                    </a:ext>
                  </a:extLst>
                </a:gridCol>
                <a:gridCol w="1163854">
                  <a:extLst>
                    <a:ext uri="{9D8B030D-6E8A-4147-A177-3AD203B41FA5}">
                      <a16:colId xmlns:a16="http://schemas.microsoft.com/office/drawing/2014/main" val="1732554440"/>
                    </a:ext>
                  </a:extLst>
                </a:gridCol>
                <a:gridCol w="1163854">
                  <a:extLst>
                    <a:ext uri="{9D8B030D-6E8A-4147-A177-3AD203B41FA5}">
                      <a16:colId xmlns:a16="http://schemas.microsoft.com/office/drawing/2014/main" val="4179200079"/>
                    </a:ext>
                  </a:extLst>
                </a:gridCol>
                <a:gridCol w="1163854">
                  <a:extLst>
                    <a:ext uri="{9D8B030D-6E8A-4147-A177-3AD203B41FA5}">
                      <a16:colId xmlns:a16="http://schemas.microsoft.com/office/drawing/2014/main" val="3612738402"/>
                    </a:ext>
                  </a:extLst>
                </a:gridCol>
                <a:gridCol w="1163854">
                  <a:extLst>
                    <a:ext uri="{9D8B030D-6E8A-4147-A177-3AD203B41FA5}">
                      <a16:colId xmlns:a16="http://schemas.microsoft.com/office/drawing/2014/main" val="4026046091"/>
                    </a:ext>
                  </a:extLst>
                </a:gridCol>
                <a:gridCol w="1163854">
                  <a:extLst>
                    <a:ext uri="{9D8B030D-6E8A-4147-A177-3AD203B41FA5}">
                      <a16:colId xmlns:a16="http://schemas.microsoft.com/office/drawing/2014/main" val="2762693224"/>
                    </a:ext>
                  </a:extLst>
                </a:gridCol>
              </a:tblGrid>
              <a:tr h="34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Institution Name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Year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First-Year Retention Rate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150% Graduation Rate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Completion &amp; Transfer Rate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Composite Financial Index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Weighted Market Share Index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965478"/>
                  </a:ext>
                </a:extLst>
              </a:tr>
              <a:tr h="208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WSU Tech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56.41%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67.56%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0.528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203362"/>
                  </a:ext>
                </a:extLst>
              </a:tr>
              <a:tr h="208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WSU Tech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55.77%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68.5%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0.501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22222"/>
                  </a:ext>
                </a:extLst>
              </a:tr>
              <a:tr h="208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WSU Tech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65.54%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8.73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0.536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7626132"/>
                  </a:ext>
                </a:extLst>
              </a:tr>
            </a:tbl>
          </a:graphicData>
        </a:graphic>
      </p:graphicFrame>
      <p:sp>
        <p:nvSpPr>
          <p:cNvPr id="113" name="Rectangle 112">
            <a:extLst>
              <a:ext uri="{FF2B5EF4-FFF2-40B4-BE49-F238E27FC236}">
                <a16:creationId xmlns:a16="http://schemas.microsoft.com/office/drawing/2014/main" id="{F3BE8735-2BF2-D4F5-9A23-3F51DA107480}"/>
              </a:ext>
            </a:extLst>
          </p:cNvPr>
          <p:cNvSpPr/>
          <p:nvPr/>
        </p:nvSpPr>
        <p:spPr>
          <a:xfrm>
            <a:off x="2918185" y="14924190"/>
            <a:ext cx="8978734" cy="578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Grouping Peers (cont.)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4A48C08-7804-029C-E11D-2B1CBFCA4580}"/>
              </a:ext>
            </a:extLst>
          </p:cNvPr>
          <p:cNvSpPr/>
          <p:nvPr/>
        </p:nvSpPr>
        <p:spPr>
          <a:xfrm>
            <a:off x="2918185" y="16117999"/>
            <a:ext cx="8978734" cy="5789450"/>
          </a:xfrm>
          <a:prstGeom prst="rect">
            <a:avLst/>
          </a:prstGeom>
          <a:solidFill>
            <a:schemeClr val="tx1"/>
          </a:solidFill>
          <a:ln w="50800">
            <a:solidFill>
              <a:schemeClr val="bg1"/>
            </a:solidFill>
          </a:ln>
          <a:effectLst>
            <a:outerShdw blurRad="1270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462D7BB-A609-4BA4-258D-D11EDAF4A738}"/>
              </a:ext>
            </a:extLst>
          </p:cNvPr>
          <p:cNvSpPr txBox="1"/>
          <p:nvPr/>
        </p:nvSpPr>
        <p:spPr>
          <a:xfrm>
            <a:off x="2962810" y="16160505"/>
            <a:ext cx="8783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your Carnegie filter, you can further group by using K Means Clustering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 used a subset of defined metrics to create the clusters (try not to pick too many)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Elbow Method with Inertia to pick K along with the Silhouette Method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6A0ACB6D-D59D-353D-AFB3-F5987812BE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80945" y="17350215"/>
            <a:ext cx="2758757" cy="1756741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619840BA-EE54-5D1B-1A0F-C16B08EEA60A}"/>
              </a:ext>
            </a:extLst>
          </p:cNvPr>
          <p:cNvSpPr txBox="1"/>
          <p:nvPr/>
        </p:nvSpPr>
        <p:spPr>
          <a:xfrm>
            <a:off x="2962810" y="19198972"/>
            <a:ext cx="3681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Using PCA then helps you understand the spatial relationship of your clusters</a:t>
            </a:r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9F47924E-77FF-F5F4-A59A-935B95E2C9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53493" y="20079597"/>
            <a:ext cx="2536726" cy="1730423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68433314-2847-EB1F-4BD8-CB276AD9F5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9648" y="17164656"/>
            <a:ext cx="4996529" cy="4541622"/>
          </a:xfrm>
          <a:prstGeom prst="rect">
            <a:avLst/>
          </a:prstGeom>
        </p:spPr>
      </p:pic>
      <p:sp>
        <p:nvSpPr>
          <p:cNvPr id="130" name="Rectangle 129">
            <a:extLst>
              <a:ext uri="{FF2B5EF4-FFF2-40B4-BE49-F238E27FC236}">
                <a16:creationId xmlns:a16="http://schemas.microsoft.com/office/drawing/2014/main" id="{2F3B8FB0-4B13-49F9-9305-5D763F4D4D1D}"/>
              </a:ext>
            </a:extLst>
          </p:cNvPr>
          <p:cNvSpPr/>
          <p:nvPr/>
        </p:nvSpPr>
        <p:spPr>
          <a:xfrm>
            <a:off x="14843485" y="14924190"/>
            <a:ext cx="8978734" cy="578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Selecting Peers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EC661953-8427-438F-FE40-89314717C62C}"/>
              </a:ext>
            </a:extLst>
          </p:cNvPr>
          <p:cNvSpPr/>
          <p:nvPr/>
        </p:nvSpPr>
        <p:spPr>
          <a:xfrm>
            <a:off x="14843485" y="16117999"/>
            <a:ext cx="8978734" cy="5789450"/>
          </a:xfrm>
          <a:prstGeom prst="rect">
            <a:avLst/>
          </a:prstGeom>
          <a:solidFill>
            <a:schemeClr val="tx1"/>
          </a:solidFill>
          <a:ln w="50800">
            <a:solidFill>
              <a:schemeClr val="bg1"/>
            </a:solidFill>
          </a:ln>
          <a:effectLst>
            <a:outerShdw blurRad="1270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05A47D8-B5B5-77FE-2DAA-7E89543C4B06}"/>
              </a:ext>
            </a:extLst>
          </p:cNvPr>
          <p:cNvSpPr txBox="1"/>
          <p:nvPr/>
        </p:nvSpPr>
        <p:spPr>
          <a:xfrm>
            <a:off x="3101632" y="7772843"/>
            <a:ext cx="85561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Building a Purpose: Key Concepts</a:t>
            </a:r>
          </a:p>
          <a:p>
            <a:r>
              <a:rPr lang="en-US" dirty="0">
                <a:solidFill>
                  <a:schemeClr val="bg1"/>
                </a:solidFill>
              </a:rPr>
              <a:t>Focus on </a:t>
            </a:r>
            <a:r>
              <a:rPr lang="en-US" i="1" dirty="0">
                <a:solidFill>
                  <a:schemeClr val="bg1"/>
                </a:solidFill>
              </a:rPr>
              <a:t>guiding questions</a:t>
            </a:r>
            <a:r>
              <a:rPr lang="en-US" dirty="0">
                <a:solidFill>
                  <a:schemeClr val="bg1"/>
                </a:solidFill>
              </a:rPr>
              <a:t>, not just answers </a:t>
            </a:r>
          </a:p>
          <a:p>
            <a:r>
              <a:rPr lang="en-US" dirty="0">
                <a:solidFill>
                  <a:schemeClr val="bg1"/>
                </a:solidFill>
              </a:rPr>
              <a:t>Compare performance across </a:t>
            </a:r>
            <a:r>
              <a:rPr lang="en-US" b="1" dirty="0">
                <a:solidFill>
                  <a:schemeClr val="bg1"/>
                </a:solidFill>
              </a:rPr>
              <a:t>peer institutions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Highlight </a:t>
            </a:r>
            <a:r>
              <a:rPr lang="en-US" b="1" dirty="0">
                <a:solidFill>
                  <a:schemeClr val="bg1"/>
                </a:solidFill>
              </a:rPr>
              <a:t>strengths, gaps, and trends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Align metrics with </a:t>
            </a:r>
            <a:r>
              <a:rPr lang="en-US" b="1" dirty="0">
                <a:solidFill>
                  <a:schemeClr val="bg1"/>
                </a:solidFill>
              </a:rPr>
              <a:t>institutional strategy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Incorporate </a:t>
            </a:r>
            <a:r>
              <a:rPr lang="en-US" b="1" dirty="0">
                <a:solidFill>
                  <a:schemeClr val="bg1"/>
                </a:solidFill>
              </a:rPr>
              <a:t>national best practices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Support </a:t>
            </a:r>
            <a:r>
              <a:rPr lang="en-US" b="1" dirty="0">
                <a:solidFill>
                  <a:schemeClr val="bg1"/>
                </a:solidFill>
              </a:rPr>
              <a:t>decision-making and continuous improvement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Our Approach</a:t>
            </a:r>
          </a:p>
          <a:p>
            <a:r>
              <a:rPr lang="en-US" dirty="0">
                <a:solidFill>
                  <a:schemeClr val="bg1"/>
                </a:solidFill>
              </a:rPr>
              <a:t>Meet </a:t>
            </a:r>
            <a:r>
              <a:rPr lang="en-US" b="1" dirty="0">
                <a:solidFill>
                  <a:schemeClr val="bg1"/>
                </a:solidFill>
              </a:rPr>
              <a:t>HLC requirements</a:t>
            </a:r>
            <a:r>
              <a:rPr lang="en-US" dirty="0">
                <a:solidFill>
                  <a:schemeClr val="bg1"/>
                </a:solidFill>
              </a:rPr>
              <a:t> for evaluating student success outcomes </a:t>
            </a:r>
          </a:p>
          <a:p>
            <a:r>
              <a:rPr lang="en-US" dirty="0">
                <a:solidFill>
                  <a:schemeClr val="bg1"/>
                </a:solidFill>
              </a:rPr>
              <a:t>Create a </a:t>
            </a:r>
            <a:r>
              <a:rPr lang="en-US" b="1" dirty="0">
                <a:solidFill>
                  <a:schemeClr val="bg1"/>
                </a:solidFill>
              </a:rPr>
              <a:t>centralized tool</a:t>
            </a:r>
            <a:r>
              <a:rPr lang="en-US" dirty="0">
                <a:solidFill>
                  <a:schemeClr val="bg1"/>
                </a:solidFill>
              </a:rPr>
              <a:t> to track progress toward goals </a:t>
            </a:r>
          </a:p>
          <a:p>
            <a:r>
              <a:rPr lang="en-US" dirty="0">
                <a:solidFill>
                  <a:schemeClr val="bg1"/>
                </a:solidFill>
              </a:rPr>
              <a:t>Stay current with </a:t>
            </a:r>
            <a:r>
              <a:rPr lang="en-US" b="1" dirty="0">
                <a:solidFill>
                  <a:schemeClr val="bg1"/>
                </a:solidFill>
              </a:rPr>
              <a:t>nationwide best practices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Build a </a:t>
            </a:r>
            <a:r>
              <a:rPr lang="en-US" b="1" dirty="0">
                <a:solidFill>
                  <a:schemeClr val="bg1"/>
                </a:solidFill>
              </a:rPr>
              <a:t>peer-to-peer networking pipeline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Support </a:t>
            </a:r>
            <a:r>
              <a:rPr lang="en-US" b="1" dirty="0">
                <a:solidFill>
                  <a:schemeClr val="bg1"/>
                </a:solidFill>
              </a:rPr>
              <a:t>ongoing continuous improvement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DB828ECC-8EE2-0377-70CB-8C27653C75D3}"/>
              </a:ext>
            </a:extLst>
          </p:cNvPr>
          <p:cNvSpPr/>
          <p:nvPr/>
        </p:nvSpPr>
        <p:spPr>
          <a:xfrm>
            <a:off x="26768785" y="14963922"/>
            <a:ext cx="8978734" cy="578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Developing a Report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9A5D54A-2EB1-F83E-3164-4FC5740CE7AC}"/>
              </a:ext>
            </a:extLst>
          </p:cNvPr>
          <p:cNvSpPr/>
          <p:nvPr/>
        </p:nvSpPr>
        <p:spPr>
          <a:xfrm>
            <a:off x="26768785" y="16117999"/>
            <a:ext cx="8978734" cy="5789450"/>
          </a:xfrm>
          <a:prstGeom prst="rect">
            <a:avLst/>
          </a:prstGeom>
          <a:solidFill>
            <a:schemeClr val="tx1"/>
          </a:solidFill>
          <a:ln w="50800">
            <a:solidFill>
              <a:schemeClr val="bg1"/>
            </a:solidFill>
          </a:ln>
          <a:effectLst>
            <a:outerShdw blurRad="12700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6BA2FA0-3343-CC44-F5C4-D1ADE1C121A9}"/>
              </a:ext>
            </a:extLst>
          </p:cNvPr>
          <p:cNvSpPr txBox="1"/>
          <p:nvPr/>
        </p:nvSpPr>
        <p:spPr>
          <a:xfrm>
            <a:off x="26768784" y="16489638"/>
            <a:ext cx="894221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What You Need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</a:t>
            </a:r>
            <a:r>
              <a:rPr lang="en-US" sz="2400" b="1" dirty="0">
                <a:solidFill>
                  <a:schemeClr val="bg1"/>
                </a:solidFill>
              </a:rPr>
              <a:t>clear purpose</a:t>
            </a:r>
            <a:r>
              <a:rPr lang="en-US" sz="2400" dirty="0">
                <a:solidFill>
                  <a:schemeClr val="bg1"/>
                </a:solidFill>
              </a:rPr>
              <a:t> to guide report structure and content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Defined metrics</a:t>
            </a:r>
            <a:r>
              <a:rPr lang="en-US" sz="2400" dirty="0">
                <a:solidFill>
                  <a:schemeClr val="bg1"/>
                </a:solidFill>
              </a:rPr>
              <a:t> sourced from IPEDS definitions</a:t>
            </a:r>
          </a:p>
          <a:p>
            <a:r>
              <a:rPr lang="en-US" sz="2400" dirty="0">
                <a:solidFill>
                  <a:schemeClr val="bg1"/>
                </a:solidFill>
              </a:rPr>
              <a:t>Organized </a:t>
            </a:r>
            <a:r>
              <a:rPr lang="en-US" sz="2400" b="1" dirty="0">
                <a:solidFill>
                  <a:schemeClr val="bg1"/>
                </a:solidFill>
              </a:rPr>
              <a:t>metric groups</a:t>
            </a:r>
            <a:r>
              <a:rPr lang="en-US" sz="2400" dirty="0">
                <a:solidFill>
                  <a:schemeClr val="bg1"/>
                </a:solidFill>
              </a:rPr>
              <a:t> to structure the report 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validated </a:t>
            </a:r>
            <a:r>
              <a:rPr lang="en-US" sz="2400" b="1" dirty="0">
                <a:solidFill>
                  <a:schemeClr val="bg1"/>
                </a:solidFill>
              </a:rPr>
              <a:t>peer group list</a:t>
            </a:r>
            <a:r>
              <a:rPr lang="en-US" sz="2400" dirty="0">
                <a:solidFill>
                  <a:schemeClr val="bg1"/>
                </a:solidFill>
              </a:rPr>
              <a:t> for comparison </a:t>
            </a:r>
          </a:p>
          <a:p>
            <a:r>
              <a:rPr lang="en-US" sz="2400" dirty="0">
                <a:solidFill>
                  <a:schemeClr val="bg1"/>
                </a:solidFill>
              </a:rPr>
              <a:t>Supporting </a:t>
            </a:r>
            <a:r>
              <a:rPr lang="en-US" sz="2400" b="1" dirty="0">
                <a:solidFill>
                  <a:schemeClr val="bg1"/>
                </a:solidFill>
              </a:rPr>
              <a:t>institutional reference data</a:t>
            </a:r>
            <a:r>
              <a:rPr lang="en-US" sz="2400" dirty="0">
                <a:solidFill>
                  <a:schemeClr val="bg1"/>
                </a:solidFill>
              </a:rPr>
              <a:t> (e.g., labels, categories) 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How It Supports Development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Translates purpose into </a:t>
            </a:r>
            <a:r>
              <a:rPr lang="en-US" sz="2400" b="1" dirty="0">
                <a:solidFill>
                  <a:schemeClr val="bg1"/>
                </a:solidFill>
              </a:rPr>
              <a:t>report structure and flow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Ensures metrics are </a:t>
            </a:r>
            <a:r>
              <a:rPr lang="en-US" sz="2400" b="1" dirty="0">
                <a:solidFill>
                  <a:schemeClr val="bg1"/>
                </a:solidFill>
              </a:rPr>
              <a:t>consistent, reliable, and actionable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</a:rPr>
              <a:t>Improves readability through </a:t>
            </a:r>
            <a:r>
              <a:rPr lang="en-US" sz="2400" b="1" dirty="0">
                <a:solidFill>
                  <a:schemeClr val="bg1"/>
                </a:solidFill>
              </a:rPr>
              <a:t>logical grouping of content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Enables meaningful </a:t>
            </a:r>
            <a:r>
              <a:rPr lang="en-US" sz="2400" b="1" dirty="0">
                <a:solidFill>
                  <a:schemeClr val="bg1"/>
                </a:solidFill>
              </a:rPr>
              <a:t>peer benchmarking and comparisons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r>
              <a:rPr lang="en-US" sz="2400" dirty="0">
                <a:solidFill>
                  <a:schemeClr val="bg1"/>
                </a:solidFill>
              </a:rPr>
              <a:t>Adds context through </a:t>
            </a:r>
            <a:r>
              <a:rPr lang="en-US" sz="2400" b="1" dirty="0">
                <a:solidFill>
                  <a:schemeClr val="bg1"/>
                </a:solidFill>
              </a:rPr>
              <a:t>standardized institutional attributes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46" name="Arrow: Right 145">
            <a:extLst>
              <a:ext uri="{FF2B5EF4-FFF2-40B4-BE49-F238E27FC236}">
                <a16:creationId xmlns:a16="http://schemas.microsoft.com/office/drawing/2014/main" id="{C6BE1CC2-ADAB-E3C7-4FA7-0F888370D3AE}"/>
              </a:ext>
            </a:extLst>
          </p:cNvPr>
          <p:cNvSpPr/>
          <p:nvPr/>
        </p:nvSpPr>
        <p:spPr>
          <a:xfrm>
            <a:off x="4877435" y="26422447"/>
            <a:ext cx="2825748" cy="344976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C390A1F-2E02-79A8-D46A-8C28D556C465}"/>
              </a:ext>
            </a:extLst>
          </p:cNvPr>
          <p:cNvSpPr txBox="1"/>
          <p:nvPr/>
        </p:nvSpPr>
        <p:spPr>
          <a:xfrm>
            <a:off x="2156587" y="27145975"/>
            <a:ext cx="425919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Final Result</a:t>
            </a:r>
          </a:p>
        </p:txBody>
      </p:sp>
      <p:pic>
        <p:nvPicPr>
          <p:cNvPr id="149" name="Picture 148">
            <a:extLst>
              <a:ext uri="{FF2B5EF4-FFF2-40B4-BE49-F238E27FC236}">
                <a16:creationId xmlns:a16="http://schemas.microsoft.com/office/drawing/2014/main" id="{8A09E007-00F7-3AE1-8367-2B32013989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66986" y="24707942"/>
            <a:ext cx="12211751" cy="7374289"/>
          </a:xfrm>
          <a:prstGeom prst="rect">
            <a:avLst/>
          </a:prstGeom>
          <a:solidFill>
            <a:srgbClr val="002060"/>
          </a:solidFill>
          <a:ln w="101600">
            <a:solidFill>
              <a:schemeClr val="bg1"/>
            </a:solidFill>
          </a:ln>
          <a:effectLst>
            <a:outerShdw blurRad="12700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1" name="Rectangle 150">
            <a:extLst>
              <a:ext uri="{FF2B5EF4-FFF2-40B4-BE49-F238E27FC236}">
                <a16:creationId xmlns:a16="http://schemas.microsoft.com/office/drawing/2014/main" id="{AA70B390-AA7B-97F0-F203-3B2B9814202D}"/>
              </a:ext>
            </a:extLst>
          </p:cNvPr>
          <p:cNvSpPr/>
          <p:nvPr/>
        </p:nvSpPr>
        <p:spPr>
          <a:xfrm>
            <a:off x="10192106" y="23501478"/>
            <a:ext cx="8978734" cy="578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Single Year Comparison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6B71BBA6-23F1-FE27-B680-3EBD2526CEB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422158" y="24707942"/>
            <a:ext cx="12951029" cy="7374289"/>
          </a:xfrm>
          <a:prstGeom prst="rect">
            <a:avLst/>
          </a:prstGeom>
          <a:solidFill>
            <a:srgbClr val="002060"/>
          </a:solidFill>
          <a:ln w="101600">
            <a:solidFill>
              <a:schemeClr val="bg1"/>
            </a:solidFill>
          </a:ln>
          <a:effectLst>
            <a:outerShdw blurRad="12700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4" name="Rectangle 153">
            <a:extLst>
              <a:ext uri="{FF2B5EF4-FFF2-40B4-BE49-F238E27FC236}">
                <a16:creationId xmlns:a16="http://schemas.microsoft.com/office/drawing/2014/main" id="{D74DE118-7A46-34B3-EDDF-7DCFA17F1F78}"/>
              </a:ext>
            </a:extLst>
          </p:cNvPr>
          <p:cNvSpPr/>
          <p:nvPr/>
        </p:nvSpPr>
        <p:spPr>
          <a:xfrm>
            <a:off x="24404009" y="23501478"/>
            <a:ext cx="8978734" cy="5784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>
                <a:solidFill>
                  <a:schemeClr val="tx1"/>
                </a:solidFill>
              </a:rPr>
              <a:t>Yearly Trend </a:t>
            </a:r>
            <a:r>
              <a:rPr lang="en-US" sz="4400" dirty="0">
                <a:solidFill>
                  <a:schemeClr val="tx1"/>
                </a:solidFill>
              </a:rPr>
              <a:t>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7ED6A0-4D2D-E69D-FF58-95CD831E8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6576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097AB-B7AF-9E05-E0D9-2C76FEEFDDDA}"/>
              </a:ext>
            </a:extLst>
          </p:cNvPr>
          <p:cNvSpPr txBox="1"/>
          <p:nvPr/>
        </p:nvSpPr>
        <p:spPr>
          <a:xfrm>
            <a:off x="1150374" y="681166"/>
            <a:ext cx="111841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The Benchmarking Process</a:t>
            </a:r>
          </a:p>
          <a:p>
            <a:pPr algn="ctr"/>
            <a:r>
              <a:rPr lang="en-US" sz="6000" dirty="0"/>
              <a:t>From Initiation to Implementation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3268C12-8C52-62FB-136F-0FF70BCDEDD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836" y="2169788"/>
            <a:ext cx="4604263" cy="3030403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A1922A7-AF11-952A-D764-7B295ABDDF9F}"/>
              </a:ext>
            </a:extLst>
          </p:cNvPr>
          <p:cNvCxnSpPr>
            <a:cxnSpLocks/>
          </p:cNvCxnSpPr>
          <p:nvPr/>
        </p:nvCxnSpPr>
        <p:spPr>
          <a:xfrm>
            <a:off x="13468185" y="409463"/>
            <a:ext cx="0" cy="4421390"/>
          </a:xfrm>
          <a:prstGeom prst="line">
            <a:avLst/>
          </a:prstGeom>
          <a:ln w="187325" cap="flat" cmpd="sng" algn="ctr">
            <a:solidFill>
              <a:schemeClr val="tx1"/>
            </a:solidFill>
            <a:prstDash val="sysDot"/>
            <a:bevel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296631E-0951-FC39-6675-D40D01772BDA}"/>
              </a:ext>
            </a:extLst>
          </p:cNvPr>
          <p:cNvSpPr txBox="1"/>
          <p:nvPr/>
        </p:nvSpPr>
        <p:spPr>
          <a:xfrm>
            <a:off x="16861384" y="1001278"/>
            <a:ext cx="153989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Font typeface="Aptos" panose="020B0004020202020204" pitchFamily="34" charset="0"/>
              <a:buChar char="–"/>
            </a:pPr>
            <a:r>
              <a:rPr lang="en-US" sz="6000" dirty="0"/>
              <a:t>Compare yourself to other institutions</a:t>
            </a:r>
          </a:p>
          <a:p>
            <a:pPr marL="1143000" indent="-1143000">
              <a:buFont typeface="Aptos" panose="020B0004020202020204" pitchFamily="34" charset="0"/>
              <a:buChar char="–"/>
            </a:pPr>
            <a:r>
              <a:rPr lang="en-US" sz="6000" dirty="0"/>
              <a:t>Utilize IPEDS data efficiently</a:t>
            </a:r>
          </a:p>
          <a:p>
            <a:pPr marL="1143000" indent="-1143000">
              <a:buFont typeface="Aptos" panose="020B0004020202020204" pitchFamily="34" charset="0"/>
              <a:buChar char="–"/>
            </a:pPr>
            <a:r>
              <a:rPr lang="en-US" sz="6000" dirty="0"/>
              <a:t>Translate goals into actionable networking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FC6D6C0-3725-FBE4-5DB3-F7109825CB2C}"/>
              </a:ext>
            </a:extLst>
          </p:cNvPr>
          <p:cNvSpPr/>
          <p:nvPr/>
        </p:nvSpPr>
        <p:spPr>
          <a:xfrm>
            <a:off x="1033482" y="27345245"/>
            <a:ext cx="958089" cy="16784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36FFF37-084B-0097-7402-A80A849E278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068917" y="17108424"/>
            <a:ext cx="8527869" cy="4770618"/>
          </a:xfrm>
          <a:prstGeom prst="rect">
            <a:avLst/>
          </a:prstGeom>
        </p:spPr>
      </p:pic>
      <p:sp>
        <p:nvSpPr>
          <p:cNvPr id="72" name="Arrow: Right 71">
            <a:extLst>
              <a:ext uri="{FF2B5EF4-FFF2-40B4-BE49-F238E27FC236}">
                <a16:creationId xmlns:a16="http://schemas.microsoft.com/office/drawing/2014/main" id="{2B66BB70-799B-FDFA-1B12-A1003030A3A7}"/>
              </a:ext>
            </a:extLst>
          </p:cNvPr>
          <p:cNvSpPr/>
          <p:nvPr/>
        </p:nvSpPr>
        <p:spPr>
          <a:xfrm>
            <a:off x="12476586" y="9255657"/>
            <a:ext cx="1900203" cy="175064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644BA63E-C182-863B-3282-F99F145EF873}"/>
              </a:ext>
            </a:extLst>
          </p:cNvPr>
          <p:cNvSpPr/>
          <p:nvPr/>
        </p:nvSpPr>
        <p:spPr>
          <a:xfrm>
            <a:off x="24380859" y="9173447"/>
            <a:ext cx="1900203" cy="175064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BF5F57E-5B0B-D352-1E5A-7BB66A994034}"/>
              </a:ext>
            </a:extLst>
          </p:cNvPr>
          <p:cNvSpPr txBox="1"/>
          <p:nvPr/>
        </p:nvSpPr>
        <p:spPr>
          <a:xfrm>
            <a:off x="15001681" y="16301453"/>
            <a:ext cx="89787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You can use Cosine Similarity to help show the absolute similarity between schools </a:t>
            </a:r>
          </a:p>
          <a:p>
            <a:r>
              <a:rPr lang="en-US" dirty="0">
                <a:solidFill>
                  <a:schemeClr val="bg1"/>
                </a:solidFill>
              </a:rPr>
              <a:t>We use the same metric space as K Means Clustering</a:t>
            </a:r>
          </a:p>
          <a:p>
            <a:r>
              <a:rPr lang="en-US" dirty="0">
                <a:solidFill>
                  <a:schemeClr val="bg1"/>
                </a:solidFill>
              </a:rPr>
              <a:t>Then order schools in descending order by similarity</a:t>
            </a:r>
          </a:p>
          <a:p>
            <a:r>
              <a:rPr lang="en-US" dirty="0">
                <a:solidFill>
                  <a:schemeClr val="bg1"/>
                </a:solidFill>
              </a:rPr>
              <a:t>This helps organize some schools who fall into some</a:t>
            </a:r>
          </a:p>
          <a:p>
            <a:r>
              <a:rPr lang="en-US" dirty="0">
                <a:solidFill>
                  <a:schemeClr val="bg1"/>
                </a:solidFill>
              </a:rPr>
              <a:t> of the Criteria but not all</a:t>
            </a: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F84AB06A-DFA4-858C-802B-A54FDDB3A6DB}"/>
              </a:ext>
            </a:extLst>
          </p:cNvPr>
          <p:cNvSpPr/>
          <p:nvPr/>
        </p:nvSpPr>
        <p:spPr>
          <a:xfrm>
            <a:off x="780118" y="17920217"/>
            <a:ext cx="1900203" cy="175064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59ABD54B-CA90-3FC6-E6FB-FFF4332F0435}"/>
              </a:ext>
            </a:extLst>
          </p:cNvPr>
          <p:cNvSpPr/>
          <p:nvPr/>
        </p:nvSpPr>
        <p:spPr>
          <a:xfrm>
            <a:off x="12501994" y="18002427"/>
            <a:ext cx="1900203" cy="175064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8D039D06-FDEC-3EB7-A01E-E943B75380A0}"/>
              </a:ext>
            </a:extLst>
          </p:cNvPr>
          <p:cNvSpPr/>
          <p:nvPr/>
        </p:nvSpPr>
        <p:spPr>
          <a:xfrm>
            <a:off x="24406267" y="17920217"/>
            <a:ext cx="1900203" cy="175064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ABDA8D0-EF94-9269-D1D0-043CAFB5BE49}"/>
              </a:ext>
            </a:extLst>
          </p:cNvPr>
          <p:cNvSpPr/>
          <p:nvPr/>
        </p:nvSpPr>
        <p:spPr>
          <a:xfrm>
            <a:off x="28271234" y="8280973"/>
            <a:ext cx="587327" cy="374248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28C5A49-A3FE-0A4F-78EB-838F9B0BF93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77435" y="27294944"/>
            <a:ext cx="1703363" cy="17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230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049BB170560E4B902D25840F593189" ma:contentTypeVersion="3" ma:contentTypeDescription="Create a new document." ma:contentTypeScope="" ma:versionID="f7cf7b4155d32cb80781f7e22a8450d0">
  <xsd:schema xmlns:xsd="http://www.w3.org/2001/XMLSchema" xmlns:xs="http://www.w3.org/2001/XMLSchema" xmlns:p="http://schemas.microsoft.com/office/2006/metadata/properties" xmlns:ns2="4da59184-df73-4fed-8d88-baff151abc02" targetNamespace="http://schemas.microsoft.com/office/2006/metadata/properties" ma:root="true" ma:fieldsID="7245327e3169c79b06969a731c28fb5b" ns2:_="">
    <xsd:import namespace="4da59184-df73-4fed-8d88-baff151abc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a59184-df73-4fed-8d88-baff151abc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44E2D5-6953-4D7D-8357-A46776E10134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  <ds:schemaRef ds:uri="http://schemas.microsoft.com/office/infopath/2007/PartnerControls"/>
    <ds:schemaRef ds:uri="4da59184-df73-4fed-8d88-baff151abc02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A23E78E-5EAF-465E-BFB7-2840678206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2B12B3-11C6-4744-A6C4-5E28B7F22A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a59184-df73-4fed-8d88-baff151abc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3952</TotalTime>
  <Words>482</Words>
  <Application>Microsoft Office PowerPoint</Application>
  <PresentationFormat>Custom</PresentationFormat>
  <Paragraphs>118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Gallegos</dc:creator>
  <cp:lastModifiedBy>Jonathan Gallegos</cp:lastModifiedBy>
  <cp:revision>24</cp:revision>
  <dcterms:created xsi:type="dcterms:W3CDTF">2026-03-16T18:27:44Z</dcterms:created>
  <dcterms:modified xsi:type="dcterms:W3CDTF">2026-04-23T15:27:46Z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0x01010041049BB170560E4B902D25840F593189</vt:lpwstr>
  </property>
</Properties>
</file>