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2" r:id="rId4"/>
  </p:sldMasterIdLst>
  <p:notesMasterIdLst>
    <p:notesMasterId r:id="rId49"/>
  </p:notesMasterIdLst>
  <p:handoutMasterIdLst>
    <p:handoutMasterId r:id="rId50"/>
  </p:handoutMasterIdLst>
  <p:sldIdLst>
    <p:sldId id="258" r:id="rId5"/>
    <p:sldId id="287" r:id="rId6"/>
    <p:sldId id="288" r:id="rId7"/>
    <p:sldId id="329" r:id="rId8"/>
    <p:sldId id="289" r:id="rId9"/>
    <p:sldId id="290" r:id="rId10"/>
    <p:sldId id="260" r:id="rId11"/>
    <p:sldId id="292" r:id="rId12"/>
    <p:sldId id="293" r:id="rId13"/>
    <p:sldId id="294" r:id="rId14"/>
    <p:sldId id="296" r:id="rId15"/>
    <p:sldId id="295" r:id="rId16"/>
    <p:sldId id="297" r:id="rId17"/>
    <p:sldId id="291" r:id="rId18"/>
    <p:sldId id="298" r:id="rId19"/>
    <p:sldId id="299" r:id="rId20"/>
    <p:sldId id="301" r:id="rId21"/>
    <p:sldId id="302" r:id="rId22"/>
    <p:sldId id="303" r:id="rId23"/>
    <p:sldId id="305" r:id="rId24"/>
    <p:sldId id="306" r:id="rId25"/>
    <p:sldId id="304" r:id="rId26"/>
    <p:sldId id="307" r:id="rId27"/>
    <p:sldId id="308" r:id="rId28"/>
    <p:sldId id="309" r:id="rId29"/>
    <p:sldId id="310" r:id="rId30"/>
    <p:sldId id="312" r:id="rId31"/>
    <p:sldId id="311" r:id="rId32"/>
    <p:sldId id="286" r:id="rId33"/>
    <p:sldId id="313" r:id="rId34"/>
    <p:sldId id="314" r:id="rId35"/>
    <p:sldId id="315" r:id="rId36"/>
    <p:sldId id="316" r:id="rId37"/>
    <p:sldId id="317" r:id="rId38"/>
    <p:sldId id="323" r:id="rId39"/>
    <p:sldId id="325" r:id="rId40"/>
    <p:sldId id="324" r:id="rId41"/>
    <p:sldId id="318" r:id="rId42"/>
    <p:sldId id="319" r:id="rId43"/>
    <p:sldId id="320" r:id="rId44"/>
    <p:sldId id="326" r:id="rId45"/>
    <p:sldId id="327" r:id="rId46"/>
    <p:sldId id="321" r:id="rId47"/>
    <p:sldId id="328"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Ivey" initials="AI" lastIdx="9" clrIdx="0">
    <p:extLst>
      <p:ext uri="{19B8F6BF-5375-455C-9EA6-DF929625EA0E}">
        <p15:presenceInfo xmlns:p15="http://schemas.microsoft.com/office/powerpoint/2012/main" userId="S::aivey@airweb.org::367e2130-e937-48eb-9c56-54ce8e9c774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713" autoAdjust="0"/>
    <p:restoredTop sz="96197"/>
  </p:normalViewPr>
  <p:slideViewPr>
    <p:cSldViewPr snapToGrid="0" snapToObjects="1">
      <p:cViewPr>
        <p:scale>
          <a:sx n="66" d="100"/>
          <a:sy n="66" d="100"/>
        </p:scale>
        <p:origin x="882" y="88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94" d="100"/>
          <a:sy n="94" d="100"/>
        </p:scale>
        <p:origin x="375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D7B66A-661B-9D4E-9140-649B3CC6AB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687571B-E54D-E040-ACFD-BBCBB230E40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FA5234-6FCE-6C4C-8813-7F649DD0D88C}" type="datetimeFigureOut">
              <a:rPr lang="en-US" smtClean="0"/>
              <a:t>4/20/2026</a:t>
            </a:fld>
            <a:endParaRPr lang="en-US"/>
          </a:p>
        </p:txBody>
      </p:sp>
      <p:sp>
        <p:nvSpPr>
          <p:cNvPr id="4" name="Footer Placeholder 3">
            <a:extLst>
              <a:ext uri="{FF2B5EF4-FFF2-40B4-BE49-F238E27FC236}">
                <a16:creationId xmlns:a16="http://schemas.microsoft.com/office/drawing/2014/main" id="{51BADCDC-CCD3-F448-A55C-1CEEC277599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97C3915-D310-A14C-8133-EAFE2E39E8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90D96FC-ADA9-EC45-AA67-D71DECC01607}" type="slidenum">
              <a:rPr lang="en-US" smtClean="0"/>
              <a:t>‹#›</a:t>
            </a:fld>
            <a:endParaRPr lang="en-US"/>
          </a:p>
        </p:txBody>
      </p:sp>
    </p:spTree>
    <p:extLst>
      <p:ext uri="{BB962C8B-B14F-4D97-AF65-F5344CB8AC3E}">
        <p14:creationId xmlns:p14="http://schemas.microsoft.com/office/powerpoint/2010/main" val="18811195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95A0E-A904-334A-A282-8C2EAB43FA1F}" type="datetimeFigureOut">
              <a:rPr lang="en-US" smtClean="0"/>
              <a:t>4/20/2026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E32841-FF94-8543-8663-61C5EC6E88DF}" type="slidenum">
              <a:rPr lang="en-US" smtClean="0"/>
              <a:t>‹#›</a:t>
            </a:fld>
            <a:endParaRPr lang="en-US"/>
          </a:p>
        </p:txBody>
      </p:sp>
    </p:spTree>
    <p:extLst>
      <p:ext uri="{BB962C8B-B14F-4D97-AF65-F5344CB8AC3E}">
        <p14:creationId xmlns:p14="http://schemas.microsoft.com/office/powerpoint/2010/main" val="24585647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32841-FF94-8543-8663-61C5EC6E88DF}" type="slidenum">
              <a:rPr lang="en-US" smtClean="0"/>
              <a:t>1</a:t>
            </a:fld>
            <a:endParaRPr lang="en-US"/>
          </a:p>
        </p:txBody>
      </p:sp>
    </p:spTree>
    <p:extLst>
      <p:ext uri="{BB962C8B-B14F-4D97-AF65-F5344CB8AC3E}">
        <p14:creationId xmlns:p14="http://schemas.microsoft.com/office/powerpoint/2010/main" val="31961475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6E32841-FF94-8543-8663-61C5EC6E88DF}" type="slidenum">
              <a:rPr lang="en-US" smtClean="0"/>
              <a:t>7</a:t>
            </a:fld>
            <a:endParaRPr lang="en-US"/>
          </a:p>
        </p:txBody>
      </p:sp>
    </p:spTree>
    <p:extLst>
      <p:ext uri="{BB962C8B-B14F-4D97-AF65-F5344CB8AC3E}">
        <p14:creationId xmlns:p14="http://schemas.microsoft.com/office/powerpoint/2010/main" val="13109971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DADF5-E554-E2C8-A52E-423AFA4EA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19653-7B70-28BA-C124-FA89A28E8E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D98CF7-CA95-8F49-960B-8BFCDAE9A3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96A86A4-586E-E75E-C9EC-F45F667601F3}"/>
              </a:ext>
            </a:extLst>
          </p:cNvPr>
          <p:cNvSpPr>
            <a:spLocks noGrp="1"/>
          </p:cNvSpPr>
          <p:nvPr>
            <p:ph type="sldNum" sz="quarter" idx="5"/>
          </p:nvPr>
        </p:nvSpPr>
        <p:spPr/>
        <p:txBody>
          <a:bodyPr/>
          <a:lstStyle/>
          <a:p>
            <a:fld id="{66E32841-FF94-8543-8663-61C5EC6E88DF}" type="slidenum">
              <a:rPr lang="en-US" smtClean="0"/>
              <a:t>14</a:t>
            </a:fld>
            <a:endParaRPr lang="en-US"/>
          </a:p>
        </p:txBody>
      </p:sp>
    </p:spTree>
    <p:extLst>
      <p:ext uri="{BB962C8B-B14F-4D97-AF65-F5344CB8AC3E}">
        <p14:creationId xmlns:p14="http://schemas.microsoft.com/office/powerpoint/2010/main" val="17755915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7C08D0-D5C7-8369-9F15-4C80FDE909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186D2C-C09B-3CAA-2960-190A44593E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AE8450-7FE3-FCB8-9C03-6228B317151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629D661-7871-9773-7947-55368FC4E398}"/>
              </a:ext>
            </a:extLst>
          </p:cNvPr>
          <p:cNvSpPr>
            <a:spLocks noGrp="1"/>
          </p:cNvSpPr>
          <p:nvPr>
            <p:ph type="sldNum" sz="quarter" idx="5"/>
          </p:nvPr>
        </p:nvSpPr>
        <p:spPr/>
        <p:txBody>
          <a:bodyPr/>
          <a:lstStyle/>
          <a:p>
            <a:fld id="{66E32841-FF94-8543-8663-61C5EC6E88DF}" type="slidenum">
              <a:rPr lang="en-US" smtClean="0"/>
              <a:t>15</a:t>
            </a:fld>
            <a:endParaRPr lang="en-US"/>
          </a:p>
        </p:txBody>
      </p:sp>
    </p:spTree>
    <p:extLst>
      <p:ext uri="{BB962C8B-B14F-4D97-AF65-F5344CB8AC3E}">
        <p14:creationId xmlns:p14="http://schemas.microsoft.com/office/powerpoint/2010/main" val="3158614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4C913C-08C0-82AA-E593-33A727DB63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DD96A-92F5-B59D-BFFA-81E31D5C79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42FD38-F848-BB6B-8664-31D1BDC863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35BA236-6FCF-C48C-462E-14831D11663C}"/>
              </a:ext>
            </a:extLst>
          </p:cNvPr>
          <p:cNvSpPr>
            <a:spLocks noGrp="1"/>
          </p:cNvSpPr>
          <p:nvPr>
            <p:ph type="sldNum" sz="quarter" idx="5"/>
          </p:nvPr>
        </p:nvSpPr>
        <p:spPr/>
        <p:txBody>
          <a:bodyPr/>
          <a:lstStyle/>
          <a:p>
            <a:fld id="{66E32841-FF94-8543-8663-61C5EC6E88DF}" type="slidenum">
              <a:rPr lang="en-US" smtClean="0"/>
              <a:t>16</a:t>
            </a:fld>
            <a:endParaRPr lang="en-US"/>
          </a:p>
        </p:txBody>
      </p:sp>
    </p:spTree>
    <p:extLst>
      <p:ext uri="{BB962C8B-B14F-4D97-AF65-F5344CB8AC3E}">
        <p14:creationId xmlns:p14="http://schemas.microsoft.com/office/powerpoint/2010/main" val="19567321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A047B-DC36-7F47-959D-14D802D01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938B3-8A03-30B9-EB4B-80889E398F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E13E2-8620-D87C-546C-E9C11C10C4F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DACA679-763B-5CC9-EF75-C8A7FE36D8F4}"/>
              </a:ext>
            </a:extLst>
          </p:cNvPr>
          <p:cNvSpPr>
            <a:spLocks noGrp="1"/>
          </p:cNvSpPr>
          <p:nvPr>
            <p:ph type="sldNum" sz="quarter" idx="5"/>
          </p:nvPr>
        </p:nvSpPr>
        <p:spPr/>
        <p:txBody>
          <a:bodyPr/>
          <a:lstStyle/>
          <a:p>
            <a:fld id="{66E32841-FF94-8543-8663-61C5EC6E88DF}" type="slidenum">
              <a:rPr lang="en-US" smtClean="0"/>
              <a:t>17</a:t>
            </a:fld>
            <a:endParaRPr lang="en-US"/>
          </a:p>
        </p:txBody>
      </p:sp>
    </p:spTree>
    <p:extLst>
      <p:ext uri="{BB962C8B-B14F-4D97-AF65-F5344CB8AC3E}">
        <p14:creationId xmlns:p14="http://schemas.microsoft.com/office/powerpoint/2010/main" val="780703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C4627-52D5-EF34-1518-DD9CF500A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F93409-1C55-343F-F687-C2987808BE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192968-5156-1DF4-5635-326F9B6697D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9F52B0-1F16-B53F-0BAA-92ACE4B9D54B}"/>
              </a:ext>
            </a:extLst>
          </p:cNvPr>
          <p:cNvSpPr>
            <a:spLocks noGrp="1"/>
          </p:cNvSpPr>
          <p:nvPr>
            <p:ph type="sldNum" sz="quarter" idx="5"/>
          </p:nvPr>
        </p:nvSpPr>
        <p:spPr/>
        <p:txBody>
          <a:bodyPr/>
          <a:lstStyle/>
          <a:p>
            <a:fld id="{66E32841-FF94-8543-8663-61C5EC6E88DF}" type="slidenum">
              <a:rPr lang="en-US" smtClean="0"/>
              <a:t>18</a:t>
            </a:fld>
            <a:endParaRPr lang="en-US"/>
          </a:p>
        </p:txBody>
      </p:sp>
    </p:spTree>
    <p:extLst>
      <p:ext uri="{BB962C8B-B14F-4D97-AF65-F5344CB8AC3E}">
        <p14:creationId xmlns:p14="http://schemas.microsoft.com/office/powerpoint/2010/main" val="5053391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4C35A-E356-5820-302C-9360994D76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E29EC-9BB1-7437-C1E3-59A61AF191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ECA0-497F-4F9D-1968-82051439E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69F59D-F9E9-8A7C-5180-F79286EE5740}"/>
              </a:ext>
            </a:extLst>
          </p:cNvPr>
          <p:cNvSpPr>
            <a:spLocks noGrp="1"/>
          </p:cNvSpPr>
          <p:nvPr>
            <p:ph type="sldNum" sz="quarter" idx="5"/>
          </p:nvPr>
        </p:nvSpPr>
        <p:spPr/>
        <p:txBody>
          <a:bodyPr/>
          <a:lstStyle/>
          <a:p>
            <a:fld id="{66E32841-FF94-8543-8663-61C5EC6E88DF}" type="slidenum">
              <a:rPr lang="en-US" smtClean="0"/>
              <a:t>19</a:t>
            </a:fld>
            <a:endParaRPr lang="en-US"/>
          </a:p>
        </p:txBody>
      </p:sp>
    </p:spTree>
    <p:extLst>
      <p:ext uri="{BB962C8B-B14F-4D97-AF65-F5344CB8AC3E}">
        <p14:creationId xmlns:p14="http://schemas.microsoft.com/office/powerpoint/2010/main" val="72107360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sv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Brick">
    <p:bg>
      <p:bgPr>
        <a:gradFill flip="none" rotWithShape="1">
          <a:gsLst>
            <a:gs pos="0">
              <a:schemeClr val="bg2"/>
            </a:gs>
            <a:gs pos="24000">
              <a:schemeClr val="bg2"/>
            </a:gs>
            <a:gs pos="85000">
              <a:schemeClr val="bg2">
                <a:lumMod val="75000"/>
              </a:schemeClr>
            </a:gs>
            <a:gs pos="100000">
              <a:schemeClr val="bg2">
                <a:lumMod val="50000"/>
              </a:schemeClr>
            </a:gs>
          </a:gsLst>
          <a:lin ang="0" scaled="1"/>
          <a:tileRect/>
        </a:gra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8E606B9-9BEF-5A4B-B02B-EB4565E36C77}"/>
              </a:ext>
            </a:extLst>
          </p:cNvPr>
          <p:cNvSpPr>
            <a:spLocks noGrp="1"/>
          </p:cNvSpPr>
          <p:nvPr>
            <p:ph type="ctrTitle" hasCustomPrompt="1"/>
          </p:nvPr>
        </p:nvSpPr>
        <p:spPr>
          <a:xfrm>
            <a:off x="1061012" y="2281246"/>
            <a:ext cx="9972748" cy="2892830"/>
          </a:xfrm>
          <a:prstGeom prst="rect">
            <a:avLst/>
          </a:prstGeom>
        </p:spPr>
        <p:txBody>
          <a:bodyPr anchor="b"/>
          <a:lstStyle>
            <a:lvl1pPr algn="l">
              <a:defRPr sz="6000" b="1">
                <a:solidFill>
                  <a:schemeClr val="tx1"/>
                </a:solidFill>
                <a:latin typeface="+mn-lt"/>
              </a:defRPr>
            </a:lvl1pPr>
          </a:lstStyle>
          <a:p>
            <a:r>
              <a:rPr lang="en-US" dirty="0"/>
              <a:t>Insert Title Here</a:t>
            </a:r>
          </a:p>
        </p:txBody>
      </p:sp>
      <p:sp>
        <p:nvSpPr>
          <p:cNvPr id="8" name="Subtitle 2">
            <a:extLst>
              <a:ext uri="{FF2B5EF4-FFF2-40B4-BE49-F238E27FC236}">
                <a16:creationId xmlns:a16="http://schemas.microsoft.com/office/drawing/2014/main" id="{2CF385DD-19A0-C34A-8F3C-75D97A60D54F}"/>
              </a:ext>
            </a:extLst>
          </p:cNvPr>
          <p:cNvSpPr>
            <a:spLocks noGrp="1"/>
          </p:cNvSpPr>
          <p:nvPr>
            <p:ph type="subTitle" idx="1" hasCustomPrompt="1"/>
          </p:nvPr>
        </p:nvSpPr>
        <p:spPr>
          <a:xfrm>
            <a:off x="1061012" y="5402734"/>
            <a:ext cx="9972748" cy="1672542"/>
          </a:xfrm>
        </p:spPr>
        <p:txBody>
          <a:bodyPr>
            <a:noAutofit/>
          </a:bodyPr>
          <a:lstStyle>
            <a:lvl1pPr marL="0" indent="0" algn="l">
              <a:lnSpc>
                <a:spcPts val="1500"/>
              </a:lnSpc>
              <a:buNone/>
              <a:defRPr sz="28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Subhead Here</a:t>
            </a:r>
          </a:p>
        </p:txBody>
      </p:sp>
      <p:pic>
        <p:nvPicPr>
          <p:cNvPr id="2" name="Graphic 1">
            <a:extLst>
              <a:ext uri="{FF2B5EF4-FFF2-40B4-BE49-F238E27FC236}">
                <a16:creationId xmlns:a16="http://schemas.microsoft.com/office/drawing/2014/main" id="{4EE88813-2D88-0D25-47ED-ECAA76550D9A}"/>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42267"/>
          <a:stretch/>
        </p:blipFill>
        <p:spPr>
          <a:xfrm>
            <a:off x="6740938" y="2898668"/>
            <a:ext cx="5299364" cy="3959332"/>
          </a:xfrm>
          <a:prstGeom prst="rect">
            <a:avLst/>
          </a:prstGeom>
        </p:spPr>
      </p:pic>
      <p:pic>
        <p:nvPicPr>
          <p:cNvPr id="3" name="Graphic 2">
            <a:extLst>
              <a:ext uri="{FF2B5EF4-FFF2-40B4-BE49-F238E27FC236}">
                <a16:creationId xmlns:a16="http://schemas.microsoft.com/office/drawing/2014/main" id="{241CCB7A-C707-85EE-F1B1-7538E9BD1500}"/>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2495" t="20837"/>
          <a:stretch/>
        </p:blipFill>
        <p:spPr>
          <a:xfrm flipH="1">
            <a:off x="8146540" y="0"/>
            <a:ext cx="4045459" cy="4736199"/>
          </a:xfrm>
          <a:prstGeom prst="rect">
            <a:avLst/>
          </a:prstGeom>
        </p:spPr>
      </p:pic>
      <p:pic>
        <p:nvPicPr>
          <p:cNvPr id="5" name="Picture 4" descr="AIR Forum">
            <a:extLst>
              <a:ext uri="{FF2B5EF4-FFF2-40B4-BE49-F238E27FC236}">
                <a16:creationId xmlns:a16="http://schemas.microsoft.com/office/drawing/2014/main" id="{96CA8899-996A-0400-FE9D-C21437A87E1F}"/>
              </a:ext>
            </a:extLst>
          </p:cNvPr>
          <p:cNvPicPr>
            <a:picLocks noChangeAspect="1"/>
          </p:cNvPicPr>
          <p:nvPr userDrawn="1"/>
        </p:nvPicPr>
        <p:blipFill>
          <a:blip r:embed="rId4"/>
          <a:srcRect/>
          <a:stretch/>
        </p:blipFill>
        <p:spPr>
          <a:xfrm>
            <a:off x="1061011" y="1024838"/>
            <a:ext cx="5852160" cy="1280160"/>
          </a:xfrm>
          <a:prstGeom prst="rect">
            <a:avLst/>
          </a:prstGeom>
        </p:spPr>
      </p:pic>
      <p:pic>
        <p:nvPicPr>
          <p:cNvPr id="6" name="Picture 2" descr="AIR | Celebrating 60 Years">
            <a:extLst>
              <a:ext uri="{FF2B5EF4-FFF2-40B4-BE49-F238E27FC236}">
                <a16:creationId xmlns:a16="http://schemas.microsoft.com/office/drawing/2014/main" id="{82A89CBD-C8D3-ECB0-8EC0-A097E8AB932C}"/>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7762592" y="1029522"/>
            <a:ext cx="2394373" cy="1280160"/>
          </a:xfrm>
          <a:prstGeom prst="rect">
            <a:avLst/>
          </a:prstGeom>
        </p:spPr>
      </p:pic>
    </p:spTree>
    <p:extLst>
      <p:ext uri="{BB962C8B-B14F-4D97-AF65-F5344CB8AC3E}">
        <p14:creationId xmlns:p14="http://schemas.microsoft.com/office/powerpoint/2010/main" val="32827193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pic>
        <p:nvPicPr>
          <p:cNvPr id="9" name="Picture 8" descr="AIR Forum">
            <a:extLst>
              <a:ext uri="{FF2B5EF4-FFF2-40B4-BE49-F238E27FC236}">
                <a16:creationId xmlns:a16="http://schemas.microsoft.com/office/drawing/2014/main" id="{F8660046-46BE-F64A-AA1E-5D0A5321D43C}"/>
              </a:ext>
            </a:extLst>
          </p:cNvPr>
          <p:cNvPicPr>
            <a:picLocks noChangeAspect="1"/>
          </p:cNvPicPr>
          <p:nvPr userDrawn="1"/>
        </p:nvPicPr>
        <p:blipFill>
          <a:blip r:embed="rId2"/>
          <a:srcRect/>
          <a:stretch/>
        </p:blipFill>
        <p:spPr>
          <a:xfrm>
            <a:off x="1061011" y="1022156"/>
            <a:ext cx="5852160" cy="1280160"/>
          </a:xfrm>
          <a:prstGeom prst="rect">
            <a:avLst/>
          </a:prstGeom>
        </p:spPr>
      </p:pic>
      <p:sp>
        <p:nvSpPr>
          <p:cNvPr id="7" name="Title 1">
            <a:extLst>
              <a:ext uri="{FF2B5EF4-FFF2-40B4-BE49-F238E27FC236}">
                <a16:creationId xmlns:a16="http://schemas.microsoft.com/office/drawing/2014/main" id="{58E606B9-9BEF-5A4B-B02B-EB4565E36C77}"/>
              </a:ext>
            </a:extLst>
          </p:cNvPr>
          <p:cNvSpPr>
            <a:spLocks noGrp="1"/>
          </p:cNvSpPr>
          <p:nvPr>
            <p:ph type="ctrTitle" hasCustomPrompt="1"/>
          </p:nvPr>
        </p:nvSpPr>
        <p:spPr>
          <a:xfrm>
            <a:off x="1061012" y="2281246"/>
            <a:ext cx="9606988" cy="2892830"/>
          </a:xfrm>
          <a:prstGeom prst="rect">
            <a:avLst/>
          </a:prstGeom>
        </p:spPr>
        <p:txBody>
          <a:bodyPr anchor="b"/>
          <a:lstStyle>
            <a:lvl1pPr algn="l">
              <a:defRPr sz="6000" b="1">
                <a:solidFill>
                  <a:schemeClr val="bg1"/>
                </a:solidFill>
                <a:latin typeface="+mn-lt"/>
              </a:defRPr>
            </a:lvl1pPr>
          </a:lstStyle>
          <a:p>
            <a:r>
              <a:rPr lang="en-US" dirty="0"/>
              <a:t>Insert Title Here</a:t>
            </a:r>
          </a:p>
        </p:txBody>
      </p:sp>
      <p:sp>
        <p:nvSpPr>
          <p:cNvPr id="8" name="Subtitle 2">
            <a:extLst>
              <a:ext uri="{FF2B5EF4-FFF2-40B4-BE49-F238E27FC236}">
                <a16:creationId xmlns:a16="http://schemas.microsoft.com/office/drawing/2014/main" id="{2CF385DD-19A0-C34A-8F3C-75D97A60D54F}"/>
              </a:ext>
            </a:extLst>
          </p:cNvPr>
          <p:cNvSpPr>
            <a:spLocks noGrp="1"/>
          </p:cNvSpPr>
          <p:nvPr>
            <p:ph type="subTitle" idx="1" hasCustomPrompt="1"/>
          </p:nvPr>
        </p:nvSpPr>
        <p:spPr>
          <a:xfrm>
            <a:off x="1061012" y="5402734"/>
            <a:ext cx="9606988" cy="1672542"/>
          </a:xfrm>
        </p:spPr>
        <p:txBody>
          <a:bodyPr>
            <a:noAutofit/>
          </a:bodyPr>
          <a:lstStyle>
            <a:lvl1pPr marL="0" indent="0" algn="l">
              <a:lnSpc>
                <a:spcPts val="1500"/>
              </a:lnSpc>
              <a:buNone/>
              <a:defRPr sz="28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Subhead Here</a:t>
            </a:r>
          </a:p>
        </p:txBody>
      </p:sp>
      <p:pic>
        <p:nvPicPr>
          <p:cNvPr id="2" name="Picture 2">
            <a:extLst>
              <a:ext uri="{FF2B5EF4-FFF2-40B4-BE49-F238E27FC236}">
                <a16:creationId xmlns:a16="http://schemas.microsoft.com/office/drawing/2014/main" id="{B03AD78E-D80D-0866-253C-BE4F97F0A981}"/>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762592" y="1005138"/>
            <a:ext cx="2394373" cy="1280159"/>
          </a:xfrm>
          <a:prstGeom prst="rect">
            <a:avLst/>
          </a:prstGeom>
        </p:spPr>
      </p:pic>
    </p:spTree>
    <p:extLst>
      <p:ext uri="{BB962C8B-B14F-4D97-AF65-F5344CB8AC3E}">
        <p14:creationId xmlns:p14="http://schemas.microsoft.com/office/powerpoint/2010/main" val="22428016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For Longer Title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8E606B9-9BEF-5A4B-B02B-EB4565E36C77}"/>
              </a:ext>
            </a:extLst>
          </p:cNvPr>
          <p:cNvSpPr>
            <a:spLocks noGrp="1"/>
          </p:cNvSpPr>
          <p:nvPr>
            <p:ph type="ctrTitle" hasCustomPrompt="1"/>
          </p:nvPr>
        </p:nvSpPr>
        <p:spPr>
          <a:xfrm>
            <a:off x="1061012" y="2281245"/>
            <a:ext cx="9875520" cy="3593843"/>
          </a:xfrm>
          <a:prstGeom prst="rect">
            <a:avLst/>
          </a:prstGeom>
        </p:spPr>
        <p:txBody>
          <a:bodyPr anchor="b"/>
          <a:lstStyle>
            <a:lvl1pPr algn="l">
              <a:defRPr sz="6000" b="1">
                <a:solidFill>
                  <a:schemeClr val="bg1"/>
                </a:solidFill>
                <a:latin typeface="+mn-lt"/>
              </a:defRPr>
            </a:lvl1pPr>
          </a:lstStyle>
          <a:p>
            <a:r>
              <a:rPr lang="en-US" dirty="0"/>
              <a:t>Insert Title Here</a:t>
            </a:r>
          </a:p>
        </p:txBody>
      </p:sp>
      <p:sp>
        <p:nvSpPr>
          <p:cNvPr id="8" name="Subtitle 2">
            <a:extLst>
              <a:ext uri="{FF2B5EF4-FFF2-40B4-BE49-F238E27FC236}">
                <a16:creationId xmlns:a16="http://schemas.microsoft.com/office/drawing/2014/main" id="{2CF385DD-19A0-C34A-8F3C-75D97A60D54F}"/>
              </a:ext>
            </a:extLst>
          </p:cNvPr>
          <p:cNvSpPr>
            <a:spLocks noGrp="1"/>
          </p:cNvSpPr>
          <p:nvPr>
            <p:ph type="subTitle" idx="1" hasCustomPrompt="1"/>
          </p:nvPr>
        </p:nvSpPr>
        <p:spPr>
          <a:xfrm>
            <a:off x="1061012" y="6066262"/>
            <a:ext cx="9875520" cy="1009013"/>
          </a:xfrm>
        </p:spPr>
        <p:txBody>
          <a:bodyPr>
            <a:noAutofit/>
          </a:bodyPr>
          <a:lstStyle>
            <a:lvl1pPr marL="0" indent="0" algn="l">
              <a:lnSpc>
                <a:spcPts val="1500"/>
              </a:lnSpc>
              <a:buNone/>
              <a:defRPr sz="2800">
                <a:solidFill>
                  <a:schemeClr val="bg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Insert Subhead Here</a:t>
            </a:r>
          </a:p>
        </p:txBody>
      </p:sp>
      <p:pic>
        <p:nvPicPr>
          <p:cNvPr id="2" name="Picture 1" descr="AIR Forum">
            <a:extLst>
              <a:ext uri="{FF2B5EF4-FFF2-40B4-BE49-F238E27FC236}">
                <a16:creationId xmlns:a16="http://schemas.microsoft.com/office/drawing/2014/main" id="{024BC549-FB1B-763E-5E52-068A9E8F852C}"/>
              </a:ext>
            </a:extLst>
          </p:cNvPr>
          <p:cNvPicPr>
            <a:picLocks noChangeAspect="1"/>
          </p:cNvPicPr>
          <p:nvPr userDrawn="1"/>
        </p:nvPicPr>
        <p:blipFill>
          <a:blip r:embed="rId2"/>
          <a:srcRect/>
          <a:stretch/>
        </p:blipFill>
        <p:spPr>
          <a:xfrm>
            <a:off x="1061011" y="1022156"/>
            <a:ext cx="5852160" cy="1280160"/>
          </a:xfrm>
          <a:prstGeom prst="rect">
            <a:avLst/>
          </a:prstGeom>
        </p:spPr>
      </p:pic>
      <p:pic>
        <p:nvPicPr>
          <p:cNvPr id="4" name="Picture 2">
            <a:extLst>
              <a:ext uri="{FF2B5EF4-FFF2-40B4-BE49-F238E27FC236}">
                <a16:creationId xmlns:a16="http://schemas.microsoft.com/office/drawing/2014/main" id="{F1156430-08C8-AA81-3B7E-55A18BD4F425}"/>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7762592" y="1005138"/>
            <a:ext cx="2394373" cy="1280159"/>
          </a:xfrm>
          <a:prstGeom prst="rect">
            <a:avLst/>
          </a:prstGeom>
        </p:spPr>
      </p:pic>
    </p:spTree>
    <p:extLst>
      <p:ext uri="{BB962C8B-B14F-4D97-AF65-F5344CB8AC3E}">
        <p14:creationId xmlns:p14="http://schemas.microsoft.com/office/powerpoint/2010/main" val="2554153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B2708A73-8447-28C4-1CA8-4E04ACB814BE}"/>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42267"/>
          <a:stretch/>
        </p:blipFill>
        <p:spPr>
          <a:xfrm>
            <a:off x="6740938" y="2898668"/>
            <a:ext cx="5299364" cy="3959332"/>
          </a:xfrm>
          <a:prstGeom prst="rect">
            <a:avLst/>
          </a:prstGeom>
        </p:spPr>
      </p:pic>
      <p:pic>
        <p:nvPicPr>
          <p:cNvPr id="5" name="Graphic 4">
            <a:extLst>
              <a:ext uri="{FF2B5EF4-FFF2-40B4-BE49-F238E27FC236}">
                <a16:creationId xmlns:a16="http://schemas.microsoft.com/office/drawing/2014/main" id="{2D3A7DC5-1493-FCBC-1904-2A224C39025D}"/>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2495" t="20837"/>
          <a:stretch/>
        </p:blipFill>
        <p:spPr>
          <a:xfrm flipH="1">
            <a:off x="8146540" y="0"/>
            <a:ext cx="4045459" cy="4736199"/>
          </a:xfrm>
          <a:prstGeom prst="rect">
            <a:avLst/>
          </a:prstGeom>
        </p:spPr>
      </p:pic>
      <p:sp>
        <p:nvSpPr>
          <p:cNvPr id="2" name="Title 1">
            <a:extLst>
              <a:ext uri="{FF2B5EF4-FFF2-40B4-BE49-F238E27FC236}">
                <a16:creationId xmlns:a16="http://schemas.microsoft.com/office/drawing/2014/main" id="{C04BC8E2-FE77-8D48-AA06-CCC7FF9EC540}"/>
              </a:ext>
            </a:extLst>
          </p:cNvPr>
          <p:cNvSpPr>
            <a:spLocks noGrp="1"/>
          </p:cNvSpPr>
          <p:nvPr>
            <p:ph type="title"/>
          </p:nvPr>
        </p:nvSpPr>
        <p:spPr>
          <a:xfrm>
            <a:off x="831851" y="577516"/>
            <a:ext cx="7422133" cy="3984959"/>
          </a:xfrm>
          <a:prstGeom prst="rect">
            <a:avLst/>
          </a:prstGeom>
        </p:spPr>
        <p:txBody>
          <a:bodyPr anchor="b">
            <a:normAutofit/>
          </a:bodyPr>
          <a:lstStyle>
            <a:lvl1pPr algn="l">
              <a:defRPr sz="4800">
                <a:solidFill>
                  <a:schemeClr val="bg2"/>
                </a:solidFill>
              </a:defRPr>
            </a:lvl1pPr>
          </a:lstStyle>
          <a:p>
            <a:r>
              <a:rPr lang="en-US" dirty="0"/>
              <a:t>Click to edit Master title style</a:t>
            </a:r>
          </a:p>
        </p:txBody>
      </p:sp>
      <p:sp>
        <p:nvSpPr>
          <p:cNvPr id="3" name="Text Placeholder 2">
            <a:extLst>
              <a:ext uri="{FF2B5EF4-FFF2-40B4-BE49-F238E27FC236}">
                <a16:creationId xmlns:a16="http://schemas.microsoft.com/office/drawing/2014/main" id="{52BA79F4-F166-1F4B-A0B0-905316D842E7}"/>
              </a:ext>
            </a:extLst>
          </p:cNvPr>
          <p:cNvSpPr>
            <a:spLocks noGrp="1"/>
          </p:cNvSpPr>
          <p:nvPr>
            <p:ph type="body" idx="1"/>
          </p:nvPr>
        </p:nvSpPr>
        <p:spPr>
          <a:xfrm>
            <a:off x="831851" y="4589463"/>
            <a:ext cx="6063624" cy="1500187"/>
          </a:xfrm>
        </p:spPr>
        <p:txBody>
          <a:bodyPr>
            <a:normAutofit/>
          </a:bodyPr>
          <a:lstStyle>
            <a:lvl1pPr marL="0" indent="0" algn="l">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6" name="Slide Number Placeholder 5">
            <a:extLst>
              <a:ext uri="{FF2B5EF4-FFF2-40B4-BE49-F238E27FC236}">
                <a16:creationId xmlns:a16="http://schemas.microsoft.com/office/drawing/2014/main" id="{47154CF1-76B2-E74F-BE09-3FD2B89C109A}"/>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3986484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3968349-0194-2E46-BC51-E9CAE355577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2C8F037F-16E2-9149-8E51-4BAC70D6DA30}"/>
              </a:ext>
            </a:extLst>
          </p:cNvPr>
          <p:cNvSpPr>
            <a:spLocks noGrp="1"/>
          </p:cNvSpPr>
          <p:nvPr>
            <p:ph idx="1"/>
          </p:nvPr>
        </p:nvSpPr>
        <p:spPr/>
        <p:txBody>
          <a:bodyPr>
            <a:no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C17B0820-72D2-9E4B-9705-8F0F353CBA30}"/>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765124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127F7165-D88C-1C41-AFBB-692763F3CF96}"/>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5D08345-F2B6-3340-8D5E-2BCEB092BF4E}"/>
              </a:ext>
            </a:extLst>
          </p:cNvPr>
          <p:cNvSpPr>
            <a:spLocks noGrp="1"/>
          </p:cNvSpPr>
          <p:nvPr>
            <p:ph sz="half" idx="1"/>
          </p:nvPr>
        </p:nvSpPr>
        <p:spPr>
          <a:xfrm>
            <a:off x="838200" y="1825625"/>
            <a:ext cx="5181600" cy="4351338"/>
          </a:xfrm>
        </p:spPr>
        <p:txBody>
          <a:bodyPr>
            <a:no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B6BB0D00-6E87-7D4F-9889-9AB9B3F6C293}"/>
              </a:ext>
            </a:extLst>
          </p:cNvPr>
          <p:cNvSpPr>
            <a:spLocks noGrp="1"/>
          </p:cNvSpPr>
          <p:nvPr>
            <p:ph sz="half" idx="2"/>
          </p:nvPr>
        </p:nvSpPr>
        <p:spPr>
          <a:xfrm>
            <a:off x="6172200" y="1825625"/>
            <a:ext cx="5181600" cy="4351338"/>
          </a:xfrm>
        </p:spPr>
        <p:txBody>
          <a:bodyPr>
            <a:no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2B8FCD4D-BDFA-6B4A-8722-2E19D215EAF8}"/>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9034058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78E2EC4-E97B-EC42-9E47-4435FAC801BD}"/>
              </a:ext>
            </a:extLst>
          </p:cNvPr>
          <p:cNvSpPr>
            <a:spLocks noGrp="1"/>
          </p:cNvSpPr>
          <p:nvPr>
            <p:ph type="title"/>
          </p:nvPr>
        </p:nvSpPr>
        <p:spPr/>
        <p:txBody>
          <a:bodyPr/>
          <a:lstStyle/>
          <a:p>
            <a:r>
              <a:rPr lang="en-US" dirty="0"/>
              <a:t>Click to edit Master title style</a:t>
            </a:r>
          </a:p>
        </p:txBody>
      </p:sp>
      <p:sp>
        <p:nvSpPr>
          <p:cNvPr id="3" name="Text Placeholder 2">
            <a:extLst>
              <a:ext uri="{FF2B5EF4-FFF2-40B4-BE49-F238E27FC236}">
                <a16:creationId xmlns:a16="http://schemas.microsoft.com/office/drawing/2014/main" id="{634C495F-71FD-AB4D-8D29-BFF73FD87226}"/>
              </a:ext>
            </a:extLst>
          </p:cNvPr>
          <p:cNvSpPr>
            <a:spLocks noGrp="1"/>
          </p:cNvSpPr>
          <p:nvPr>
            <p:ph type="body" idx="1"/>
          </p:nvPr>
        </p:nvSpPr>
        <p:spPr>
          <a:xfrm>
            <a:off x="839788" y="1681162"/>
            <a:ext cx="5157787" cy="1082585"/>
          </a:xfrm>
        </p:spPr>
        <p:txBody>
          <a:bodyPr anchor="ctr" anchorCtr="0">
            <a:noAutofit/>
          </a:bodyPr>
          <a:lstStyle>
            <a:lvl1pPr marL="0" indent="0">
              <a:buNone/>
              <a:defRPr sz="28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4BEEB663-9A82-8746-9002-DC98834E95C1}"/>
              </a:ext>
            </a:extLst>
          </p:cNvPr>
          <p:cNvSpPr>
            <a:spLocks noGrp="1"/>
          </p:cNvSpPr>
          <p:nvPr>
            <p:ph sz="half" idx="2"/>
          </p:nvPr>
        </p:nvSpPr>
        <p:spPr>
          <a:xfrm>
            <a:off x="839788" y="2897311"/>
            <a:ext cx="5157787" cy="3292351"/>
          </a:xfrm>
        </p:spPr>
        <p:txBody>
          <a:bodyPr>
            <a:no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86572EA-5BE0-F640-AFD9-5AA5F8C440B5}"/>
              </a:ext>
            </a:extLst>
          </p:cNvPr>
          <p:cNvSpPr>
            <a:spLocks noGrp="1"/>
          </p:cNvSpPr>
          <p:nvPr>
            <p:ph type="body" sz="quarter" idx="3"/>
          </p:nvPr>
        </p:nvSpPr>
        <p:spPr>
          <a:xfrm>
            <a:off x="6172200" y="1681162"/>
            <a:ext cx="5183188" cy="1082585"/>
          </a:xfrm>
        </p:spPr>
        <p:txBody>
          <a:bodyPr anchor="ctr" anchorCtr="0">
            <a:noAutofit/>
          </a:bodyPr>
          <a:lstStyle>
            <a:lvl1pPr marL="0" indent="0">
              <a:buNone/>
              <a:defRPr sz="2800" b="1">
                <a:solidFill>
                  <a:schemeClr val="bg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02534EA1-99D3-4349-9458-6377AA73F5F8}"/>
              </a:ext>
            </a:extLst>
          </p:cNvPr>
          <p:cNvSpPr>
            <a:spLocks noGrp="1"/>
          </p:cNvSpPr>
          <p:nvPr>
            <p:ph sz="quarter" idx="4"/>
          </p:nvPr>
        </p:nvSpPr>
        <p:spPr>
          <a:xfrm>
            <a:off x="6172200" y="2897311"/>
            <a:ext cx="5183188" cy="3292351"/>
          </a:xfrm>
        </p:spPr>
        <p:txBody>
          <a:bodyPr>
            <a:no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lide Number Placeholder 8">
            <a:extLst>
              <a:ext uri="{FF2B5EF4-FFF2-40B4-BE49-F238E27FC236}">
                <a16:creationId xmlns:a16="http://schemas.microsoft.com/office/drawing/2014/main" id="{6B74420E-BE64-6142-90DA-69311DE09679}"/>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574413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357C38-F5BF-F74D-8D8C-B2262E6C6959}"/>
              </a:ext>
            </a:extLst>
          </p:cNvPr>
          <p:cNvSpPr>
            <a:spLocks noGrp="1"/>
          </p:cNvSpPr>
          <p:nvPr>
            <p:ph type="title"/>
          </p:nvPr>
        </p:nvSpPr>
        <p:spPr/>
        <p:txBody>
          <a:bodyPr/>
          <a:lstStyle/>
          <a:p>
            <a:r>
              <a:rPr lang="en-US"/>
              <a:t>Click to edit Master title style</a:t>
            </a:r>
          </a:p>
        </p:txBody>
      </p:sp>
      <p:sp>
        <p:nvSpPr>
          <p:cNvPr id="5" name="Slide Number Placeholder 4">
            <a:extLst>
              <a:ext uri="{FF2B5EF4-FFF2-40B4-BE49-F238E27FC236}">
                <a16:creationId xmlns:a16="http://schemas.microsoft.com/office/drawing/2014/main" id="{BB521010-9DEC-CB41-B6C8-187212263757}"/>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561584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32945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Rectanlge Images">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0BC24A3A-9B25-D748-A748-6D97FE89D38C}"/>
              </a:ext>
              <a:ext uri="{C183D7F6-B498-43B3-948B-1728B52AA6E4}">
                <adec:decorative xmlns:adec="http://schemas.microsoft.com/office/drawing/2017/decorative" val="1"/>
              </a:ext>
            </a:extLst>
          </p:cNvPr>
          <p:cNvSpPr/>
          <p:nvPr userDrawn="1"/>
        </p:nvSpPr>
        <p:spPr>
          <a:xfrm>
            <a:off x="0" y="365125"/>
            <a:ext cx="1491916" cy="144776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4F45BFB-0B47-9444-8568-98E6B00125EE}"/>
              </a:ext>
            </a:extLst>
          </p:cNvPr>
          <p:cNvSpPr>
            <a:spLocks noGrp="1"/>
          </p:cNvSpPr>
          <p:nvPr>
            <p:ph type="title"/>
          </p:nvPr>
        </p:nvSpPr>
        <p:spPr/>
        <p:txBody>
          <a:bodyPr/>
          <a:lstStyle>
            <a:lvl1pPr algn="ctr">
              <a:defRPr/>
            </a:lvl1pPr>
          </a:lstStyle>
          <a:p>
            <a:r>
              <a:rPr lang="en-US" dirty="0"/>
              <a:t>Click to edit Master title style</a:t>
            </a:r>
          </a:p>
        </p:txBody>
      </p:sp>
      <p:sp>
        <p:nvSpPr>
          <p:cNvPr id="16" name="Picture Placeholder 3">
            <a:extLst>
              <a:ext uri="{FF2B5EF4-FFF2-40B4-BE49-F238E27FC236}">
                <a16:creationId xmlns:a16="http://schemas.microsoft.com/office/drawing/2014/main" id="{9CE63BFD-FA76-6E44-A21C-8AC2D3DC010F}"/>
              </a:ext>
            </a:extLst>
          </p:cNvPr>
          <p:cNvSpPr>
            <a:spLocks noGrp="1"/>
          </p:cNvSpPr>
          <p:nvPr>
            <p:ph type="pic" sz="quarter" idx="31"/>
          </p:nvPr>
        </p:nvSpPr>
        <p:spPr>
          <a:xfrm>
            <a:off x="813509" y="1812889"/>
            <a:ext cx="2009775" cy="2009775"/>
          </a:xfrm>
        </p:spPr>
        <p:txBody>
          <a:bodyPr/>
          <a:lstStyle/>
          <a:p>
            <a:endParaRPr lang="en-US" dirty="0"/>
          </a:p>
        </p:txBody>
      </p:sp>
      <p:sp>
        <p:nvSpPr>
          <p:cNvPr id="40" name="Text Placeholder 3">
            <a:extLst>
              <a:ext uri="{FF2B5EF4-FFF2-40B4-BE49-F238E27FC236}">
                <a16:creationId xmlns:a16="http://schemas.microsoft.com/office/drawing/2014/main" id="{0DC1C2CB-086F-0A48-92C3-FA54C5FA8205}"/>
              </a:ext>
            </a:extLst>
          </p:cNvPr>
          <p:cNvSpPr>
            <a:spLocks noGrp="1"/>
          </p:cNvSpPr>
          <p:nvPr>
            <p:ph type="body" sz="quarter" idx="27" hasCustomPrompt="1"/>
          </p:nvPr>
        </p:nvSpPr>
        <p:spPr>
          <a:xfrm>
            <a:off x="553952" y="4033452"/>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35" name="Text Placeholder 17">
            <a:extLst>
              <a:ext uri="{FF2B5EF4-FFF2-40B4-BE49-F238E27FC236}">
                <a16:creationId xmlns:a16="http://schemas.microsoft.com/office/drawing/2014/main" id="{A300A1A3-58E3-5442-8334-86ED4D17BAF3}"/>
              </a:ext>
            </a:extLst>
          </p:cNvPr>
          <p:cNvSpPr>
            <a:spLocks noGrp="1"/>
          </p:cNvSpPr>
          <p:nvPr>
            <p:ph type="body" sz="quarter" idx="26" hasCustomPrompt="1"/>
          </p:nvPr>
        </p:nvSpPr>
        <p:spPr>
          <a:xfrm>
            <a:off x="554136" y="4638800"/>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p>
        </p:txBody>
      </p:sp>
      <p:sp>
        <p:nvSpPr>
          <p:cNvPr id="17" name="Picture Placeholder 3">
            <a:extLst>
              <a:ext uri="{FF2B5EF4-FFF2-40B4-BE49-F238E27FC236}">
                <a16:creationId xmlns:a16="http://schemas.microsoft.com/office/drawing/2014/main" id="{C64CF095-C98E-164D-A0FE-DB8C6658651C}"/>
              </a:ext>
            </a:extLst>
          </p:cNvPr>
          <p:cNvSpPr>
            <a:spLocks noGrp="1"/>
          </p:cNvSpPr>
          <p:nvPr>
            <p:ph type="pic" sz="quarter" idx="32"/>
          </p:nvPr>
        </p:nvSpPr>
        <p:spPr>
          <a:xfrm>
            <a:off x="3662105" y="1812888"/>
            <a:ext cx="2009775" cy="2009775"/>
          </a:xfrm>
        </p:spPr>
        <p:txBody>
          <a:bodyPr/>
          <a:lstStyle/>
          <a:p>
            <a:endParaRPr lang="en-US"/>
          </a:p>
        </p:txBody>
      </p:sp>
      <p:sp>
        <p:nvSpPr>
          <p:cNvPr id="42" name="Text Placeholder 3">
            <a:extLst>
              <a:ext uri="{FF2B5EF4-FFF2-40B4-BE49-F238E27FC236}">
                <a16:creationId xmlns:a16="http://schemas.microsoft.com/office/drawing/2014/main" id="{2DD4985F-DB40-B147-9AEB-324311315469}"/>
              </a:ext>
            </a:extLst>
          </p:cNvPr>
          <p:cNvSpPr>
            <a:spLocks noGrp="1"/>
          </p:cNvSpPr>
          <p:nvPr>
            <p:ph type="body" sz="quarter" idx="30" hasCustomPrompt="1"/>
          </p:nvPr>
        </p:nvSpPr>
        <p:spPr>
          <a:xfrm>
            <a:off x="3402548" y="4033452"/>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41" name="Text Placeholder 17">
            <a:extLst>
              <a:ext uri="{FF2B5EF4-FFF2-40B4-BE49-F238E27FC236}">
                <a16:creationId xmlns:a16="http://schemas.microsoft.com/office/drawing/2014/main" id="{2713FDD1-0353-284E-8E2E-00F0DED93DAA}"/>
              </a:ext>
            </a:extLst>
          </p:cNvPr>
          <p:cNvSpPr>
            <a:spLocks noGrp="1"/>
          </p:cNvSpPr>
          <p:nvPr>
            <p:ph type="body" sz="quarter" idx="29" hasCustomPrompt="1"/>
          </p:nvPr>
        </p:nvSpPr>
        <p:spPr>
          <a:xfrm>
            <a:off x="3402732" y="4638800"/>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p>
        </p:txBody>
      </p:sp>
      <p:sp>
        <p:nvSpPr>
          <p:cNvPr id="22" name="Picture Placeholder 3">
            <a:extLst>
              <a:ext uri="{FF2B5EF4-FFF2-40B4-BE49-F238E27FC236}">
                <a16:creationId xmlns:a16="http://schemas.microsoft.com/office/drawing/2014/main" id="{AE8B4CB4-C73F-3143-B132-C17DE67D965A}"/>
              </a:ext>
            </a:extLst>
          </p:cNvPr>
          <p:cNvSpPr>
            <a:spLocks noGrp="1"/>
          </p:cNvSpPr>
          <p:nvPr>
            <p:ph type="pic" sz="quarter" idx="33"/>
          </p:nvPr>
        </p:nvSpPr>
        <p:spPr>
          <a:xfrm>
            <a:off x="6510701" y="1812888"/>
            <a:ext cx="2009775" cy="2009775"/>
          </a:xfrm>
        </p:spPr>
        <p:txBody>
          <a:bodyPr/>
          <a:lstStyle/>
          <a:p>
            <a:endParaRPr lang="en-US"/>
          </a:p>
        </p:txBody>
      </p:sp>
      <p:sp>
        <p:nvSpPr>
          <p:cNvPr id="24" name="Text Placeholder 3">
            <a:extLst>
              <a:ext uri="{FF2B5EF4-FFF2-40B4-BE49-F238E27FC236}">
                <a16:creationId xmlns:a16="http://schemas.microsoft.com/office/drawing/2014/main" id="{FE792EF2-92BE-BA44-BDC7-15883AC07DA9}"/>
              </a:ext>
            </a:extLst>
          </p:cNvPr>
          <p:cNvSpPr>
            <a:spLocks noGrp="1"/>
          </p:cNvSpPr>
          <p:nvPr>
            <p:ph type="body" sz="quarter" idx="22" hasCustomPrompt="1"/>
          </p:nvPr>
        </p:nvSpPr>
        <p:spPr>
          <a:xfrm>
            <a:off x="6251144" y="4033452"/>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21" name="Text Placeholder 17">
            <a:extLst>
              <a:ext uri="{FF2B5EF4-FFF2-40B4-BE49-F238E27FC236}">
                <a16:creationId xmlns:a16="http://schemas.microsoft.com/office/drawing/2014/main" id="{B42FB970-44CC-E64C-B488-7F3604905A25}"/>
              </a:ext>
            </a:extLst>
          </p:cNvPr>
          <p:cNvSpPr>
            <a:spLocks noGrp="1"/>
          </p:cNvSpPr>
          <p:nvPr>
            <p:ph type="body" sz="quarter" idx="13" hasCustomPrompt="1"/>
          </p:nvPr>
        </p:nvSpPr>
        <p:spPr>
          <a:xfrm>
            <a:off x="6251328" y="4638984"/>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p>
        </p:txBody>
      </p:sp>
      <p:sp>
        <p:nvSpPr>
          <p:cNvPr id="23" name="Picture Placeholder 3">
            <a:extLst>
              <a:ext uri="{FF2B5EF4-FFF2-40B4-BE49-F238E27FC236}">
                <a16:creationId xmlns:a16="http://schemas.microsoft.com/office/drawing/2014/main" id="{EEB11961-DEBE-B648-8429-07D5A5F9F308}"/>
              </a:ext>
            </a:extLst>
          </p:cNvPr>
          <p:cNvSpPr>
            <a:spLocks noGrp="1"/>
          </p:cNvSpPr>
          <p:nvPr>
            <p:ph type="pic" sz="quarter" idx="34"/>
          </p:nvPr>
        </p:nvSpPr>
        <p:spPr>
          <a:xfrm>
            <a:off x="9359297" y="1812887"/>
            <a:ext cx="2009775" cy="2009775"/>
          </a:xfrm>
        </p:spPr>
        <p:txBody>
          <a:bodyPr/>
          <a:lstStyle/>
          <a:p>
            <a:endParaRPr lang="en-US"/>
          </a:p>
        </p:txBody>
      </p:sp>
      <p:sp>
        <p:nvSpPr>
          <p:cNvPr id="34" name="Text Placeholder 3">
            <a:extLst>
              <a:ext uri="{FF2B5EF4-FFF2-40B4-BE49-F238E27FC236}">
                <a16:creationId xmlns:a16="http://schemas.microsoft.com/office/drawing/2014/main" id="{AF87827B-1769-594A-93B4-D22458EFE0B4}"/>
              </a:ext>
            </a:extLst>
          </p:cNvPr>
          <p:cNvSpPr>
            <a:spLocks noGrp="1"/>
          </p:cNvSpPr>
          <p:nvPr>
            <p:ph type="body" sz="quarter" idx="24" hasCustomPrompt="1"/>
          </p:nvPr>
        </p:nvSpPr>
        <p:spPr>
          <a:xfrm>
            <a:off x="9099740" y="4033452"/>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20" name="Text Placeholder 17">
            <a:extLst>
              <a:ext uri="{FF2B5EF4-FFF2-40B4-BE49-F238E27FC236}">
                <a16:creationId xmlns:a16="http://schemas.microsoft.com/office/drawing/2014/main" id="{B99818BA-56B8-094B-BABA-43878A211F10}"/>
              </a:ext>
            </a:extLst>
          </p:cNvPr>
          <p:cNvSpPr>
            <a:spLocks noGrp="1"/>
          </p:cNvSpPr>
          <p:nvPr>
            <p:ph type="body" sz="quarter" idx="12" hasCustomPrompt="1"/>
          </p:nvPr>
        </p:nvSpPr>
        <p:spPr>
          <a:xfrm>
            <a:off x="9099924" y="4638800"/>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p>
        </p:txBody>
      </p:sp>
    </p:spTree>
    <p:extLst>
      <p:ext uri="{BB962C8B-B14F-4D97-AF65-F5344CB8AC3E}">
        <p14:creationId xmlns:p14="http://schemas.microsoft.com/office/powerpoint/2010/main" val="1011848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Four Item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0869E9-1551-9147-92B2-951D1930298E}"/>
              </a:ext>
              <a:ext uri="{C183D7F6-B498-43B3-948B-1728B52AA6E4}">
                <adec:decorative xmlns:adec="http://schemas.microsoft.com/office/drawing/2017/decorative" val="1"/>
              </a:ext>
            </a:extLst>
          </p:cNvPr>
          <p:cNvSpPr/>
          <p:nvPr userDrawn="1"/>
        </p:nvSpPr>
        <p:spPr>
          <a:xfrm>
            <a:off x="0" y="365126"/>
            <a:ext cx="1491916" cy="13103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4F45BFB-0B47-9444-8568-98E6B00125EE}"/>
              </a:ext>
            </a:extLst>
          </p:cNvPr>
          <p:cNvSpPr>
            <a:spLocks noGrp="1"/>
          </p:cNvSpPr>
          <p:nvPr>
            <p:ph type="title"/>
          </p:nvPr>
        </p:nvSpPr>
        <p:spPr/>
        <p:txBody>
          <a:bodyPr/>
          <a:lstStyle>
            <a:lvl1pPr algn="ctr">
              <a:defRPr/>
            </a:lvl1pPr>
          </a:lstStyle>
          <a:p>
            <a:r>
              <a:rPr lang="en-US" dirty="0"/>
              <a:t>Click to edit Master title style</a:t>
            </a:r>
          </a:p>
        </p:txBody>
      </p:sp>
      <p:sp>
        <p:nvSpPr>
          <p:cNvPr id="15" name="Picture Placeholder 30">
            <a:extLst>
              <a:ext uri="{FF2B5EF4-FFF2-40B4-BE49-F238E27FC236}">
                <a16:creationId xmlns:a16="http://schemas.microsoft.com/office/drawing/2014/main" id="{9D6082E7-42BF-0049-8BFD-6E592E878895}"/>
              </a:ext>
            </a:extLst>
          </p:cNvPr>
          <p:cNvSpPr>
            <a:spLocks noGrp="1" noChangeAspect="1"/>
          </p:cNvSpPr>
          <p:nvPr>
            <p:ph type="pic" sz="quarter" idx="14" hasCustomPrompt="1"/>
          </p:nvPr>
        </p:nvSpPr>
        <p:spPr>
          <a:xfrm>
            <a:off x="912200" y="1675439"/>
            <a:ext cx="2010736" cy="2011680"/>
          </a:xfrm>
          <a:prstGeom prst="ellipse">
            <a:avLst/>
          </a:prstGeom>
          <a:noFill/>
        </p:spPr>
        <p:txBody>
          <a:bodyPr anchor="ctr">
            <a:normAutofit/>
          </a:bodyPr>
          <a:lstStyle>
            <a:lvl1pPr marL="0" indent="0" algn="ctr">
              <a:buNone/>
              <a:defRPr sz="2000"/>
            </a:lvl1pPr>
          </a:lstStyle>
          <a:p>
            <a:r>
              <a:rPr lang="en-US" dirty="0"/>
              <a:t>Picture</a:t>
            </a:r>
          </a:p>
        </p:txBody>
      </p:sp>
      <p:sp>
        <p:nvSpPr>
          <p:cNvPr id="40" name="Text Placeholder 3">
            <a:extLst>
              <a:ext uri="{FF2B5EF4-FFF2-40B4-BE49-F238E27FC236}">
                <a16:creationId xmlns:a16="http://schemas.microsoft.com/office/drawing/2014/main" id="{0DC1C2CB-086F-0A48-92C3-FA54C5FA8205}"/>
              </a:ext>
            </a:extLst>
          </p:cNvPr>
          <p:cNvSpPr>
            <a:spLocks noGrp="1"/>
          </p:cNvSpPr>
          <p:nvPr>
            <p:ph type="body" sz="quarter" idx="27" hasCustomPrompt="1"/>
          </p:nvPr>
        </p:nvSpPr>
        <p:spPr>
          <a:xfrm>
            <a:off x="586135" y="3856990"/>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35" name="Text Placeholder 17">
            <a:extLst>
              <a:ext uri="{FF2B5EF4-FFF2-40B4-BE49-F238E27FC236}">
                <a16:creationId xmlns:a16="http://schemas.microsoft.com/office/drawing/2014/main" id="{A300A1A3-58E3-5442-8334-86ED4D17BAF3}"/>
              </a:ext>
            </a:extLst>
          </p:cNvPr>
          <p:cNvSpPr>
            <a:spLocks noGrp="1"/>
          </p:cNvSpPr>
          <p:nvPr>
            <p:ph type="body" sz="quarter" idx="26" hasCustomPrompt="1"/>
          </p:nvPr>
        </p:nvSpPr>
        <p:spPr>
          <a:xfrm>
            <a:off x="586135" y="4462338"/>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
        <p:nvSpPr>
          <p:cNvPr id="19" name="Picture Placeholder 30">
            <a:extLst>
              <a:ext uri="{FF2B5EF4-FFF2-40B4-BE49-F238E27FC236}">
                <a16:creationId xmlns:a16="http://schemas.microsoft.com/office/drawing/2014/main" id="{39F07E1D-EFF9-4744-A2A6-8A24627D29CE}"/>
              </a:ext>
            </a:extLst>
          </p:cNvPr>
          <p:cNvSpPr>
            <a:spLocks noGrp="1" noChangeAspect="1"/>
          </p:cNvSpPr>
          <p:nvPr>
            <p:ph type="pic" sz="quarter" idx="15" hasCustomPrompt="1"/>
          </p:nvPr>
        </p:nvSpPr>
        <p:spPr>
          <a:xfrm>
            <a:off x="3677626" y="1675439"/>
            <a:ext cx="2010736" cy="2011680"/>
          </a:xfrm>
          <a:prstGeom prst="ellipse">
            <a:avLst/>
          </a:prstGeom>
          <a:noFill/>
        </p:spPr>
        <p:txBody>
          <a:bodyPr anchor="ctr">
            <a:normAutofit/>
          </a:bodyPr>
          <a:lstStyle>
            <a:lvl1pPr marL="0" indent="0" algn="ctr">
              <a:buNone/>
              <a:defRPr sz="2000"/>
            </a:lvl1pPr>
          </a:lstStyle>
          <a:p>
            <a:r>
              <a:rPr lang="en-US" dirty="0"/>
              <a:t>Picture</a:t>
            </a:r>
          </a:p>
        </p:txBody>
      </p:sp>
      <p:sp>
        <p:nvSpPr>
          <p:cNvPr id="42" name="Text Placeholder 3">
            <a:extLst>
              <a:ext uri="{FF2B5EF4-FFF2-40B4-BE49-F238E27FC236}">
                <a16:creationId xmlns:a16="http://schemas.microsoft.com/office/drawing/2014/main" id="{2DD4985F-DB40-B147-9AEB-324311315469}"/>
              </a:ext>
            </a:extLst>
          </p:cNvPr>
          <p:cNvSpPr>
            <a:spLocks noGrp="1"/>
          </p:cNvSpPr>
          <p:nvPr>
            <p:ph type="body" sz="quarter" idx="30" hasCustomPrompt="1"/>
          </p:nvPr>
        </p:nvSpPr>
        <p:spPr>
          <a:xfrm>
            <a:off x="3386156" y="3856990"/>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41" name="Text Placeholder 17">
            <a:extLst>
              <a:ext uri="{FF2B5EF4-FFF2-40B4-BE49-F238E27FC236}">
                <a16:creationId xmlns:a16="http://schemas.microsoft.com/office/drawing/2014/main" id="{2713FDD1-0353-284E-8E2E-00F0DED93DAA}"/>
              </a:ext>
            </a:extLst>
          </p:cNvPr>
          <p:cNvSpPr>
            <a:spLocks noGrp="1"/>
          </p:cNvSpPr>
          <p:nvPr>
            <p:ph type="body" sz="quarter" idx="29" hasCustomPrompt="1"/>
          </p:nvPr>
        </p:nvSpPr>
        <p:spPr>
          <a:xfrm>
            <a:off x="3386156" y="4462338"/>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
        <p:nvSpPr>
          <p:cNvPr id="25" name="Picture Placeholder 30">
            <a:extLst>
              <a:ext uri="{FF2B5EF4-FFF2-40B4-BE49-F238E27FC236}">
                <a16:creationId xmlns:a16="http://schemas.microsoft.com/office/drawing/2014/main" id="{C7D73BEE-5C9A-8945-AB70-9085A35E686C}"/>
              </a:ext>
            </a:extLst>
          </p:cNvPr>
          <p:cNvSpPr>
            <a:spLocks noGrp="1" noChangeAspect="1"/>
          </p:cNvSpPr>
          <p:nvPr>
            <p:ph type="pic" sz="quarter" idx="16" hasCustomPrompt="1"/>
          </p:nvPr>
        </p:nvSpPr>
        <p:spPr>
          <a:xfrm>
            <a:off x="6443052" y="1675439"/>
            <a:ext cx="2010736" cy="2011680"/>
          </a:xfrm>
          <a:prstGeom prst="ellipse">
            <a:avLst/>
          </a:prstGeom>
          <a:noFill/>
        </p:spPr>
        <p:txBody>
          <a:bodyPr anchor="ctr">
            <a:normAutofit/>
          </a:bodyPr>
          <a:lstStyle>
            <a:lvl1pPr marL="0" indent="0" algn="ctr">
              <a:buNone/>
              <a:defRPr sz="2000"/>
            </a:lvl1pPr>
          </a:lstStyle>
          <a:p>
            <a:r>
              <a:rPr lang="en-US" dirty="0"/>
              <a:t>Picture</a:t>
            </a:r>
          </a:p>
        </p:txBody>
      </p:sp>
      <p:sp>
        <p:nvSpPr>
          <p:cNvPr id="24" name="Text Placeholder 3">
            <a:extLst>
              <a:ext uri="{FF2B5EF4-FFF2-40B4-BE49-F238E27FC236}">
                <a16:creationId xmlns:a16="http://schemas.microsoft.com/office/drawing/2014/main" id="{FE792EF2-92BE-BA44-BDC7-15883AC07DA9}"/>
              </a:ext>
            </a:extLst>
          </p:cNvPr>
          <p:cNvSpPr>
            <a:spLocks noGrp="1"/>
          </p:cNvSpPr>
          <p:nvPr>
            <p:ph type="body" sz="quarter" idx="22" hasCustomPrompt="1"/>
          </p:nvPr>
        </p:nvSpPr>
        <p:spPr>
          <a:xfrm>
            <a:off x="6153662" y="3856990"/>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21" name="Text Placeholder 17">
            <a:extLst>
              <a:ext uri="{FF2B5EF4-FFF2-40B4-BE49-F238E27FC236}">
                <a16:creationId xmlns:a16="http://schemas.microsoft.com/office/drawing/2014/main" id="{B42FB970-44CC-E64C-B488-7F3604905A25}"/>
              </a:ext>
            </a:extLst>
          </p:cNvPr>
          <p:cNvSpPr>
            <a:spLocks noGrp="1"/>
          </p:cNvSpPr>
          <p:nvPr>
            <p:ph type="body" sz="quarter" idx="13" hasCustomPrompt="1"/>
          </p:nvPr>
        </p:nvSpPr>
        <p:spPr>
          <a:xfrm>
            <a:off x="6144240" y="4462522"/>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
        <p:nvSpPr>
          <p:cNvPr id="28" name="Picture Placeholder 30">
            <a:extLst>
              <a:ext uri="{FF2B5EF4-FFF2-40B4-BE49-F238E27FC236}">
                <a16:creationId xmlns:a16="http://schemas.microsoft.com/office/drawing/2014/main" id="{311D294C-9B26-8243-BEC9-7E0E41C2E57C}"/>
              </a:ext>
            </a:extLst>
          </p:cNvPr>
          <p:cNvSpPr>
            <a:spLocks noGrp="1" noChangeAspect="1"/>
          </p:cNvSpPr>
          <p:nvPr>
            <p:ph type="pic" sz="quarter" idx="17" hasCustomPrompt="1"/>
          </p:nvPr>
        </p:nvSpPr>
        <p:spPr>
          <a:xfrm>
            <a:off x="9208479" y="1675439"/>
            <a:ext cx="2010736" cy="2011680"/>
          </a:xfrm>
          <a:prstGeom prst="ellipse">
            <a:avLst/>
          </a:prstGeom>
          <a:noFill/>
        </p:spPr>
        <p:txBody>
          <a:bodyPr anchor="ctr">
            <a:normAutofit/>
          </a:bodyPr>
          <a:lstStyle>
            <a:lvl1pPr marL="0" indent="0" algn="ctr">
              <a:buNone/>
              <a:defRPr sz="2000"/>
            </a:lvl1pPr>
          </a:lstStyle>
          <a:p>
            <a:r>
              <a:rPr lang="en-US" dirty="0"/>
              <a:t>Picture</a:t>
            </a:r>
          </a:p>
        </p:txBody>
      </p:sp>
      <p:sp>
        <p:nvSpPr>
          <p:cNvPr id="34" name="Text Placeholder 3">
            <a:extLst>
              <a:ext uri="{FF2B5EF4-FFF2-40B4-BE49-F238E27FC236}">
                <a16:creationId xmlns:a16="http://schemas.microsoft.com/office/drawing/2014/main" id="{AF87827B-1769-594A-93B4-D22458EFE0B4}"/>
              </a:ext>
            </a:extLst>
          </p:cNvPr>
          <p:cNvSpPr>
            <a:spLocks noGrp="1"/>
          </p:cNvSpPr>
          <p:nvPr>
            <p:ph type="body" sz="quarter" idx="24" hasCustomPrompt="1"/>
          </p:nvPr>
        </p:nvSpPr>
        <p:spPr>
          <a:xfrm>
            <a:off x="8950081" y="3856990"/>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20" name="Text Placeholder 17">
            <a:extLst>
              <a:ext uri="{FF2B5EF4-FFF2-40B4-BE49-F238E27FC236}">
                <a16:creationId xmlns:a16="http://schemas.microsoft.com/office/drawing/2014/main" id="{B99818BA-56B8-094B-BABA-43878A211F10}"/>
              </a:ext>
            </a:extLst>
          </p:cNvPr>
          <p:cNvSpPr>
            <a:spLocks noGrp="1"/>
          </p:cNvSpPr>
          <p:nvPr>
            <p:ph type="body" sz="quarter" idx="12" hasCustomPrompt="1"/>
          </p:nvPr>
        </p:nvSpPr>
        <p:spPr>
          <a:xfrm>
            <a:off x="8950448" y="4462338"/>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a:t>
            </a:r>
          </a:p>
        </p:txBody>
      </p:sp>
    </p:spTree>
    <p:extLst>
      <p:ext uri="{BB962C8B-B14F-4D97-AF65-F5344CB8AC3E}">
        <p14:creationId xmlns:p14="http://schemas.microsoft.com/office/powerpoint/2010/main" val="26125544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our items with emphasis">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580E7D-9BAF-2842-B0D4-8152FF8586FD}"/>
              </a:ext>
            </a:extLst>
          </p:cNvPr>
          <p:cNvSpPr>
            <a:spLocks noGrp="1"/>
          </p:cNvSpPr>
          <p:nvPr>
            <p:ph type="title"/>
          </p:nvPr>
        </p:nvSpPr>
        <p:spPr/>
        <p:txBody>
          <a:bodyPr anchor="ctr" anchorCtr="0"/>
          <a:lstStyle/>
          <a:p>
            <a:r>
              <a:rPr lang="en-US" dirty="0"/>
              <a:t>Click to edit Master title style</a:t>
            </a:r>
          </a:p>
        </p:txBody>
      </p:sp>
      <p:sp>
        <p:nvSpPr>
          <p:cNvPr id="44" name="Picture Placeholder 30">
            <a:extLst>
              <a:ext uri="{FF2B5EF4-FFF2-40B4-BE49-F238E27FC236}">
                <a16:creationId xmlns:a16="http://schemas.microsoft.com/office/drawing/2014/main" id="{CE67BF09-C91F-4E41-9740-5C532BF8CBD9}"/>
              </a:ext>
            </a:extLst>
          </p:cNvPr>
          <p:cNvSpPr>
            <a:spLocks noGrp="1" noChangeAspect="1"/>
          </p:cNvSpPr>
          <p:nvPr>
            <p:ph type="pic" sz="quarter" idx="14" hasCustomPrompt="1"/>
          </p:nvPr>
        </p:nvSpPr>
        <p:spPr>
          <a:xfrm>
            <a:off x="912200" y="1891569"/>
            <a:ext cx="1828800" cy="1829659"/>
          </a:xfrm>
          <a:prstGeom prst="ellipse">
            <a:avLst/>
          </a:prstGeom>
          <a:noFill/>
        </p:spPr>
        <p:txBody>
          <a:bodyPr anchor="ctr">
            <a:normAutofit/>
          </a:bodyPr>
          <a:lstStyle>
            <a:lvl1pPr marL="0" indent="0" algn="ctr">
              <a:buNone/>
              <a:defRPr sz="2000"/>
            </a:lvl1pPr>
          </a:lstStyle>
          <a:p>
            <a:r>
              <a:rPr lang="en-US" dirty="0"/>
              <a:t>Picture</a:t>
            </a:r>
          </a:p>
        </p:txBody>
      </p:sp>
      <p:sp>
        <p:nvSpPr>
          <p:cNvPr id="45" name="Text Placeholder 3">
            <a:extLst>
              <a:ext uri="{FF2B5EF4-FFF2-40B4-BE49-F238E27FC236}">
                <a16:creationId xmlns:a16="http://schemas.microsoft.com/office/drawing/2014/main" id="{3E940747-B413-A94E-AA7F-D6EC911ACD40}"/>
              </a:ext>
            </a:extLst>
          </p:cNvPr>
          <p:cNvSpPr>
            <a:spLocks noGrp="1"/>
          </p:cNvSpPr>
          <p:nvPr>
            <p:ph type="body" sz="quarter" idx="27" hasCustomPrompt="1"/>
          </p:nvPr>
        </p:nvSpPr>
        <p:spPr>
          <a:xfrm>
            <a:off x="586135" y="4073119"/>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46" name="Text Placeholder 17">
            <a:extLst>
              <a:ext uri="{FF2B5EF4-FFF2-40B4-BE49-F238E27FC236}">
                <a16:creationId xmlns:a16="http://schemas.microsoft.com/office/drawing/2014/main" id="{F5C8B6B9-A2E7-F14F-8643-C3A7D2454AE4}"/>
              </a:ext>
            </a:extLst>
          </p:cNvPr>
          <p:cNvSpPr>
            <a:spLocks noGrp="1"/>
          </p:cNvSpPr>
          <p:nvPr>
            <p:ph type="body" sz="quarter" idx="26" hasCustomPrompt="1"/>
          </p:nvPr>
        </p:nvSpPr>
        <p:spPr>
          <a:xfrm>
            <a:off x="586135" y="4678467"/>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
        <p:nvSpPr>
          <p:cNvPr id="47" name="Picture Placeholder 30">
            <a:extLst>
              <a:ext uri="{FF2B5EF4-FFF2-40B4-BE49-F238E27FC236}">
                <a16:creationId xmlns:a16="http://schemas.microsoft.com/office/drawing/2014/main" id="{2E887242-DE31-7241-8B81-902A653961EF}"/>
              </a:ext>
            </a:extLst>
          </p:cNvPr>
          <p:cNvSpPr>
            <a:spLocks noGrp="1" noChangeAspect="1"/>
          </p:cNvSpPr>
          <p:nvPr>
            <p:ph type="pic" sz="quarter" idx="15" hasCustomPrompt="1"/>
          </p:nvPr>
        </p:nvSpPr>
        <p:spPr>
          <a:xfrm>
            <a:off x="3677626" y="1891569"/>
            <a:ext cx="1828800" cy="1829659"/>
          </a:xfrm>
          <a:prstGeom prst="ellipse">
            <a:avLst/>
          </a:prstGeom>
          <a:noFill/>
        </p:spPr>
        <p:txBody>
          <a:bodyPr anchor="ctr">
            <a:normAutofit/>
          </a:bodyPr>
          <a:lstStyle>
            <a:lvl1pPr marL="0" indent="0" algn="ctr">
              <a:buNone/>
              <a:defRPr sz="2000"/>
            </a:lvl1pPr>
          </a:lstStyle>
          <a:p>
            <a:r>
              <a:rPr lang="en-US" dirty="0"/>
              <a:t>Picture</a:t>
            </a:r>
          </a:p>
        </p:txBody>
      </p:sp>
      <p:sp>
        <p:nvSpPr>
          <p:cNvPr id="48" name="Text Placeholder 3">
            <a:extLst>
              <a:ext uri="{FF2B5EF4-FFF2-40B4-BE49-F238E27FC236}">
                <a16:creationId xmlns:a16="http://schemas.microsoft.com/office/drawing/2014/main" id="{F40AC13A-7C76-C44E-8999-8CEC32CB5C5A}"/>
              </a:ext>
            </a:extLst>
          </p:cNvPr>
          <p:cNvSpPr>
            <a:spLocks noGrp="1"/>
          </p:cNvSpPr>
          <p:nvPr>
            <p:ph type="body" sz="quarter" idx="30" hasCustomPrompt="1"/>
          </p:nvPr>
        </p:nvSpPr>
        <p:spPr>
          <a:xfrm>
            <a:off x="3352906" y="4073119"/>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49" name="Text Placeholder 17">
            <a:extLst>
              <a:ext uri="{FF2B5EF4-FFF2-40B4-BE49-F238E27FC236}">
                <a16:creationId xmlns:a16="http://schemas.microsoft.com/office/drawing/2014/main" id="{1CA2BF3F-4DDF-E842-942E-C4871107379B}"/>
              </a:ext>
            </a:extLst>
          </p:cNvPr>
          <p:cNvSpPr>
            <a:spLocks noGrp="1"/>
          </p:cNvSpPr>
          <p:nvPr>
            <p:ph type="body" sz="quarter" idx="29" hasCustomPrompt="1"/>
          </p:nvPr>
        </p:nvSpPr>
        <p:spPr>
          <a:xfrm>
            <a:off x="3352906" y="4678467"/>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
        <p:nvSpPr>
          <p:cNvPr id="50" name="Picture Placeholder 30">
            <a:extLst>
              <a:ext uri="{FF2B5EF4-FFF2-40B4-BE49-F238E27FC236}">
                <a16:creationId xmlns:a16="http://schemas.microsoft.com/office/drawing/2014/main" id="{33E03607-0ACA-D545-9749-E288891526D7}"/>
              </a:ext>
            </a:extLst>
          </p:cNvPr>
          <p:cNvSpPr>
            <a:spLocks noGrp="1" noChangeAspect="1"/>
          </p:cNvSpPr>
          <p:nvPr>
            <p:ph type="pic" sz="quarter" idx="16" hasCustomPrompt="1"/>
          </p:nvPr>
        </p:nvSpPr>
        <p:spPr>
          <a:xfrm>
            <a:off x="6443052" y="1891569"/>
            <a:ext cx="1828800" cy="1829659"/>
          </a:xfrm>
          <a:prstGeom prst="ellipse">
            <a:avLst/>
          </a:prstGeom>
          <a:noFill/>
        </p:spPr>
        <p:txBody>
          <a:bodyPr anchor="ctr">
            <a:normAutofit/>
          </a:bodyPr>
          <a:lstStyle>
            <a:lvl1pPr marL="0" indent="0" algn="ctr">
              <a:buNone/>
              <a:defRPr sz="2000"/>
            </a:lvl1pPr>
          </a:lstStyle>
          <a:p>
            <a:r>
              <a:rPr lang="en-US" dirty="0"/>
              <a:t>Picture</a:t>
            </a:r>
          </a:p>
        </p:txBody>
      </p:sp>
      <p:sp>
        <p:nvSpPr>
          <p:cNvPr id="51" name="Text Placeholder 3">
            <a:extLst>
              <a:ext uri="{FF2B5EF4-FFF2-40B4-BE49-F238E27FC236}">
                <a16:creationId xmlns:a16="http://schemas.microsoft.com/office/drawing/2014/main" id="{E72A8DE3-462A-0842-B7BA-C307332DCC60}"/>
              </a:ext>
            </a:extLst>
          </p:cNvPr>
          <p:cNvSpPr>
            <a:spLocks noGrp="1"/>
          </p:cNvSpPr>
          <p:nvPr>
            <p:ph type="body" sz="quarter" idx="22" hasCustomPrompt="1"/>
          </p:nvPr>
        </p:nvSpPr>
        <p:spPr>
          <a:xfrm>
            <a:off x="6120412" y="4073119"/>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52" name="Text Placeholder 17">
            <a:extLst>
              <a:ext uri="{FF2B5EF4-FFF2-40B4-BE49-F238E27FC236}">
                <a16:creationId xmlns:a16="http://schemas.microsoft.com/office/drawing/2014/main" id="{AD2F588C-7553-4749-B8ED-447D6F8245D8}"/>
              </a:ext>
            </a:extLst>
          </p:cNvPr>
          <p:cNvSpPr>
            <a:spLocks noGrp="1"/>
          </p:cNvSpPr>
          <p:nvPr>
            <p:ph type="body" sz="quarter" idx="13" hasCustomPrompt="1"/>
          </p:nvPr>
        </p:nvSpPr>
        <p:spPr>
          <a:xfrm>
            <a:off x="6110990" y="4678651"/>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
        <p:nvSpPr>
          <p:cNvPr id="53" name="Picture Placeholder 30">
            <a:extLst>
              <a:ext uri="{FF2B5EF4-FFF2-40B4-BE49-F238E27FC236}">
                <a16:creationId xmlns:a16="http://schemas.microsoft.com/office/drawing/2014/main" id="{F314DC3D-2D2E-3A49-A1BD-3368607F0871}"/>
              </a:ext>
            </a:extLst>
          </p:cNvPr>
          <p:cNvSpPr>
            <a:spLocks noGrp="1" noChangeAspect="1"/>
          </p:cNvSpPr>
          <p:nvPr>
            <p:ph type="pic" sz="quarter" idx="17" hasCustomPrompt="1"/>
          </p:nvPr>
        </p:nvSpPr>
        <p:spPr>
          <a:xfrm>
            <a:off x="9208479" y="1891569"/>
            <a:ext cx="1828800" cy="1829659"/>
          </a:xfrm>
          <a:prstGeom prst="ellipse">
            <a:avLst/>
          </a:prstGeom>
          <a:noFill/>
        </p:spPr>
        <p:txBody>
          <a:bodyPr anchor="ctr">
            <a:normAutofit/>
          </a:bodyPr>
          <a:lstStyle>
            <a:lvl1pPr marL="0" indent="0" algn="ctr">
              <a:buNone/>
              <a:defRPr sz="2000"/>
            </a:lvl1pPr>
          </a:lstStyle>
          <a:p>
            <a:r>
              <a:rPr lang="en-US" dirty="0"/>
              <a:t>Picture</a:t>
            </a:r>
          </a:p>
        </p:txBody>
      </p:sp>
      <p:sp>
        <p:nvSpPr>
          <p:cNvPr id="54" name="Text Placeholder 3">
            <a:extLst>
              <a:ext uri="{FF2B5EF4-FFF2-40B4-BE49-F238E27FC236}">
                <a16:creationId xmlns:a16="http://schemas.microsoft.com/office/drawing/2014/main" id="{A65A52FA-2AED-624B-B315-56DAFE90C67D}"/>
              </a:ext>
            </a:extLst>
          </p:cNvPr>
          <p:cNvSpPr>
            <a:spLocks noGrp="1"/>
          </p:cNvSpPr>
          <p:nvPr>
            <p:ph type="body" sz="quarter" idx="24" hasCustomPrompt="1"/>
          </p:nvPr>
        </p:nvSpPr>
        <p:spPr>
          <a:xfrm>
            <a:off x="8950081" y="4073119"/>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Name</a:t>
            </a:r>
          </a:p>
        </p:txBody>
      </p:sp>
      <p:sp>
        <p:nvSpPr>
          <p:cNvPr id="55" name="Text Placeholder 17">
            <a:extLst>
              <a:ext uri="{FF2B5EF4-FFF2-40B4-BE49-F238E27FC236}">
                <a16:creationId xmlns:a16="http://schemas.microsoft.com/office/drawing/2014/main" id="{61422E8A-F77E-C240-9E39-309A1A32479F}"/>
              </a:ext>
            </a:extLst>
          </p:cNvPr>
          <p:cNvSpPr>
            <a:spLocks noGrp="1"/>
          </p:cNvSpPr>
          <p:nvPr>
            <p:ph type="body" sz="quarter" idx="12" hasCustomPrompt="1"/>
          </p:nvPr>
        </p:nvSpPr>
        <p:spPr>
          <a:xfrm>
            <a:off x="8950448" y="4678467"/>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a:t>
            </a:r>
          </a:p>
        </p:txBody>
      </p:sp>
      <p:sp>
        <p:nvSpPr>
          <p:cNvPr id="29" name="Oval 28">
            <a:extLst>
              <a:ext uri="{FF2B5EF4-FFF2-40B4-BE49-F238E27FC236}">
                <a16:creationId xmlns:a16="http://schemas.microsoft.com/office/drawing/2014/main" id="{F2015860-CEB7-AA40-B3A1-8B9FD7924EB7}"/>
              </a:ext>
              <a:ext uri="{C183D7F6-B498-43B3-948B-1728B52AA6E4}">
                <adec:decorative xmlns:adec="http://schemas.microsoft.com/office/drawing/2017/decorative" val="1"/>
              </a:ext>
            </a:extLst>
          </p:cNvPr>
          <p:cNvSpPr/>
          <p:nvPr userDrawn="1"/>
        </p:nvSpPr>
        <p:spPr>
          <a:xfrm>
            <a:off x="9061911" y="1751389"/>
            <a:ext cx="2128838" cy="212883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C9A8AE9-880F-4F43-B4E1-603D48340094}"/>
              </a:ext>
              <a:ext uri="{C183D7F6-B498-43B3-948B-1728B52AA6E4}">
                <adec:decorative xmlns:adec="http://schemas.microsoft.com/office/drawing/2017/decorative" val="1"/>
              </a:ext>
            </a:extLst>
          </p:cNvPr>
          <p:cNvSpPr/>
          <p:nvPr userDrawn="1"/>
        </p:nvSpPr>
        <p:spPr>
          <a:xfrm>
            <a:off x="6296124" y="1751389"/>
            <a:ext cx="2128838" cy="212883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9EFFD44-C78F-2846-BD50-C3469275ACB6}"/>
              </a:ext>
              <a:ext uri="{C183D7F6-B498-43B3-948B-1728B52AA6E4}">
                <adec:decorative xmlns:adec="http://schemas.microsoft.com/office/drawing/2017/decorative" val="1"/>
              </a:ext>
            </a:extLst>
          </p:cNvPr>
          <p:cNvSpPr/>
          <p:nvPr userDrawn="1"/>
        </p:nvSpPr>
        <p:spPr>
          <a:xfrm>
            <a:off x="3530336" y="1751389"/>
            <a:ext cx="2128838" cy="212883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31EF66D-AF6D-7140-B628-2A03D47E7EA5}"/>
              </a:ext>
              <a:ext uri="{C183D7F6-B498-43B3-948B-1728B52AA6E4}">
                <adec:decorative xmlns:adec="http://schemas.microsoft.com/office/drawing/2017/decorative" val="1"/>
              </a:ext>
            </a:extLst>
          </p:cNvPr>
          <p:cNvSpPr/>
          <p:nvPr userDrawn="1"/>
        </p:nvSpPr>
        <p:spPr>
          <a:xfrm>
            <a:off x="764548" y="1751389"/>
            <a:ext cx="2128838" cy="212883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3113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rectangle items">
    <p:bg>
      <p:bgPr>
        <a:solidFill>
          <a:schemeClr val="tx1"/>
        </a:solidFill>
        <a:effectLst/>
      </p:bgPr>
    </p:bg>
    <p:spTree>
      <p:nvGrpSpPr>
        <p:cNvPr id="1" name=""/>
        <p:cNvGrpSpPr/>
        <p:nvPr/>
      </p:nvGrpSpPr>
      <p:grpSpPr>
        <a:xfrm>
          <a:off x="0" y="0"/>
          <a:ext cx="0" cy="0"/>
          <a:chOff x="0" y="0"/>
          <a:chExt cx="0" cy="0"/>
        </a:xfrm>
      </p:grpSpPr>
      <p:sp>
        <p:nvSpPr>
          <p:cNvPr id="26" name="Rectangle 25">
            <a:extLst>
              <a:ext uri="{FF2B5EF4-FFF2-40B4-BE49-F238E27FC236}">
                <a16:creationId xmlns:a16="http://schemas.microsoft.com/office/drawing/2014/main" id="{C616ACAA-C03B-6849-BF17-F9DE74764759}"/>
              </a:ext>
              <a:ext uri="{C183D7F6-B498-43B3-948B-1728B52AA6E4}">
                <adec:decorative xmlns:adec="http://schemas.microsoft.com/office/drawing/2017/decorative" val="1"/>
              </a:ext>
            </a:extLst>
          </p:cNvPr>
          <p:cNvSpPr/>
          <p:nvPr userDrawn="1"/>
        </p:nvSpPr>
        <p:spPr>
          <a:xfrm>
            <a:off x="0" y="365125"/>
            <a:ext cx="1491916" cy="130762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6AC026C-5660-0A42-A58D-CEE86BD677DD}"/>
              </a:ext>
            </a:extLst>
          </p:cNvPr>
          <p:cNvSpPr>
            <a:spLocks noGrp="1"/>
          </p:cNvSpPr>
          <p:nvPr>
            <p:ph type="title"/>
          </p:nvPr>
        </p:nvSpPr>
        <p:spPr/>
        <p:txBody>
          <a:bodyPr/>
          <a:lstStyle>
            <a:lvl1pPr algn="ctr">
              <a:defRPr/>
            </a:lvl1pPr>
          </a:lstStyle>
          <a:p>
            <a:r>
              <a:rPr lang="en-US" dirty="0"/>
              <a:t>Click to edit Master title style</a:t>
            </a:r>
          </a:p>
        </p:txBody>
      </p:sp>
      <p:sp>
        <p:nvSpPr>
          <p:cNvPr id="4" name="Picture Placeholder 3">
            <a:extLst>
              <a:ext uri="{FF2B5EF4-FFF2-40B4-BE49-F238E27FC236}">
                <a16:creationId xmlns:a16="http://schemas.microsoft.com/office/drawing/2014/main" id="{992B9833-4FE7-FE42-99DF-4624BEDB8E44}"/>
              </a:ext>
            </a:extLst>
          </p:cNvPr>
          <p:cNvSpPr>
            <a:spLocks noGrp="1"/>
          </p:cNvSpPr>
          <p:nvPr>
            <p:ph type="pic" sz="quarter" idx="31"/>
          </p:nvPr>
        </p:nvSpPr>
        <p:spPr>
          <a:xfrm>
            <a:off x="990600" y="1898028"/>
            <a:ext cx="2009775" cy="2009775"/>
          </a:xfrm>
        </p:spPr>
        <p:txBody>
          <a:bodyPr/>
          <a:lstStyle/>
          <a:p>
            <a:endParaRPr lang="en-US"/>
          </a:p>
        </p:txBody>
      </p:sp>
      <p:sp>
        <p:nvSpPr>
          <p:cNvPr id="24" name="Text Placeholder 3">
            <a:extLst>
              <a:ext uri="{FF2B5EF4-FFF2-40B4-BE49-F238E27FC236}">
                <a16:creationId xmlns:a16="http://schemas.microsoft.com/office/drawing/2014/main" id="{39D889AF-0AC8-B149-98FD-D9D746E90CCE}"/>
              </a:ext>
            </a:extLst>
          </p:cNvPr>
          <p:cNvSpPr>
            <a:spLocks noGrp="1"/>
          </p:cNvSpPr>
          <p:nvPr>
            <p:ph type="body" sz="quarter" idx="27" hasCustomPrompt="1"/>
          </p:nvPr>
        </p:nvSpPr>
        <p:spPr>
          <a:xfrm>
            <a:off x="730774" y="4133076"/>
            <a:ext cx="2528888" cy="458016"/>
          </a:xfrm>
        </p:spPr>
        <p:txBody>
          <a:bodyPr anchor="t" anchorCtr="0">
            <a:noAutofit/>
          </a:bodyPr>
          <a:lstStyle>
            <a:lvl1pPr marL="0" indent="0" algn="ctr">
              <a:buNone/>
              <a:defRPr sz="2000" b="1">
                <a:solidFill>
                  <a:schemeClr val="bg1"/>
                </a:solidFill>
              </a:defRPr>
            </a:lvl1pPr>
          </a:lstStyle>
          <a:p>
            <a:pPr lvl="0"/>
            <a:r>
              <a:rPr lang="en-US" dirty="0"/>
              <a:t>Name</a:t>
            </a:r>
          </a:p>
        </p:txBody>
      </p:sp>
      <p:sp>
        <p:nvSpPr>
          <p:cNvPr id="21" name="Text Placeholder 17">
            <a:extLst>
              <a:ext uri="{FF2B5EF4-FFF2-40B4-BE49-F238E27FC236}">
                <a16:creationId xmlns:a16="http://schemas.microsoft.com/office/drawing/2014/main" id="{6D63EC2E-9D4F-B74A-9315-DD33352B56AF}"/>
              </a:ext>
            </a:extLst>
          </p:cNvPr>
          <p:cNvSpPr>
            <a:spLocks noGrp="1"/>
          </p:cNvSpPr>
          <p:nvPr>
            <p:ph type="body" sz="quarter" idx="26" hasCustomPrompt="1"/>
          </p:nvPr>
        </p:nvSpPr>
        <p:spPr>
          <a:xfrm>
            <a:off x="730958" y="4738424"/>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a:t>
            </a:r>
          </a:p>
        </p:txBody>
      </p:sp>
      <p:sp>
        <p:nvSpPr>
          <p:cNvPr id="16" name="Picture Placeholder 3">
            <a:extLst>
              <a:ext uri="{FF2B5EF4-FFF2-40B4-BE49-F238E27FC236}">
                <a16:creationId xmlns:a16="http://schemas.microsoft.com/office/drawing/2014/main" id="{3537EAFB-508A-5346-9E53-8C01851CBE04}"/>
              </a:ext>
            </a:extLst>
          </p:cNvPr>
          <p:cNvSpPr>
            <a:spLocks noGrp="1"/>
          </p:cNvSpPr>
          <p:nvPr>
            <p:ph type="pic" sz="quarter" idx="32"/>
          </p:nvPr>
        </p:nvSpPr>
        <p:spPr>
          <a:xfrm>
            <a:off x="5081093" y="1898028"/>
            <a:ext cx="2009775" cy="2009775"/>
          </a:xfrm>
        </p:spPr>
        <p:txBody>
          <a:bodyPr/>
          <a:lstStyle/>
          <a:p>
            <a:endParaRPr lang="en-US"/>
          </a:p>
        </p:txBody>
      </p:sp>
      <p:sp>
        <p:nvSpPr>
          <p:cNvPr id="27" name="Text Placeholder 3">
            <a:extLst>
              <a:ext uri="{FF2B5EF4-FFF2-40B4-BE49-F238E27FC236}">
                <a16:creationId xmlns:a16="http://schemas.microsoft.com/office/drawing/2014/main" id="{99B3C87A-21CF-BA4D-A01F-0F4BF2EBF085}"/>
              </a:ext>
            </a:extLst>
          </p:cNvPr>
          <p:cNvSpPr>
            <a:spLocks noGrp="1"/>
          </p:cNvSpPr>
          <p:nvPr>
            <p:ph type="body" sz="quarter" idx="30" hasCustomPrompt="1"/>
          </p:nvPr>
        </p:nvSpPr>
        <p:spPr>
          <a:xfrm>
            <a:off x="4831556" y="4133076"/>
            <a:ext cx="2528888" cy="458016"/>
          </a:xfrm>
        </p:spPr>
        <p:txBody>
          <a:bodyPr anchor="t" anchorCtr="0">
            <a:noAutofit/>
          </a:bodyPr>
          <a:lstStyle>
            <a:lvl1pPr marL="0" indent="0" algn="ctr">
              <a:buNone/>
              <a:defRPr sz="2000" b="1">
                <a:solidFill>
                  <a:schemeClr val="bg1"/>
                </a:solidFill>
              </a:defRPr>
            </a:lvl1pPr>
          </a:lstStyle>
          <a:p>
            <a:pPr lvl="0"/>
            <a:r>
              <a:rPr lang="en-US" dirty="0"/>
              <a:t>Name</a:t>
            </a:r>
          </a:p>
        </p:txBody>
      </p:sp>
      <p:sp>
        <p:nvSpPr>
          <p:cNvPr id="25" name="Text Placeholder 17">
            <a:extLst>
              <a:ext uri="{FF2B5EF4-FFF2-40B4-BE49-F238E27FC236}">
                <a16:creationId xmlns:a16="http://schemas.microsoft.com/office/drawing/2014/main" id="{A642EA8A-0CE8-254C-B4A5-754806CC211A}"/>
              </a:ext>
            </a:extLst>
          </p:cNvPr>
          <p:cNvSpPr>
            <a:spLocks noGrp="1"/>
          </p:cNvSpPr>
          <p:nvPr>
            <p:ph type="body" sz="quarter" idx="29" hasCustomPrompt="1"/>
          </p:nvPr>
        </p:nvSpPr>
        <p:spPr>
          <a:xfrm>
            <a:off x="4831740" y="4738424"/>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p>
        </p:txBody>
      </p:sp>
      <p:sp>
        <p:nvSpPr>
          <p:cNvPr id="18" name="Picture Placeholder 3">
            <a:extLst>
              <a:ext uri="{FF2B5EF4-FFF2-40B4-BE49-F238E27FC236}">
                <a16:creationId xmlns:a16="http://schemas.microsoft.com/office/drawing/2014/main" id="{ADCA4DF1-F1D3-1D4F-B351-F2697718F7D9}"/>
              </a:ext>
            </a:extLst>
          </p:cNvPr>
          <p:cNvSpPr>
            <a:spLocks noGrp="1"/>
          </p:cNvSpPr>
          <p:nvPr>
            <p:ph type="pic" sz="quarter" idx="33"/>
          </p:nvPr>
        </p:nvSpPr>
        <p:spPr>
          <a:xfrm>
            <a:off x="9274767" y="1898028"/>
            <a:ext cx="2009775" cy="2009775"/>
          </a:xfrm>
        </p:spPr>
        <p:txBody>
          <a:bodyPr/>
          <a:lstStyle/>
          <a:p>
            <a:endParaRPr lang="en-US"/>
          </a:p>
        </p:txBody>
      </p:sp>
      <p:sp>
        <p:nvSpPr>
          <p:cNvPr id="19" name="Text Placeholder 3">
            <a:extLst>
              <a:ext uri="{FF2B5EF4-FFF2-40B4-BE49-F238E27FC236}">
                <a16:creationId xmlns:a16="http://schemas.microsoft.com/office/drawing/2014/main" id="{837CCA18-F157-234F-AFCC-7A64205FCAF3}"/>
              </a:ext>
            </a:extLst>
          </p:cNvPr>
          <p:cNvSpPr>
            <a:spLocks noGrp="1"/>
          </p:cNvSpPr>
          <p:nvPr>
            <p:ph type="body" sz="quarter" idx="22" hasCustomPrompt="1"/>
          </p:nvPr>
        </p:nvSpPr>
        <p:spPr>
          <a:xfrm>
            <a:off x="8932338" y="4133076"/>
            <a:ext cx="2528888" cy="458016"/>
          </a:xfrm>
        </p:spPr>
        <p:txBody>
          <a:bodyPr anchor="t" anchorCtr="0">
            <a:noAutofit/>
          </a:bodyPr>
          <a:lstStyle>
            <a:lvl1pPr marL="0" indent="0" algn="ctr">
              <a:buNone/>
              <a:defRPr sz="2000" b="1">
                <a:solidFill>
                  <a:schemeClr val="bg1"/>
                </a:solidFill>
              </a:defRPr>
            </a:lvl1pPr>
          </a:lstStyle>
          <a:p>
            <a:pPr lvl="0"/>
            <a:r>
              <a:rPr lang="en-US" dirty="0"/>
              <a:t>Name</a:t>
            </a:r>
          </a:p>
        </p:txBody>
      </p:sp>
      <p:sp>
        <p:nvSpPr>
          <p:cNvPr id="17" name="Text Placeholder 17">
            <a:extLst>
              <a:ext uri="{FF2B5EF4-FFF2-40B4-BE49-F238E27FC236}">
                <a16:creationId xmlns:a16="http://schemas.microsoft.com/office/drawing/2014/main" id="{392524F0-C14F-394D-B511-50F867FF29FC}"/>
              </a:ext>
            </a:extLst>
          </p:cNvPr>
          <p:cNvSpPr>
            <a:spLocks noGrp="1"/>
          </p:cNvSpPr>
          <p:nvPr>
            <p:ph type="body" sz="quarter" idx="12" hasCustomPrompt="1"/>
          </p:nvPr>
        </p:nvSpPr>
        <p:spPr>
          <a:xfrm>
            <a:off x="8932522" y="4738424"/>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p>
        </p:txBody>
      </p:sp>
    </p:spTree>
    <p:extLst>
      <p:ext uri="{BB962C8B-B14F-4D97-AF65-F5344CB8AC3E}">
        <p14:creationId xmlns:p14="http://schemas.microsoft.com/office/powerpoint/2010/main" val="40926311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Items with dividers">
    <p:bg>
      <p:bgPr>
        <a:solidFill>
          <a:schemeClr val="tx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C28BAE1-EA8D-5247-8AF2-0F974DBD2652}"/>
              </a:ext>
              <a:ext uri="{C183D7F6-B498-43B3-948B-1728B52AA6E4}">
                <adec:decorative xmlns:adec="http://schemas.microsoft.com/office/drawing/2017/decorative" val="1"/>
              </a:ext>
            </a:extLst>
          </p:cNvPr>
          <p:cNvSpPr/>
          <p:nvPr userDrawn="1"/>
        </p:nvSpPr>
        <p:spPr>
          <a:xfrm>
            <a:off x="0" y="0"/>
            <a:ext cx="1491916" cy="685799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6AC026C-5660-0A42-A58D-CEE86BD677DD}"/>
              </a:ext>
            </a:extLst>
          </p:cNvPr>
          <p:cNvSpPr>
            <a:spLocks noGrp="1"/>
          </p:cNvSpPr>
          <p:nvPr>
            <p:ph type="title"/>
          </p:nvPr>
        </p:nvSpPr>
        <p:spPr/>
        <p:txBody>
          <a:bodyPr/>
          <a:lstStyle>
            <a:lvl1pPr algn="ctr">
              <a:defRPr/>
            </a:lvl1pPr>
          </a:lstStyle>
          <a:p>
            <a:r>
              <a:rPr lang="en-US" dirty="0"/>
              <a:t>Click to edit Master title style</a:t>
            </a:r>
          </a:p>
        </p:txBody>
      </p:sp>
      <p:sp>
        <p:nvSpPr>
          <p:cNvPr id="20" name="Picture Placeholder 30">
            <a:extLst>
              <a:ext uri="{FF2B5EF4-FFF2-40B4-BE49-F238E27FC236}">
                <a16:creationId xmlns:a16="http://schemas.microsoft.com/office/drawing/2014/main" id="{5DEF9AA9-606F-1446-9607-4EC479C7F099}"/>
              </a:ext>
            </a:extLst>
          </p:cNvPr>
          <p:cNvSpPr>
            <a:spLocks noGrp="1" noChangeAspect="1"/>
          </p:cNvSpPr>
          <p:nvPr>
            <p:ph type="pic" sz="quarter" idx="18" hasCustomPrompt="1"/>
          </p:nvPr>
        </p:nvSpPr>
        <p:spPr>
          <a:xfrm>
            <a:off x="989850" y="1896125"/>
            <a:ext cx="2010736" cy="2011680"/>
          </a:xfrm>
          <a:prstGeom prst="ellipse">
            <a:avLst/>
          </a:prstGeom>
          <a:noFill/>
        </p:spPr>
        <p:txBody>
          <a:bodyPr anchor="ctr">
            <a:normAutofit/>
          </a:bodyPr>
          <a:lstStyle>
            <a:lvl1pPr marL="0" indent="0" algn="ctr">
              <a:buNone/>
              <a:defRPr sz="2000"/>
            </a:lvl1pPr>
          </a:lstStyle>
          <a:p>
            <a:r>
              <a:rPr lang="en-US" dirty="0"/>
              <a:t>Picture</a:t>
            </a:r>
          </a:p>
        </p:txBody>
      </p:sp>
      <p:sp>
        <p:nvSpPr>
          <p:cNvPr id="24" name="Text Placeholder 3">
            <a:extLst>
              <a:ext uri="{FF2B5EF4-FFF2-40B4-BE49-F238E27FC236}">
                <a16:creationId xmlns:a16="http://schemas.microsoft.com/office/drawing/2014/main" id="{39D889AF-0AC8-B149-98FD-D9D746E90CCE}"/>
              </a:ext>
            </a:extLst>
          </p:cNvPr>
          <p:cNvSpPr>
            <a:spLocks noGrp="1"/>
          </p:cNvSpPr>
          <p:nvPr>
            <p:ph type="body" sz="quarter" idx="27" hasCustomPrompt="1"/>
          </p:nvPr>
        </p:nvSpPr>
        <p:spPr>
          <a:xfrm>
            <a:off x="730774" y="4133076"/>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Item 1</a:t>
            </a:r>
          </a:p>
        </p:txBody>
      </p:sp>
      <p:sp>
        <p:nvSpPr>
          <p:cNvPr id="21" name="Text Placeholder 17">
            <a:extLst>
              <a:ext uri="{FF2B5EF4-FFF2-40B4-BE49-F238E27FC236}">
                <a16:creationId xmlns:a16="http://schemas.microsoft.com/office/drawing/2014/main" id="{6D63EC2E-9D4F-B74A-9315-DD33352B56AF}"/>
              </a:ext>
            </a:extLst>
          </p:cNvPr>
          <p:cNvSpPr>
            <a:spLocks noGrp="1"/>
          </p:cNvSpPr>
          <p:nvPr>
            <p:ph type="body" sz="quarter" idx="26" hasCustomPrompt="1"/>
          </p:nvPr>
        </p:nvSpPr>
        <p:spPr>
          <a:xfrm>
            <a:off x="730958" y="4738424"/>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cxnSp>
        <p:nvCxnSpPr>
          <p:cNvPr id="34" name="Straight Connector 33">
            <a:extLst>
              <a:ext uri="{FF2B5EF4-FFF2-40B4-BE49-F238E27FC236}">
                <a16:creationId xmlns:a16="http://schemas.microsoft.com/office/drawing/2014/main" id="{A284E7BF-2BCD-A04E-98CA-B74958AAE003}"/>
              </a:ext>
              <a:ext uri="{C183D7F6-B498-43B3-948B-1728B52AA6E4}">
                <adec:decorative xmlns:adec="http://schemas.microsoft.com/office/drawing/2017/decorative" val="1"/>
              </a:ext>
            </a:extLst>
          </p:cNvPr>
          <p:cNvCxnSpPr/>
          <p:nvPr userDrawn="1"/>
        </p:nvCxnSpPr>
        <p:spPr>
          <a:xfrm>
            <a:off x="4079632" y="1782328"/>
            <a:ext cx="0" cy="3788229"/>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2" name="Picture Placeholder 30">
            <a:extLst>
              <a:ext uri="{FF2B5EF4-FFF2-40B4-BE49-F238E27FC236}">
                <a16:creationId xmlns:a16="http://schemas.microsoft.com/office/drawing/2014/main" id="{F257399C-B4EF-D349-A98B-B1FF6033DFDC}"/>
              </a:ext>
            </a:extLst>
          </p:cNvPr>
          <p:cNvSpPr>
            <a:spLocks noGrp="1" noChangeAspect="1"/>
          </p:cNvSpPr>
          <p:nvPr>
            <p:ph type="pic" sz="quarter" idx="19" hasCustomPrompt="1"/>
          </p:nvPr>
        </p:nvSpPr>
        <p:spPr>
          <a:xfrm>
            <a:off x="5090632" y="1896125"/>
            <a:ext cx="2010736" cy="2011680"/>
          </a:xfrm>
          <a:prstGeom prst="ellipse">
            <a:avLst/>
          </a:prstGeom>
          <a:noFill/>
        </p:spPr>
        <p:txBody>
          <a:bodyPr anchor="ctr">
            <a:normAutofit/>
          </a:bodyPr>
          <a:lstStyle>
            <a:lvl1pPr marL="0" indent="0" algn="ctr">
              <a:buNone/>
              <a:defRPr sz="2000"/>
            </a:lvl1pPr>
          </a:lstStyle>
          <a:p>
            <a:r>
              <a:rPr lang="en-US" dirty="0"/>
              <a:t>Picture</a:t>
            </a:r>
          </a:p>
        </p:txBody>
      </p:sp>
      <p:sp>
        <p:nvSpPr>
          <p:cNvPr id="27" name="Text Placeholder 3">
            <a:extLst>
              <a:ext uri="{FF2B5EF4-FFF2-40B4-BE49-F238E27FC236}">
                <a16:creationId xmlns:a16="http://schemas.microsoft.com/office/drawing/2014/main" id="{99B3C87A-21CF-BA4D-A01F-0F4BF2EBF085}"/>
              </a:ext>
            </a:extLst>
          </p:cNvPr>
          <p:cNvSpPr>
            <a:spLocks noGrp="1"/>
          </p:cNvSpPr>
          <p:nvPr>
            <p:ph type="body" sz="quarter" idx="30" hasCustomPrompt="1"/>
          </p:nvPr>
        </p:nvSpPr>
        <p:spPr>
          <a:xfrm>
            <a:off x="4831556" y="4133076"/>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Item 2</a:t>
            </a:r>
          </a:p>
        </p:txBody>
      </p:sp>
      <p:sp>
        <p:nvSpPr>
          <p:cNvPr id="25" name="Text Placeholder 17">
            <a:extLst>
              <a:ext uri="{FF2B5EF4-FFF2-40B4-BE49-F238E27FC236}">
                <a16:creationId xmlns:a16="http://schemas.microsoft.com/office/drawing/2014/main" id="{A642EA8A-0CE8-254C-B4A5-754806CC211A}"/>
              </a:ext>
            </a:extLst>
          </p:cNvPr>
          <p:cNvSpPr>
            <a:spLocks noGrp="1"/>
          </p:cNvSpPr>
          <p:nvPr>
            <p:ph type="body" sz="quarter" idx="29" hasCustomPrompt="1"/>
          </p:nvPr>
        </p:nvSpPr>
        <p:spPr>
          <a:xfrm>
            <a:off x="4831740" y="4738424"/>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cxnSp>
        <p:nvCxnSpPr>
          <p:cNvPr id="35" name="Straight Connector 34">
            <a:extLst>
              <a:ext uri="{FF2B5EF4-FFF2-40B4-BE49-F238E27FC236}">
                <a16:creationId xmlns:a16="http://schemas.microsoft.com/office/drawing/2014/main" id="{6F0F12A3-35C4-C341-BFB3-30E7533EB982}"/>
              </a:ext>
              <a:ext uri="{C183D7F6-B498-43B3-948B-1728B52AA6E4}">
                <adec:decorative xmlns:adec="http://schemas.microsoft.com/office/drawing/2017/decorative" val="1"/>
              </a:ext>
            </a:extLst>
          </p:cNvPr>
          <p:cNvCxnSpPr/>
          <p:nvPr userDrawn="1"/>
        </p:nvCxnSpPr>
        <p:spPr>
          <a:xfrm>
            <a:off x="8119068" y="1782328"/>
            <a:ext cx="0" cy="3788229"/>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3" name="Picture Placeholder 30">
            <a:extLst>
              <a:ext uri="{FF2B5EF4-FFF2-40B4-BE49-F238E27FC236}">
                <a16:creationId xmlns:a16="http://schemas.microsoft.com/office/drawing/2014/main" id="{19BB4F26-E491-A54C-BCBB-1DA2FAAAD4E4}"/>
              </a:ext>
            </a:extLst>
          </p:cNvPr>
          <p:cNvSpPr>
            <a:spLocks noGrp="1" noChangeAspect="1"/>
          </p:cNvSpPr>
          <p:nvPr>
            <p:ph type="pic" sz="quarter" idx="20" hasCustomPrompt="1"/>
          </p:nvPr>
        </p:nvSpPr>
        <p:spPr>
          <a:xfrm>
            <a:off x="9191414" y="1896125"/>
            <a:ext cx="2010736" cy="2011680"/>
          </a:xfrm>
          <a:prstGeom prst="ellipse">
            <a:avLst/>
          </a:prstGeom>
          <a:noFill/>
        </p:spPr>
        <p:txBody>
          <a:bodyPr anchor="ctr">
            <a:normAutofit/>
          </a:bodyPr>
          <a:lstStyle>
            <a:lvl1pPr marL="0" indent="0" algn="ctr">
              <a:buNone/>
              <a:defRPr sz="2000"/>
            </a:lvl1pPr>
          </a:lstStyle>
          <a:p>
            <a:r>
              <a:rPr lang="en-US" dirty="0"/>
              <a:t>Picture</a:t>
            </a:r>
          </a:p>
        </p:txBody>
      </p:sp>
      <p:sp>
        <p:nvSpPr>
          <p:cNvPr id="19" name="Text Placeholder 3">
            <a:extLst>
              <a:ext uri="{FF2B5EF4-FFF2-40B4-BE49-F238E27FC236}">
                <a16:creationId xmlns:a16="http://schemas.microsoft.com/office/drawing/2014/main" id="{837CCA18-F157-234F-AFCC-7A64205FCAF3}"/>
              </a:ext>
            </a:extLst>
          </p:cNvPr>
          <p:cNvSpPr>
            <a:spLocks noGrp="1"/>
          </p:cNvSpPr>
          <p:nvPr>
            <p:ph type="body" sz="quarter" idx="22" hasCustomPrompt="1"/>
          </p:nvPr>
        </p:nvSpPr>
        <p:spPr>
          <a:xfrm>
            <a:off x="8932338" y="4133076"/>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Item 3</a:t>
            </a:r>
          </a:p>
        </p:txBody>
      </p:sp>
      <p:sp>
        <p:nvSpPr>
          <p:cNvPr id="17" name="Text Placeholder 17">
            <a:extLst>
              <a:ext uri="{FF2B5EF4-FFF2-40B4-BE49-F238E27FC236}">
                <a16:creationId xmlns:a16="http://schemas.microsoft.com/office/drawing/2014/main" id="{392524F0-C14F-394D-B511-50F867FF29FC}"/>
              </a:ext>
            </a:extLst>
          </p:cNvPr>
          <p:cNvSpPr>
            <a:spLocks noGrp="1"/>
          </p:cNvSpPr>
          <p:nvPr>
            <p:ph type="body" sz="quarter" idx="12" hasCustomPrompt="1"/>
          </p:nvPr>
        </p:nvSpPr>
        <p:spPr>
          <a:xfrm>
            <a:off x="8932522" y="4738424"/>
            <a:ext cx="2528521" cy="825500"/>
          </a:xfrm>
        </p:spPr>
        <p:txBody>
          <a:bodyPr>
            <a:noAutofit/>
          </a:bodyPr>
          <a:lstStyle>
            <a:lvl1pPr marL="0" indent="0" algn="ctr">
              <a:lnSpc>
                <a:spcPct val="100000"/>
              </a:lnSpc>
              <a:buNone/>
              <a:defRPr sz="1800">
                <a:solidFill>
                  <a:schemeClr val="accent6">
                    <a:lumMod val="50000"/>
                  </a:schemeClr>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Tree>
    <p:extLst>
      <p:ext uri="{BB962C8B-B14F-4D97-AF65-F5344CB8AC3E}">
        <p14:creationId xmlns:p14="http://schemas.microsoft.com/office/powerpoint/2010/main" val="2146033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items with dividers and emphasis">
    <p:bg>
      <p:bgPr>
        <a:solidFill>
          <a:schemeClr val="tx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CE114FD-1B73-A845-BF39-030F54D645E2}"/>
              </a:ext>
              <a:ext uri="{C183D7F6-B498-43B3-948B-1728B52AA6E4}">
                <adec:decorative xmlns:adec="http://schemas.microsoft.com/office/drawing/2017/decorative" val="1"/>
              </a:ext>
            </a:extLst>
          </p:cNvPr>
          <p:cNvSpPr/>
          <p:nvPr userDrawn="1"/>
        </p:nvSpPr>
        <p:spPr>
          <a:xfrm>
            <a:off x="0" y="1242298"/>
            <a:ext cx="1585913" cy="443627"/>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46AC026C-5660-0A42-A58D-CEE86BD677DD}"/>
              </a:ext>
            </a:extLst>
          </p:cNvPr>
          <p:cNvSpPr>
            <a:spLocks noGrp="1"/>
          </p:cNvSpPr>
          <p:nvPr>
            <p:ph type="title"/>
          </p:nvPr>
        </p:nvSpPr>
        <p:spPr/>
        <p:txBody>
          <a:bodyPr anchor="ctr" anchorCtr="0"/>
          <a:lstStyle/>
          <a:p>
            <a:r>
              <a:rPr lang="en-US"/>
              <a:t>Click to edit Master title style</a:t>
            </a:r>
          </a:p>
        </p:txBody>
      </p:sp>
      <p:sp>
        <p:nvSpPr>
          <p:cNvPr id="28" name="Oval 27">
            <a:extLst>
              <a:ext uri="{FF2B5EF4-FFF2-40B4-BE49-F238E27FC236}">
                <a16:creationId xmlns:a16="http://schemas.microsoft.com/office/drawing/2014/main" id="{B348B4D7-1D9E-574E-8EC6-EE7E889400F6}"/>
              </a:ext>
              <a:ext uri="{C183D7F6-B498-43B3-948B-1728B52AA6E4}">
                <adec:decorative xmlns:adec="http://schemas.microsoft.com/office/drawing/2017/decorative" val="1"/>
              </a:ext>
            </a:extLst>
          </p:cNvPr>
          <p:cNvSpPr/>
          <p:nvPr userDrawn="1"/>
        </p:nvSpPr>
        <p:spPr>
          <a:xfrm>
            <a:off x="930799" y="1876937"/>
            <a:ext cx="2128838" cy="212883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Picture Placeholder 30">
            <a:extLst>
              <a:ext uri="{FF2B5EF4-FFF2-40B4-BE49-F238E27FC236}">
                <a16:creationId xmlns:a16="http://schemas.microsoft.com/office/drawing/2014/main" id="{5DEF9AA9-606F-1446-9607-4EC479C7F099}"/>
              </a:ext>
            </a:extLst>
          </p:cNvPr>
          <p:cNvSpPr>
            <a:spLocks noGrp="1" noChangeAspect="1"/>
          </p:cNvSpPr>
          <p:nvPr>
            <p:ph type="pic" sz="quarter" idx="18" hasCustomPrompt="1"/>
          </p:nvPr>
        </p:nvSpPr>
        <p:spPr>
          <a:xfrm>
            <a:off x="1114924" y="2074110"/>
            <a:ext cx="1737360" cy="1738176"/>
          </a:xfrm>
          <a:prstGeom prst="ellipse">
            <a:avLst/>
          </a:prstGeom>
          <a:noFill/>
        </p:spPr>
        <p:txBody>
          <a:bodyPr anchor="ctr">
            <a:normAutofit/>
          </a:bodyPr>
          <a:lstStyle>
            <a:lvl1pPr marL="0" indent="0" algn="ctr">
              <a:buNone/>
              <a:defRPr sz="2000"/>
            </a:lvl1pPr>
          </a:lstStyle>
          <a:p>
            <a:r>
              <a:rPr lang="en-US" dirty="0"/>
              <a:t>Icon</a:t>
            </a:r>
          </a:p>
        </p:txBody>
      </p:sp>
      <p:sp>
        <p:nvSpPr>
          <p:cNvPr id="24" name="Text Placeholder 3">
            <a:extLst>
              <a:ext uri="{FF2B5EF4-FFF2-40B4-BE49-F238E27FC236}">
                <a16:creationId xmlns:a16="http://schemas.microsoft.com/office/drawing/2014/main" id="{39D889AF-0AC8-B149-98FD-D9D746E90CCE}"/>
              </a:ext>
            </a:extLst>
          </p:cNvPr>
          <p:cNvSpPr>
            <a:spLocks noGrp="1"/>
          </p:cNvSpPr>
          <p:nvPr>
            <p:ph type="body" sz="quarter" idx="27" hasCustomPrompt="1"/>
          </p:nvPr>
        </p:nvSpPr>
        <p:spPr>
          <a:xfrm>
            <a:off x="730774" y="4175940"/>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Item 1</a:t>
            </a:r>
          </a:p>
        </p:txBody>
      </p:sp>
      <p:sp>
        <p:nvSpPr>
          <p:cNvPr id="21" name="Text Placeholder 17">
            <a:extLst>
              <a:ext uri="{FF2B5EF4-FFF2-40B4-BE49-F238E27FC236}">
                <a16:creationId xmlns:a16="http://schemas.microsoft.com/office/drawing/2014/main" id="{6D63EC2E-9D4F-B74A-9315-DD33352B56AF}"/>
              </a:ext>
            </a:extLst>
          </p:cNvPr>
          <p:cNvSpPr>
            <a:spLocks noGrp="1"/>
          </p:cNvSpPr>
          <p:nvPr>
            <p:ph type="body" sz="quarter" idx="26" hasCustomPrompt="1"/>
          </p:nvPr>
        </p:nvSpPr>
        <p:spPr>
          <a:xfrm>
            <a:off x="730958" y="4781288"/>
            <a:ext cx="2528521" cy="825500"/>
          </a:xfrm>
        </p:spPr>
        <p:txBody>
          <a:bodyPr>
            <a:noAutofit/>
          </a:bodyPr>
          <a:lstStyle>
            <a:lvl1pPr marL="0" indent="0" algn="ctr">
              <a:lnSpc>
                <a:spcPct val="10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cxnSp>
        <p:nvCxnSpPr>
          <p:cNvPr id="34" name="Straight Connector 33">
            <a:extLst>
              <a:ext uri="{FF2B5EF4-FFF2-40B4-BE49-F238E27FC236}">
                <a16:creationId xmlns:a16="http://schemas.microsoft.com/office/drawing/2014/main" id="{A284E7BF-2BCD-A04E-98CA-B74958AAE003}"/>
              </a:ext>
              <a:ext uri="{C183D7F6-B498-43B3-948B-1728B52AA6E4}">
                <adec:decorative xmlns:adec="http://schemas.microsoft.com/office/drawing/2017/decorative" val="1"/>
              </a:ext>
            </a:extLst>
          </p:cNvPr>
          <p:cNvCxnSpPr>
            <a:cxnSpLocks/>
          </p:cNvCxnSpPr>
          <p:nvPr userDrawn="1"/>
        </p:nvCxnSpPr>
        <p:spPr>
          <a:xfrm>
            <a:off x="4079632" y="1938989"/>
            <a:ext cx="0" cy="3788229"/>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73028853-2D36-FD40-A3AA-E0E54DCD34BD}"/>
              </a:ext>
              <a:ext uri="{C183D7F6-B498-43B3-948B-1728B52AA6E4}">
                <adec:decorative xmlns:adec="http://schemas.microsoft.com/office/drawing/2017/decorative" val="1"/>
              </a:ext>
            </a:extLst>
          </p:cNvPr>
          <p:cNvSpPr/>
          <p:nvPr userDrawn="1"/>
        </p:nvSpPr>
        <p:spPr>
          <a:xfrm>
            <a:off x="5031581" y="1876937"/>
            <a:ext cx="2128838" cy="212883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30">
            <a:extLst>
              <a:ext uri="{FF2B5EF4-FFF2-40B4-BE49-F238E27FC236}">
                <a16:creationId xmlns:a16="http://schemas.microsoft.com/office/drawing/2014/main" id="{F257399C-B4EF-D349-A98B-B1FF6033DFDC}"/>
              </a:ext>
            </a:extLst>
          </p:cNvPr>
          <p:cNvSpPr>
            <a:spLocks noGrp="1" noChangeAspect="1"/>
          </p:cNvSpPr>
          <p:nvPr>
            <p:ph type="pic" sz="quarter" idx="19" hasCustomPrompt="1"/>
          </p:nvPr>
        </p:nvSpPr>
        <p:spPr>
          <a:xfrm>
            <a:off x="5215705" y="2074110"/>
            <a:ext cx="1737360" cy="1738176"/>
          </a:xfrm>
          <a:prstGeom prst="ellipse">
            <a:avLst/>
          </a:prstGeom>
          <a:noFill/>
        </p:spPr>
        <p:txBody>
          <a:bodyPr anchor="ctr">
            <a:normAutofit/>
          </a:bodyPr>
          <a:lstStyle>
            <a:lvl1pPr marL="0" indent="0" algn="ctr">
              <a:buNone/>
              <a:defRPr sz="2000"/>
            </a:lvl1pPr>
          </a:lstStyle>
          <a:p>
            <a:r>
              <a:rPr lang="en-US" dirty="0"/>
              <a:t>Icon</a:t>
            </a:r>
          </a:p>
        </p:txBody>
      </p:sp>
      <p:sp>
        <p:nvSpPr>
          <p:cNvPr id="27" name="Text Placeholder 3">
            <a:extLst>
              <a:ext uri="{FF2B5EF4-FFF2-40B4-BE49-F238E27FC236}">
                <a16:creationId xmlns:a16="http://schemas.microsoft.com/office/drawing/2014/main" id="{99B3C87A-21CF-BA4D-A01F-0F4BF2EBF085}"/>
              </a:ext>
            </a:extLst>
          </p:cNvPr>
          <p:cNvSpPr>
            <a:spLocks noGrp="1"/>
          </p:cNvSpPr>
          <p:nvPr>
            <p:ph type="body" sz="quarter" idx="30" hasCustomPrompt="1"/>
          </p:nvPr>
        </p:nvSpPr>
        <p:spPr>
          <a:xfrm>
            <a:off x="4831556" y="4175940"/>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Item 2</a:t>
            </a:r>
          </a:p>
        </p:txBody>
      </p:sp>
      <p:sp>
        <p:nvSpPr>
          <p:cNvPr id="25" name="Text Placeholder 17">
            <a:extLst>
              <a:ext uri="{FF2B5EF4-FFF2-40B4-BE49-F238E27FC236}">
                <a16:creationId xmlns:a16="http://schemas.microsoft.com/office/drawing/2014/main" id="{A642EA8A-0CE8-254C-B4A5-754806CC211A}"/>
              </a:ext>
            </a:extLst>
          </p:cNvPr>
          <p:cNvSpPr>
            <a:spLocks noGrp="1"/>
          </p:cNvSpPr>
          <p:nvPr>
            <p:ph type="body" sz="quarter" idx="29" hasCustomPrompt="1"/>
          </p:nvPr>
        </p:nvSpPr>
        <p:spPr>
          <a:xfrm>
            <a:off x="4831740" y="4781288"/>
            <a:ext cx="2528521" cy="825500"/>
          </a:xfrm>
        </p:spPr>
        <p:txBody>
          <a:bodyPr>
            <a:noAutofit/>
          </a:bodyPr>
          <a:lstStyle>
            <a:lvl1pPr marL="0" indent="0" algn="ctr">
              <a:lnSpc>
                <a:spcPct val="10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cxnSp>
        <p:nvCxnSpPr>
          <p:cNvPr id="35" name="Straight Connector 34">
            <a:extLst>
              <a:ext uri="{FF2B5EF4-FFF2-40B4-BE49-F238E27FC236}">
                <a16:creationId xmlns:a16="http://schemas.microsoft.com/office/drawing/2014/main" id="{6F0F12A3-35C4-C341-BFB3-30E7533EB982}"/>
              </a:ext>
              <a:ext uri="{C183D7F6-B498-43B3-948B-1728B52AA6E4}">
                <adec:decorative xmlns:adec="http://schemas.microsoft.com/office/drawing/2017/decorative" val="1"/>
              </a:ext>
            </a:extLst>
          </p:cNvPr>
          <p:cNvCxnSpPr>
            <a:cxnSpLocks/>
          </p:cNvCxnSpPr>
          <p:nvPr userDrawn="1"/>
        </p:nvCxnSpPr>
        <p:spPr>
          <a:xfrm>
            <a:off x="8119068" y="1938989"/>
            <a:ext cx="0" cy="3788229"/>
          </a:xfrm>
          <a:prstGeom prst="line">
            <a:avLst/>
          </a:prstGeom>
          <a:ln w="41275" cap="rnd">
            <a:solidFill>
              <a:schemeClr val="accent1"/>
            </a:solidFill>
            <a:round/>
          </a:ln>
        </p:spPr>
        <p:style>
          <a:lnRef idx="1">
            <a:schemeClr val="accent1"/>
          </a:lnRef>
          <a:fillRef idx="0">
            <a:schemeClr val="accent1"/>
          </a:fillRef>
          <a:effectRef idx="0">
            <a:schemeClr val="accent1"/>
          </a:effectRef>
          <a:fontRef idx="minor">
            <a:schemeClr val="tx1"/>
          </a:fontRef>
        </p:style>
      </p:cxnSp>
      <p:sp>
        <p:nvSpPr>
          <p:cNvPr id="29" name="Oval 28">
            <a:extLst>
              <a:ext uri="{FF2B5EF4-FFF2-40B4-BE49-F238E27FC236}">
                <a16:creationId xmlns:a16="http://schemas.microsoft.com/office/drawing/2014/main" id="{5D941ECA-2DC7-E54B-A32C-F1AC3154AB82}"/>
              </a:ext>
              <a:ext uri="{C183D7F6-B498-43B3-948B-1728B52AA6E4}">
                <adec:decorative xmlns:adec="http://schemas.microsoft.com/office/drawing/2017/decorative" val="1"/>
              </a:ext>
            </a:extLst>
          </p:cNvPr>
          <p:cNvSpPr/>
          <p:nvPr userDrawn="1"/>
        </p:nvSpPr>
        <p:spPr>
          <a:xfrm>
            <a:off x="9132363" y="1876937"/>
            <a:ext cx="2128838" cy="2128838"/>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Picture Placeholder 30">
            <a:extLst>
              <a:ext uri="{FF2B5EF4-FFF2-40B4-BE49-F238E27FC236}">
                <a16:creationId xmlns:a16="http://schemas.microsoft.com/office/drawing/2014/main" id="{19BB4F26-E491-A54C-BCBB-1DA2FAAAD4E4}"/>
              </a:ext>
            </a:extLst>
          </p:cNvPr>
          <p:cNvSpPr>
            <a:spLocks noGrp="1" noChangeAspect="1"/>
          </p:cNvSpPr>
          <p:nvPr>
            <p:ph type="pic" sz="quarter" idx="20" hasCustomPrompt="1"/>
          </p:nvPr>
        </p:nvSpPr>
        <p:spPr>
          <a:xfrm>
            <a:off x="9328102" y="2074110"/>
            <a:ext cx="1737360" cy="1738176"/>
          </a:xfrm>
          <a:prstGeom prst="ellipse">
            <a:avLst/>
          </a:prstGeom>
          <a:noFill/>
        </p:spPr>
        <p:txBody>
          <a:bodyPr anchor="ctr">
            <a:normAutofit/>
          </a:bodyPr>
          <a:lstStyle>
            <a:lvl1pPr marL="0" indent="0" algn="ctr">
              <a:buNone/>
              <a:defRPr sz="2000"/>
            </a:lvl1pPr>
          </a:lstStyle>
          <a:p>
            <a:r>
              <a:rPr lang="en-US" dirty="0"/>
              <a:t>Icon</a:t>
            </a:r>
          </a:p>
        </p:txBody>
      </p:sp>
      <p:sp>
        <p:nvSpPr>
          <p:cNvPr id="19" name="Text Placeholder 3">
            <a:extLst>
              <a:ext uri="{FF2B5EF4-FFF2-40B4-BE49-F238E27FC236}">
                <a16:creationId xmlns:a16="http://schemas.microsoft.com/office/drawing/2014/main" id="{837CCA18-F157-234F-AFCC-7A64205FCAF3}"/>
              </a:ext>
            </a:extLst>
          </p:cNvPr>
          <p:cNvSpPr>
            <a:spLocks noGrp="1"/>
          </p:cNvSpPr>
          <p:nvPr>
            <p:ph type="body" sz="quarter" idx="22" hasCustomPrompt="1"/>
          </p:nvPr>
        </p:nvSpPr>
        <p:spPr>
          <a:xfrm>
            <a:off x="8932338" y="4175940"/>
            <a:ext cx="2528888" cy="458016"/>
          </a:xfrm>
        </p:spPr>
        <p:txBody>
          <a:bodyPr anchor="t" anchorCtr="0">
            <a:noAutofit/>
          </a:bodyPr>
          <a:lstStyle>
            <a:lvl1pPr marL="0" indent="0" algn="ctr">
              <a:buNone/>
              <a:defRPr sz="2000" b="1">
                <a:solidFill>
                  <a:schemeClr val="accent6">
                    <a:lumMod val="50000"/>
                  </a:schemeClr>
                </a:solidFill>
              </a:defRPr>
            </a:lvl1pPr>
          </a:lstStyle>
          <a:p>
            <a:pPr lvl="0"/>
            <a:r>
              <a:rPr lang="en-US" dirty="0"/>
              <a:t>Item 3</a:t>
            </a:r>
          </a:p>
        </p:txBody>
      </p:sp>
      <p:sp>
        <p:nvSpPr>
          <p:cNvPr id="17" name="Text Placeholder 17">
            <a:extLst>
              <a:ext uri="{FF2B5EF4-FFF2-40B4-BE49-F238E27FC236}">
                <a16:creationId xmlns:a16="http://schemas.microsoft.com/office/drawing/2014/main" id="{392524F0-C14F-394D-B511-50F867FF29FC}"/>
              </a:ext>
            </a:extLst>
          </p:cNvPr>
          <p:cNvSpPr>
            <a:spLocks noGrp="1"/>
          </p:cNvSpPr>
          <p:nvPr>
            <p:ph type="body" sz="quarter" idx="12" hasCustomPrompt="1"/>
          </p:nvPr>
        </p:nvSpPr>
        <p:spPr>
          <a:xfrm>
            <a:off x="8932522" y="4781288"/>
            <a:ext cx="2528521" cy="825500"/>
          </a:xfrm>
        </p:spPr>
        <p:txBody>
          <a:bodyPr>
            <a:noAutofit/>
          </a:bodyPr>
          <a:lstStyle>
            <a:lvl1pPr marL="0" indent="0" algn="ctr">
              <a:lnSpc>
                <a:spcPct val="100000"/>
              </a:lnSpc>
              <a:buNone/>
              <a:defRPr sz="1800"/>
            </a:lvl1pPr>
            <a:lvl2pPr marL="457200" indent="0">
              <a:buNone/>
              <a:defRPr/>
            </a:lvl2pPr>
            <a:lvl3pPr marL="914400" indent="0">
              <a:buNone/>
              <a:defRPr/>
            </a:lvl3pPr>
            <a:lvl4pPr marL="1371600" indent="0">
              <a:buNone/>
              <a:defRPr/>
            </a:lvl4pPr>
            <a:lvl5pPr marL="1828800" indent="0">
              <a:buNone/>
              <a:defRPr/>
            </a:lvl5pPr>
          </a:lstStyle>
          <a:p>
            <a:pPr lvl="0"/>
            <a:r>
              <a:rPr lang="en-US" dirty="0"/>
              <a:t>Lorem </a:t>
            </a:r>
            <a:r>
              <a:rPr lang="en-US" dirty="0" err="1"/>
              <a:t>ispum</a:t>
            </a:r>
            <a:r>
              <a:rPr lang="en-US" dirty="0"/>
              <a:t> dolor sit </a:t>
            </a:r>
            <a:r>
              <a:rPr lang="en-US" dirty="0" err="1"/>
              <a:t>amet</a:t>
            </a:r>
            <a:r>
              <a:rPr lang="en-US" dirty="0"/>
              <a:t>, </a:t>
            </a:r>
            <a:r>
              <a:rPr lang="en-US" dirty="0" err="1"/>
              <a:t>consectetur</a:t>
            </a:r>
            <a:r>
              <a:rPr lang="en-US" dirty="0"/>
              <a:t> </a:t>
            </a:r>
            <a:r>
              <a:rPr lang="en-US" dirty="0" err="1"/>
              <a:t>adoipiscing</a:t>
            </a:r>
            <a:r>
              <a:rPr lang="en-US" dirty="0"/>
              <a:t> </a:t>
            </a:r>
            <a:r>
              <a:rPr lang="en-US" dirty="0" err="1"/>
              <a:t>elit</a:t>
            </a:r>
            <a:r>
              <a:rPr lang="en-US" dirty="0"/>
              <a:t>. </a:t>
            </a:r>
            <a:r>
              <a:rPr lang="en-US" dirty="0" err="1"/>
              <a:t>Praesent</a:t>
            </a:r>
            <a:r>
              <a:rPr lang="en-US" dirty="0"/>
              <a:t> </a:t>
            </a:r>
            <a:r>
              <a:rPr lang="en-US" dirty="0" err="1"/>
              <a:t>disnissim</a:t>
            </a:r>
            <a:r>
              <a:rPr lang="en-US" dirty="0"/>
              <a:t> Fringilla </a:t>
            </a:r>
            <a:r>
              <a:rPr lang="en-US" dirty="0" err="1"/>
              <a:t>eros</a:t>
            </a:r>
            <a:r>
              <a:rPr lang="en-US" dirty="0"/>
              <a:t> ac gravida. </a:t>
            </a:r>
          </a:p>
        </p:txBody>
      </p:sp>
    </p:spTree>
    <p:extLst>
      <p:ext uri="{BB962C8B-B14F-4D97-AF65-F5344CB8AC3E}">
        <p14:creationId xmlns:p14="http://schemas.microsoft.com/office/powerpoint/2010/main" val="2632580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7D9A7F5-3AD3-5346-84D2-BFAC3220414F}"/>
              </a:ext>
              <a:ext uri="{C183D7F6-B498-43B3-948B-1728B52AA6E4}">
                <adec:decorative xmlns:adec="http://schemas.microsoft.com/office/drawing/2017/decorative" val="1"/>
              </a:ext>
            </a:extLst>
          </p:cNvPr>
          <p:cNvSpPr/>
          <p:nvPr userDrawn="1"/>
        </p:nvSpPr>
        <p:spPr>
          <a:xfrm>
            <a:off x="0" y="365126"/>
            <a:ext cx="1491916" cy="14480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189E0C-F4AB-5544-AB57-486179A42999}"/>
              </a:ext>
            </a:extLst>
          </p:cNvPr>
          <p:cNvSpPr>
            <a:spLocks noGrp="1"/>
          </p:cNvSpPr>
          <p:nvPr>
            <p:ph type="title"/>
          </p:nvPr>
        </p:nvSpPr>
        <p:spPr>
          <a:xfrm>
            <a:off x="839788" y="457200"/>
            <a:ext cx="3932237" cy="1600200"/>
          </a:xfrm>
          <a:prstGeom prst="rect">
            <a:avLst/>
          </a:prstGeom>
        </p:spPr>
        <p:txBody>
          <a:bodyPr anchor="b">
            <a:normAutofit/>
          </a:bodyPr>
          <a:lstStyle>
            <a:lvl1pPr algn="r">
              <a:defRPr sz="3600"/>
            </a:lvl1pPr>
          </a:lstStyle>
          <a:p>
            <a:r>
              <a:rPr lang="en-US" dirty="0"/>
              <a:t>Click to edit Master title style</a:t>
            </a:r>
          </a:p>
        </p:txBody>
      </p:sp>
      <p:sp>
        <p:nvSpPr>
          <p:cNvPr id="4" name="Text Placeholder 3">
            <a:extLst>
              <a:ext uri="{FF2B5EF4-FFF2-40B4-BE49-F238E27FC236}">
                <a16:creationId xmlns:a16="http://schemas.microsoft.com/office/drawing/2014/main" id="{3E0A5947-7373-7641-8267-0BD9C6DE3FCB}"/>
              </a:ext>
            </a:extLst>
          </p:cNvPr>
          <p:cNvSpPr>
            <a:spLocks noGrp="1"/>
          </p:cNvSpPr>
          <p:nvPr>
            <p:ph type="body" sz="half" idx="2"/>
          </p:nvPr>
        </p:nvSpPr>
        <p:spPr>
          <a:xfrm>
            <a:off x="839788" y="2250630"/>
            <a:ext cx="3932237" cy="3618358"/>
          </a:xfrm>
        </p:spPr>
        <p:txBody>
          <a:bodyPr>
            <a:normAutofit/>
          </a:bodyPr>
          <a:lstStyle>
            <a:lvl1pPr marL="0" indent="0" algn="r">
              <a:buNone/>
              <a:defRPr sz="240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Content Placeholder 2">
            <a:extLst>
              <a:ext uri="{FF2B5EF4-FFF2-40B4-BE49-F238E27FC236}">
                <a16:creationId xmlns:a16="http://schemas.microsoft.com/office/drawing/2014/main" id="{B9A34422-3545-9243-94E6-744F1585DF0D}"/>
              </a:ext>
            </a:extLst>
          </p:cNvPr>
          <p:cNvSpPr>
            <a:spLocks noGrp="1"/>
          </p:cNvSpPr>
          <p:nvPr>
            <p:ph idx="1"/>
          </p:nvPr>
        </p:nvSpPr>
        <p:spPr>
          <a:xfrm>
            <a:off x="5183188" y="987425"/>
            <a:ext cx="6172200" cy="4873625"/>
          </a:xfrm>
        </p:spPr>
        <p:txBody>
          <a:bodyPr>
            <a:normAutofit/>
          </a:bodyPr>
          <a:lstStyle>
            <a:lvl1pPr>
              <a:defRPr sz="2400"/>
            </a:lvl1pPr>
            <a:lvl2pPr>
              <a:defRPr sz="2400"/>
            </a:lvl2pPr>
            <a:lvl3pPr>
              <a:defRPr sz="2400"/>
            </a:lvl3pPr>
            <a:lvl4pPr>
              <a:defRPr sz="2400"/>
            </a:lvl4pPr>
            <a:lvl5pPr>
              <a:defRPr sz="2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a:extLst>
              <a:ext uri="{FF2B5EF4-FFF2-40B4-BE49-F238E27FC236}">
                <a16:creationId xmlns:a16="http://schemas.microsoft.com/office/drawing/2014/main" id="{00FD017C-D058-D04B-B6A9-45B2FC892937}"/>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11624452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34E0910-18C8-964F-BD0C-C589B9D24786}"/>
              </a:ext>
              <a:ext uri="{C183D7F6-B498-43B3-948B-1728B52AA6E4}">
                <adec:decorative xmlns:adec="http://schemas.microsoft.com/office/drawing/2017/decorative" val="1"/>
              </a:ext>
            </a:extLst>
          </p:cNvPr>
          <p:cNvSpPr/>
          <p:nvPr userDrawn="1"/>
        </p:nvSpPr>
        <p:spPr>
          <a:xfrm>
            <a:off x="0" y="365126"/>
            <a:ext cx="1491916" cy="144801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C948E3-E13D-EE4B-BB85-DA7A49175792}"/>
              </a:ext>
            </a:extLst>
          </p:cNvPr>
          <p:cNvSpPr>
            <a:spLocks noGrp="1"/>
          </p:cNvSpPr>
          <p:nvPr>
            <p:ph type="title"/>
          </p:nvPr>
        </p:nvSpPr>
        <p:spPr>
          <a:xfrm>
            <a:off x="839788" y="457200"/>
            <a:ext cx="3932237" cy="1600200"/>
          </a:xfrm>
          <a:prstGeom prst="rect">
            <a:avLst/>
          </a:prstGeom>
        </p:spPr>
        <p:txBody>
          <a:bodyPr anchor="b">
            <a:normAutofit/>
          </a:bodyPr>
          <a:lstStyle>
            <a:lvl1pPr algn="r">
              <a:defRPr sz="3600"/>
            </a:lvl1pPr>
          </a:lstStyle>
          <a:p>
            <a:r>
              <a:rPr lang="en-US" dirty="0"/>
              <a:t>Click to edit Master title style</a:t>
            </a:r>
          </a:p>
        </p:txBody>
      </p:sp>
      <p:sp>
        <p:nvSpPr>
          <p:cNvPr id="4" name="Text Placeholder 3">
            <a:extLst>
              <a:ext uri="{FF2B5EF4-FFF2-40B4-BE49-F238E27FC236}">
                <a16:creationId xmlns:a16="http://schemas.microsoft.com/office/drawing/2014/main" id="{4750C3B7-08A8-D143-96AE-F6B0F5AE0590}"/>
              </a:ext>
            </a:extLst>
          </p:cNvPr>
          <p:cNvSpPr>
            <a:spLocks noGrp="1"/>
          </p:cNvSpPr>
          <p:nvPr>
            <p:ph type="body" sz="half" idx="2"/>
          </p:nvPr>
        </p:nvSpPr>
        <p:spPr>
          <a:xfrm>
            <a:off x="839788" y="2250630"/>
            <a:ext cx="3932237" cy="3618358"/>
          </a:xfrm>
        </p:spPr>
        <p:txBody>
          <a:bodyPr>
            <a:normAutofit/>
          </a:bodyPr>
          <a:lstStyle>
            <a:lvl1pPr marL="0" indent="0" algn="r">
              <a:buNone/>
              <a:defRPr sz="24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3" name="Picture Placeholder 2">
            <a:extLst>
              <a:ext uri="{FF2B5EF4-FFF2-40B4-BE49-F238E27FC236}">
                <a16:creationId xmlns:a16="http://schemas.microsoft.com/office/drawing/2014/main" id="{4FBC6A1B-8F49-CF46-8D26-1FD0BABEE6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7" name="Slide Number Placeholder 6">
            <a:extLst>
              <a:ext uri="{FF2B5EF4-FFF2-40B4-BE49-F238E27FC236}">
                <a16:creationId xmlns:a16="http://schemas.microsoft.com/office/drawing/2014/main" id="{305E4A05-49C4-AA42-8A35-18D798ED6EFA}"/>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16940501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1B8345E-76CD-1243-A2FC-376B05C461BD}"/>
              </a:ext>
              <a:ext uri="{C183D7F6-B498-43B3-948B-1728B52AA6E4}">
                <adec:decorative xmlns:adec="http://schemas.microsoft.com/office/drawing/2017/decorative" val="1"/>
              </a:ext>
            </a:extLst>
          </p:cNvPr>
          <p:cNvSpPr/>
          <p:nvPr userDrawn="1"/>
        </p:nvSpPr>
        <p:spPr>
          <a:xfrm>
            <a:off x="0" y="365126"/>
            <a:ext cx="1491916" cy="169227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C948E3-E13D-EE4B-BB85-DA7A49175792}"/>
              </a:ext>
            </a:extLst>
          </p:cNvPr>
          <p:cNvSpPr>
            <a:spLocks noGrp="1"/>
          </p:cNvSpPr>
          <p:nvPr>
            <p:ph type="title"/>
          </p:nvPr>
        </p:nvSpPr>
        <p:spPr>
          <a:xfrm>
            <a:off x="839788" y="457200"/>
            <a:ext cx="3932237" cy="1600200"/>
          </a:xfrm>
          <a:prstGeom prst="rect">
            <a:avLst/>
          </a:prstGeom>
        </p:spPr>
        <p:txBody>
          <a:bodyPr anchor="b">
            <a:normAutofit/>
          </a:bodyPr>
          <a:lstStyle>
            <a:lvl1pPr algn="r">
              <a:defRPr sz="3600"/>
            </a:lvl1pPr>
          </a:lstStyle>
          <a:p>
            <a:r>
              <a:rPr lang="en-US" dirty="0"/>
              <a:t>Click to edit Master title style</a:t>
            </a:r>
          </a:p>
        </p:txBody>
      </p:sp>
      <p:sp>
        <p:nvSpPr>
          <p:cNvPr id="4" name="Text Placeholder 3">
            <a:extLst>
              <a:ext uri="{FF2B5EF4-FFF2-40B4-BE49-F238E27FC236}">
                <a16:creationId xmlns:a16="http://schemas.microsoft.com/office/drawing/2014/main" id="{4750C3B7-08A8-D143-96AE-F6B0F5AE0590}"/>
              </a:ext>
            </a:extLst>
          </p:cNvPr>
          <p:cNvSpPr>
            <a:spLocks noGrp="1"/>
          </p:cNvSpPr>
          <p:nvPr>
            <p:ph type="body" sz="half" idx="2"/>
          </p:nvPr>
        </p:nvSpPr>
        <p:spPr>
          <a:xfrm>
            <a:off x="839788" y="2250630"/>
            <a:ext cx="3932237" cy="3618358"/>
          </a:xfrm>
        </p:spPr>
        <p:txBody>
          <a:bodyPr>
            <a:normAutofit/>
          </a:bodyPr>
          <a:lstStyle>
            <a:lvl1pPr marL="0" indent="0" algn="r">
              <a:buNone/>
              <a:defRPr sz="24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Chart Placeholder 8">
            <a:extLst>
              <a:ext uri="{FF2B5EF4-FFF2-40B4-BE49-F238E27FC236}">
                <a16:creationId xmlns:a16="http://schemas.microsoft.com/office/drawing/2014/main" id="{6439A179-A193-6D4A-9725-FE93D93D2335}"/>
              </a:ext>
            </a:extLst>
          </p:cNvPr>
          <p:cNvSpPr>
            <a:spLocks noGrp="1"/>
          </p:cNvSpPr>
          <p:nvPr>
            <p:ph type="chart" sz="quarter" idx="13"/>
          </p:nvPr>
        </p:nvSpPr>
        <p:spPr>
          <a:xfrm>
            <a:off x="5167313" y="985838"/>
            <a:ext cx="6184900" cy="4883150"/>
          </a:xfrm>
        </p:spPr>
        <p:txBody>
          <a:bodyPr/>
          <a:lstStyle/>
          <a:p>
            <a:endParaRPr lang="en-US"/>
          </a:p>
        </p:txBody>
      </p:sp>
      <p:sp>
        <p:nvSpPr>
          <p:cNvPr id="7" name="Slide Number Placeholder 6">
            <a:extLst>
              <a:ext uri="{FF2B5EF4-FFF2-40B4-BE49-F238E27FC236}">
                <a16:creationId xmlns:a16="http://schemas.microsoft.com/office/drawing/2014/main" id="{305E4A05-49C4-AA42-8A35-18D798ED6EFA}"/>
              </a:ext>
            </a:extLst>
          </p:cNvPr>
          <p:cNvSpPr>
            <a:spLocks noGrp="1"/>
          </p:cNvSpPr>
          <p:nvPr>
            <p:ph type="sldNum" sz="quarter" idx="12"/>
          </p:nvPr>
        </p:nvSpPr>
        <p:spPr/>
        <p:txBody>
          <a:bodyPr/>
          <a:lstStyle/>
          <a:p>
            <a:fld id="{12151A42-07BF-F340-84C5-4B59C741AF45}" type="slidenum">
              <a:rPr lang="en-US" smtClean="0"/>
              <a:t>‹#›</a:t>
            </a:fld>
            <a:endParaRPr lang="en-US"/>
          </a:p>
        </p:txBody>
      </p:sp>
    </p:spTree>
    <p:extLst>
      <p:ext uri="{BB962C8B-B14F-4D97-AF65-F5344CB8AC3E}">
        <p14:creationId xmlns:p14="http://schemas.microsoft.com/office/powerpoint/2010/main" val="23906748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Section Header">
    <p:bg>
      <p:bgPr>
        <a:solidFill>
          <a:schemeClr val="bg2"/>
        </a:solidFill>
        <a:effectLst/>
      </p:bgPr>
    </p:bg>
    <p:spTree>
      <p:nvGrpSpPr>
        <p:cNvPr id="1" name=""/>
        <p:cNvGrpSpPr/>
        <p:nvPr/>
      </p:nvGrpSpPr>
      <p:grpSpPr>
        <a:xfrm>
          <a:off x="0" y="0"/>
          <a:ext cx="0" cy="0"/>
          <a:chOff x="0" y="0"/>
          <a:chExt cx="0" cy="0"/>
        </a:xfrm>
      </p:grpSpPr>
      <p:sp>
        <p:nvSpPr>
          <p:cNvPr id="7" name="Q&amp;A">
            <a:extLst>
              <a:ext uri="{FF2B5EF4-FFF2-40B4-BE49-F238E27FC236}">
                <a16:creationId xmlns:a16="http://schemas.microsoft.com/office/drawing/2014/main" id="{CA019CC1-A3B6-A541-B52F-32F4C6E55582}"/>
              </a:ext>
            </a:extLst>
          </p:cNvPr>
          <p:cNvSpPr txBox="1"/>
          <p:nvPr userDrawn="1"/>
        </p:nvSpPr>
        <p:spPr>
          <a:xfrm>
            <a:off x="0" y="1459230"/>
            <a:ext cx="12192000" cy="3939540"/>
          </a:xfrm>
          <a:prstGeom prst="rect">
            <a:avLst/>
          </a:prstGeom>
          <a:noFill/>
        </p:spPr>
        <p:txBody>
          <a:bodyPr wrap="square" rtlCol="0">
            <a:spAutoFit/>
          </a:bodyPr>
          <a:lstStyle/>
          <a:p>
            <a:pPr algn="ctr"/>
            <a:r>
              <a:rPr lang="en-US" sz="25000" b="1" dirty="0">
                <a:solidFill>
                  <a:schemeClr val="tx1"/>
                </a:solidFill>
                <a:latin typeface="Calibri" panose="020F0502020204030204" pitchFamily="34" charset="0"/>
                <a:cs typeface="Calibri" panose="020F0502020204030204" pitchFamily="34" charset="0"/>
              </a:rPr>
              <a:t>Q</a:t>
            </a:r>
            <a:r>
              <a:rPr lang="en-US" sz="10000" b="1" dirty="0">
                <a:solidFill>
                  <a:schemeClr val="tx1"/>
                </a:solidFill>
                <a:latin typeface="Calibri" panose="020F0502020204030204" pitchFamily="34" charset="0"/>
                <a:cs typeface="Calibri" panose="020F0502020204030204" pitchFamily="34" charset="0"/>
              </a:rPr>
              <a:t> </a:t>
            </a:r>
            <a:r>
              <a:rPr lang="en-US" sz="25000" b="1" dirty="0">
                <a:solidFill>
                  <a:schemeClr val="tx1"/>
                </a:solidFill>
                <a:latin typeface="Calibri" panose="020F0502020204030204" pitchFamily="34" charset="0"/>
                <a:cs typeface="Calibri" panose="020F0502020204030204" pitchFamily="34" charset="0"/>
              </a:rPr>
              <a:t>&amp;</a:t>
            </a:r>
            <a:r>
              <a:rPr lang="en-US" sz="12000" b="1" dirty="0">
                <a:solidFill>
                  <a:schemeClr val="tx1"/>
                </a:solidFill>
                <a:latin typeface="Calibri" panose="020F0502020204030204" pitchFamily="34" charset="0"/>
                <a:cs typeface="Calibri" panose="020F0502020204030204" pitchFamily="34" charset="0"/>
              </a:rPr>
              <a:t> </a:t>
            </a:r>
            <a:r>
              <a:rPr lang="en-US" sz="25000" b="1" dirty="0">
                <a:solidFill>
                  <a:schemeClr val="tx1"/>
                </a:solidFill>
                <a:latin typeface="Calibri" panose="020F0502020204030204" pitchFamily="34" charset="0"/>
                <a:cs typeface="Calibri" panose="020F0502020204030204" pitchFamily="34" charset="0"/>
              </a:rPr>
              <a:t>A</a:t>
            </a:r>
            <a:endParaRPr lang="en-US" sz="25000" b="1" dirty="0">
              <a:solidFill>
                <a:schemeClr val="tx1"/>
              </a:solidFill>
            </a:endParaRPr>
          </a:p>
        </p:txBody>
      </p:sp>
      <p:pic>
        <p:nvPicPr>
          <p:cNvPr id="8" name="Graphic 7">
            <a:extLst>
              <a:ext uri="{FF2B5EF4-FFF2-40B4-BE49-F238E27FC236}">
                <a16:creationId xmlns:a16="http://schemas.microsoft.com/office/drawing/2014/main" id="{14A95E22-6024-8F45-A81F-5E3EADEF9753}"/>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b="42267"/>
          <a:stretch/>
        </p:blipFill>
        <p:spPr>
          <a:xfrm>
            <a:off x="8412480" y="5138142"/>
            <a:ext cx="2301942" cy="1719858"/>
          </a:xfrm>
          <a:prstGeom prst="rect">
            <a:avLst/>
          </a:prstGeom>
        </p:spPr>
      </p:pic>
      <p:pic>
        <p:nvPicPr>
          <p:cNvPr id="9" name="Graphic 8">
            <a:extLst>
              <a:ext uri="{FF2B5EF4-FFF2-40B4-BE49-F238E27FC236}">
                <a16:creationId xmlns:a16="http://schemas.microsoft.com/office/drawing/2014/main" id="{48700200-A0F2-AC4C-9BAD-0B3DA15C573F}"/>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2495" t="20837"/>
          <a:stretch/>
        </p:blipFill>
        <p:spPr>
          <a:xfrm flipH="1">
            <a:off x="8146540" y="0"/>
            <a:ext cx="4045459" cy="4736199"/>
          </a:xfrm>
          <a:prstGeom prst="rect">
            <a:avLst/>
          </a:prstGeom>
        </p:spPr>
      </p:pic>
      <p:pic>
        <p:nvPicPr>
          <p:cNvPr id="10" name="Decorative">
            <a:extLst>
              <a:ext uri="{FF2B5EF4-FFF2-40B4-BE49-F238E27FC236}">
                <a16:creationId xmlns:a16="http://schemas.microsoft.com/office/drawing/2014/main" id="{150E070D-2B91-6B44-9DAA-013FEBBD1659}"/>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23873" t="50000"/>
          <a:stretch/>
        </p:blipFill>
        <p:spPr>
          <a:xfrm>
            <a:off x="0" y="0"/>
            <a:ext cx="4604657" cy="3913843"/>
          </a:xfrm>
          <a:prstGeom prst="rect">
            <a:avLst/>
          </a:prstGeom>
        </p:spPr>
      </p:pic>
      <p:sp>
        <p:nvSpPr>
          <p:cNvPr id="2" name="Title 1">
            <a:extLst>
              <a:ext uri="{FF2B5EF4-FFF2-40B4-BE49-F238E27FC236}">
                <a16:creationId xmlns:a16="http://schemas.microsoft.com/office/drawing/2014/main" id="{A5D123DE-E74F-6A0D-47FE-882BD822C812}"/>
              </a:ext>
            </a:extLst>
          </p:cNvPr>
          <p:cNvSpPr>
            <a:spLocks noGrp="1"/>
          </p:cNvSpPr>
          <p:nvPr>
            <p:ph type="title" hasCustomPrompt="1"/>
          </p:nvPr>
        </p:nvSpPr>
        <p:spPr>
          <a:xfrm>
            <a:off x="4251366" y="365126"/>
            <a:ext cx="3752603" cy="877172"/>
          </a:xfrm>
        </p:spPr>
        <p:txBody>
          <a:bodyPr/>
          <a:lstStyle>
            <a:lvl1pPr>
              <a:defRPr>
                <a:solidFill>
                  <a:schemeClr val="bg2"/>
                </a:solidFill>
              </a:defRPr>
            </a:lvl1pPr>
          </a:lstStyle>
          <a:p>
            <a:r>
              <a:rPr lang="en-US" dirty="0"/>
              <a:t>Q&amp;A</a:t>
            </a:r>
          </a:p>
        </p:txBody>
      </p:sp>
    </p:spTree>
    <p:extLst>
      <p:ext uri="{BB962C8B-B14F-4D97-AF65-F5344CB8AC3E}">
        <p14:creationId xmlns:p14="http://schemas.microsoft.com/office/powerpoint/2010/main" val="26056970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pic>
        <p:nvPicPr>
          <p:cNvPr id="4" name="Picture 3" descr="AIR Forum">
            <a:extLst>
              <a:ext uri="{FF2B5EF4-FFF2-40B4-BE49-F238E27FC236}">
                <a16:creationId xmlns:a16="http://schemas.microsoft.com/office/drawing/2014/main" id="{C133D2A8-5084-9E41-9E00-050F230BD51C}"/>
              </a:ext>
            </a:extLst>
          </p:cNvPr>
          <p:cNvPicPr>
            <a:picLocks noChangeAspect="1"/>
          </p:cNvPicPr>
          <p:nvPr userDrawn="1"/>
        </p:nvPicPr>
        <p:blipFill>
          <a:blip r:embed="rId2"/>
          <a:srcRect/>
          <a:stretch/>
        </p:blipFill>
        <p:spPr>
          <a:xfrm>
            <a:off x="2439584" y="2116234"/>
            <a:ext cx="7312832" cy="2625532"/>
          </a:xfrm>
          <a:prstGeom prst="rect">
            <a:avLst/>
          </a:prstGeom>
        </p:spPr>
      </p:pic>
    </p:spTree>
    <p:extLst>
      <p:ext uri="{BB962C8B-B14F-4D97-AF65-F5344CB8AC3E}">
        <p14:creationId xmlns:p14="http://schemas.microsoft.com/office/powerpoint/2010/main" val="42048963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Q&amp;A">
    <p:bg>
      <p:bgPr>
        <a:solidFill>
          <a:schemeClr val="bg1"/>
        </a:solidFill>
        <a:effectLst/>
      </p:bgPr>
    </p:bg>
    <p:spTree>
      <p:nvGrpSpPr>
        <p:cNvPr id="1" name=""/>
        <p:cNvGrpSpPr/>
        <p:nvPr/>
      </p:nvGrpSpPr>
      <p:grpSpPr>
        <a:xfrm>
          <a:off x="0" y="0"/>
          <a:ext cx="0" cy="0"/>
          <a:chOff x="0" y="0"/>
          <a:chExt cx="0" cy="0"/>
        </a:xfrm>
      </p:grpSpPr>
      <p:pic>
        <p:nvPicPr>
          <p:cNvPr id="3" name="Picture 2" descr="AIR Forum">
            <a:extLst>
              <a:ext uri="{FF2B5EF4-FFF2-40B4-BE49-F238E27FC236}">
                <a16:creationId xmlns:a16="http://schemas.microsoft.com/office/drawing/2014/main" id="{2382CB68-52D1-A747-8BBF-38669FDE632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2439584" y="1960439"/>
            <a:ext cx="7312832" cy="2937121"/>
          </a:xfrm>
          <a:prstGeom prst="rect">
            <a:avLst/>
          </a:prstGeom>
        </p:spPr>
      </p:pic>
    </p:spTree>
    <p:extLst>
      <p:ext uri="{BB962C8B-B14F-4D97-AF65-F5344CB8AC3E}">
        <p14:creationId xmlns:p14="http://schemas.microsoft.com/office/powerpoint/2010/main" val="9041131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Q&amp;A">
    <p:bg>
      <p:bgPr>
        <a:solidFill>
          <a:schemeClr val="bg1"/>
        </a:solidFill>
        <a:effectLst/>
      </p:bgPr>
    </p:bg>
    <p:spTree>
      <p:nvGrpSpPr>
        <p:cNvPr id="1" name=""/>
        <p:cNvGrpSpPr/>
        <p:nvPr/>
      </p:nvGrpSpPr>
      <p:grpSpPr>
        <a:xfrm>
          <a:off x="0" y="0"/>
          <a:ext cx="0" cy="0"/>
          <a:chOff x="0" y="0"/>
          <a:chExt cx="0" cy="0"/>
        </a:xfrm>
      </p:grpSpPr>
      <p:pic>
        <p:nvPicPr>
          <p:cNvPr id="3" name="Picture 2" descr="AIR - celebrating 60 years">
            <a:extLst>
              <a:ext uri="{FF2B5EF4-FFF2-40B4-BE49-F238E27FC236}">
                <a16:creationId xmlns:a16="http://schemas.microsoft.com/office/drawing/2014/main" id="{2382CB68-52D1-A747-8BBF-38669FDE6322}"/>
              </a:ext>
            </a:extLst>
          </p:cNvPr>
          <p:cNvPicPr>
            <a:picLocks noChangeAspect="1"/>
          </p:cNvPicPr>
          <p:nvPr userDrawn="1"/>
        </p:nvPicPr>
        <p:blipFill>
          <a:blip>
            <a:extLst>
              <a:ext uri="{96DAC541-7B7A-43D3-8B79-37D633B846F1}">
                <asvg:svgBlip xmlns:asvg="http://schemas.microsoft.com/office/drawing/2016/SVG/main" r:embed="rId2"/>
              </a:ext>
            </a:extLst>
          </a:blip>
          <a:srcRect/>
          <a:stretch/>
        </p:blipFill>
        <p:spPr>
          <a:xfrm>
            <a:off x="3349248" y="1960439"/>
            <a:ext cx="5493504" cy="2937121"/>
          </a:xfrm>
          <a:prstGeom prst="rect">
            <a:avLst/>
          </a:prstGeom>
        </p:spPr>
      </p:pic>
    </p:spTree>
    <p:extLst>
      <p:ext uri="{BB962C8B-B14F-4D97-AF65-F5344CB8AC3E}">
        <p14:creationId xmlns:p14="http://schemas.microsoft.com/office/powerpoint/2010/main" val="19084405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D7DCCC-08D0-0C40-95E1-75AA4CC298EB}"/>
              </a:ext>
            </a:extLst>
          </p:cNvPr>
          <p:cNvSpPr>
            <a:spLocks noGrp="1"/>
          </p:cNvSpPr>
          <p:nvPr>
            <p:ph type="title"/>
          </p:nvPr>
        </p:nvSpPr>
        <p:spPr>
          <a:xfrm>
            <a:off x="838200" y="365126"/>
            <a:ext cx="10515600" cy="877172"/>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a:extLst>
              <a:ext uri="{FF2B5EF4-FFF2-40B4-BE49-F238E27FC236}">
                <a16:creationId xmlns:a16="http://schemas.microsoft.com/office/drawing/2014/main" id="{C648E104-FBA3-C44D-ABF9-C0DAF805A00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F90CAF3-AEB4-614B-AE6C-FC4B35DA0FD4}"/>
              </a:ext>
            </a:extLst>
          </p:cNvPr>
          <p:cNvSpPr>
            <a:spLocks noGrp="1"/>
          </p:cNvSpPr>
          <p:nvPr>
            <p:ph type="sldNum" sz="quarter" idx="4"/>
          </p:nvPr>
        </p:nvSpPr>
        <p:spPr>
          <a:xfrm>
            <a:off x="838200" y="6113248"/>
            <a:ext cx="2743200" cy="365125"/>
          </a:xfrm>
          <a:prstGeom prst="rect">
            <a:avLst/>
          </a:prstGeom>
        </p:spPr>
        <p:txBody>
          <a:bodyPr vert="horz" lIns="91440" tIns="45720" rIns="91440" bIns="45720" rtlCol="0" anchor="ctr"/>
          <a:lstStyle>
            <a:lvl1pPr algn="l">
              <a:defRPr sz="1200">
                <a:solidFill>
                  <a:schemeClr val="tx1">
                    <a:lumMod val="50000"/>
                  </a:schemeClr>
                </a:solidFill>
              </a:defRPr>
            </a:lvl1pPr>
          </a:lstStyle>
          <a:p>
            <a:fld id="{12151A42-07BF-F340-84C5-4B59C741AF45}" type="slidenum">
              <a:rPr lang="en-US" smtClean="0"/>
              <a:pPr/>
              <a:t>‹#›</a:t>
            </a:fld>
            <a:endParaRPr lang="en-US"/>
          </a:p>
        </p:txBody>
      </p:sp>
      <p:cxnSp>
        <p:nvCxnSpPr>
          <p:cNvPr id="5" name="Straight Connector 4">
            <a:extLst>
              <a:ext uri="{FF2B5EF4-FFF2-40B4-BE49-F238E27FC236}">
                <a16:creationId xmlns:a16="http://schemas.microsoft.com/office/drawing/2014/main" id="{FE2FA6F8-BF79-1048-938F-3E29CFB73DEA}"/>
              </a:ext>
              <a:ext uri="{C183D7F6-B498-43B3-948B-1728B52AA6E4}">
                <adec:decorative xmlns:adec="http://schemas.microsoft.com/office/drawing/2017/decorative" val="1"/>
              </a:ext>
            </a:extLst>
          </p:cNvPr>
          <p:cNvCxnSpPr>
            <a:cxnSpLocks/>
          </p:cNvCxnSpPr>
          <p:nvPr userDrawn="1"/>
        </p:nvCxnSpPr>
        <p:spPr>
          <a:xfrm>
            <a:off x="0" y="1491712"/>
            <a:ext cx="1339622" cy="0"/>
          </a:xfrm>
          <a:prstGeom prst="line">
            <a:avLst/>
          </a:prstGeom>
          <a:ln w="41275" cap="rnd">
            <a:solidFill>
              <a:schemeClr val="accent3"/>
            </a:solidFill>
            <a:round/>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827DA9B5-90DC-A746-86B9-2D1E2483222D}"/>
              </a:ext>
              <a:ext uri="{C183D7F6-B498-43B3-948B-1728B52AA6E4}">
                <adec:decorative xmlns:adec="http://schemas.microsoft.com/office/drawing/2017/decorative" val="1"/>
              </a:ext>
            </a:extLst>
          </p:cNvPr>
          <p:cNvPicPr>
            <a:picLocks noChangeAspect="1"/>
          </p:cNvPicPr>
          <p:nvPr userDrawn="1"/>
        </p:nvPicPr>
        <p:blipFill>
          <a:blip r:embed="rId24"/>
          <a:srcRect/>
          <a:stretch/>
        </p:blipFill>
        <p:spPr>
          <a:xfrm>
            <a:off x="10816657" y="6138858"/>
            <a:ext cx="943226" cy="338647"/>
          </a:xfrm>
          <a:prstGeom prst="rect">
            <a:avLst/>
          </a:prstGeom>
        </p:spPr>
      </p:pic>
    </p:spTree>
    <p:extLst>
      <p:ext uri="{BB962C8B-B14F-4D97-AF65-F5344CB8AC3E}">
        <p14:creationId xmlns:p14="http://schemas.microsoft.com/office/powerpoint/2010/main" val="3063336350"/>
      </p:ext>
    </p:extLst>
  </p:cSld>
  <p:clrMap bg1="dk1" tx1="lt1" bg2="dk2" tx2="lt2" accent1="accent1" accent2="accent2" accent3="accent3" accent4="accent4" accent5="accent5" accent6="accent6" hlink="hlink" folHlink="folHlink"/>
  <p:sldLayoutIdLst>
    <p:sldLayoutId id="2147483727" r:id="rId1"/>
    <p:sldLayoutId id="2147483663" r:id="rId2"/>
    <p:sldLayoutId id="2147483723" r:id="rId3"/>
    <p:sldLayoutId id="2147483665" r:id="rId4"/>
    <p:sldLayoutId id="2147483664" r:id="rId5"/>
    <p:sldLayoutId id="2147483666" r:id="rId6"/>
    <p:sldLayoutId id="2147483667" r:id="rId7"/>
    <p:sldLayoutId id="2147483668" r:id="rId8"/>
    <p:sldLayoutId id="2147483669" r:id="rId9"/>
    <p:sldLayoutId id="2147483693" r:id="rId10"/>
    <p:sldLayoutId id="2147483670" r:id="rId11"/>
    <p:sldLayoutId id="2147483711" r:id="rId12"/>
    <p:sldLayoutId id="2147483692" r:id="rId13"/>
    <p:sldLayoutId id="2147483677" r:id="rId14"/>
    <p:sldLayoutId id="2147483712" r:id="rId15"/>
    <p:sldLayoutId id="2147483671" r:id="rId16"/>
    <p:sldLayoutId id="2147483672" r:id="rId17"/>
    <p:sldLayoutId id="2147483673" r:id="rId18"/>
    <p:sldLayoutId id="2147483722" r:id="rId19"/>
    <p:sldLayoutId id="2147483705" r:id="rId20"/>
    <p:sldLayoutId id="2147483721" r:id="rId21"/>
    <p:sldLayoutId id="2147483728" r:id="rId22"/>
  </p:sldLayoutIdLst>
  <p:hf sldNum="0" hdr="0" dt="0"/>
  <p:txStyles>
    <p:titleStyle>
      <a:lvl1pPr algn="l" defTabSz="914400" rtl="0" eaLnBrk="1" latinLnBrk="0" hangingPunct="1">
        <a:lnSpc>
          <a:spcPct val="90000"/>
        </a:lnSpc>
        <a:spcBef>
          <a:spcPct val="0"/>
        </a:spcBef>
        <a:buNone/>
        <a:defRPr sz="3600" b="1" kern="1200">
          <a:solidFill>
            <a:schemeClr val="bg1"/>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hyperlink" Target="https://nces.ed.gov/ipeds/datacenter/DataFiles.aspx" TargetMode="Externa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hyperlink" Target="https://nces.ed.gov/ccd/elsi/" TargetMode="Externa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707329A-C45A-BA95-4C2F-6CAD7D9C035C}"/>
              </a:ext>
            </a:extLst>
          </p:cNvPr>
          <p:cNvSpPr>
            <a:spLocks noGrp="1"/>
          </p:cNvSpPr>
          <p:nvPr>
            <p:ph type="ctrTitle"/>
          </p:nvPr>
        </p:nvSpPr>
        <p:spPr/>
        <p:txBody>
          <a:bodyPr/>
          <a:lstStyle/>
          <a:p>
            <a:r>
              <a:rPr lang="en-US" dirty="0"/>
              <a:t>The Benchmarking Process</a:t>
            </a:r>
          </a:p>
        </p:txBody>
      </p:sp>
      <p:sp>
        <p:nvSpPr>
          <p:cNvPr id="9" name="Subtitle 8">
            <a:extLst>
              <a:ext uri="{FF2B5EF4-FFF2-40B4-BE49-F238E27FC236}">
                <a16:creationId xmlns:a16="http://schemas.microsoft.com/office/drawing/2014/main" id="{6F83987D-C15E-91B4-BB98-CA189CFF41F0}"/>
              </a:ext>
            </a:extLst>
          </p:cNvPr>
          <p:cNvSpPr>
            <a:spLocks noGrp="1"/>
          </p:cNvSpPr>
          <p:nvPr>
            <p:ph type="subTitle" idx="1"/>
          </p:nvPr>
        </p:nvSpPr>
        <p:spPr/>
        <p:txBody>
          <a:bodyPr/>
          <a:lstStyle/>
          <a:p>
            <a:r>
              <a:rPr lang="en-US" dirty="0"/>
              <a:t>From Initiation to Implementation</a:t>
            </a:r>
          </a:p>
        </p:txBody>
      </p:sp>
    </p:spTree>
    <p:extLst>
      <p:ext uri="{BB962C8B-B14F-4D97-AF65-F5344CB8AC3E}">
        <p14:creationId xmlns:p14="http://schemas.microsoft.com/office/powerpoint/2010/main" val="4828429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C5B4B-BA73-8651-126B-C74540B79028}"/>
              </a:ext>
            </a:extLst>
          </p:cNvPr>
          <p:cNvSpPr>
            <a:spLocks noGrp="1"/>
          </p:cNvSpPr>
          <p:nvPr>
            <p:ph type="title"/>
          </p:nvPr>
        </p:nvSpPr>
        <p:spPr/>
        <p:txBody>
          <a:bodyPr/>
          <a:lstStyle/>
          <a:p>
            <a:r>
              <a:rPr lang="en-US" dirty="0"/>
              <a:t>Start with Purpose</a:t>
            </a:r>
          </a:p>
        </p:txBody>
      </p:sp>
      <p:sp>
        <p:nvSpPr>
          <p:cNvPr id="3" name="Content Placeholder 2">
            <a:extLst>
              <a:ext uri="{FF2B5EF4-FFF2-40B4-BE49-F238E27FC236}">
                <a16:creationId xmlns:a16="http://schemas.microsoft.com/office/drawing/2014/main" id="{E98634CF-0EC7-8853-08AC-C1B8F2A5D664}"/>
              </a:ext>
            </a:extLst>
          </p:cNvPr>
          <p:cNvSpPr>
            <a:spLocks noGrp="1"/>
          </p:cNvSpPr>
          <p:nvPr>
            <p:ph idx="1"/>
          </p:nvPr>
        </p:nvSpPr>
        <p:spPr/>
        <p:txBody>
          <a:bodyPr/>
          <a:lstStyle/>
          <a:p>
            <a:r>
              <a:rPr lang="en-US" b="1" dirty="0"/>
              <a:t>Building a Purpose: Key Concepts</a:t>
            </a:r>
          </a:p>
          <a:p>
            <a:r>
              <a:rPr lang="en-US" dirty="0"/>
              <a:t>Effective benchmarking begins with clear questions—not just answers. Because institutional data can be large and complex, simple, focused visuals are often more powerful for guiding inquiry than overly complex analyses.</a:t>
            </a:r>
          </a:p>
          <a:p>
            <a:r>
              <a:rPr lang="en-US" dirty="0"/>
              <a:t>A strong purpose should center on understanding your position within a peer group. This requires identifying the performance metrics most valued by leadership and institutional stakeholders.</a:t>
            </a:r>
          </a:p>
        </p:txBody>
      </p:sp>
    </p:spTree>
    <p:extLst>
      <p:ext uri="{BB962C8B-B14F-4D97-AF65-F5344CB8AC3E}">
        <p14:creationId xmlns:p14="http://schemas.microsoft.com/office/powerpoint/2010/main" val="31847612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B7380-D478-9998-B717-A753B2D7C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A008DA-83E0-81A2-0225-DCFE07170CCC}"/>
              </a:ext>
            </a:extLst>
          </p:cNvPr>
          <p:cNvSpPr>
            <a:spLocks noGrp="1"/>
          </p:cNvSpPr>
          <p:nvPr>
            <p:ph type="title"/>
          </p:nvPr>
        </p:nvSpPr>
        <p:spPr/>
        <p:txBody>
          <a:bodyPr/>
          <a:lstStyle/>
          <a:p>
            <a:r>
              <a:rPr lang="en-US" dirty="0"/>
              <a:t>Start with Purpose</a:t>
            </a:r>
          </a:p>
        </p:txBody>
      </p:sp>
      <p:sp>
        <p:nvSpPr>
          <p:cNvPr id="3" name="Content Placeholder 2">
            <a:extLst>
              <a:ext uri="{FF2B5EF4-FFF2-40B4-BE49-F238E27FC236}">
                <a16:creationId xmlns:a16="http://schemas.microsoft.com/office/drawing/2014/main" id="{96B89F9D-2CE4-0F91-E6B3-AA11112E7498}"/>
              </a:ext>
            </a:extLst>
          </p:cNvPr>
          <p:cNvSpPr>
            <a:spLocks noGrp="1"/>
          </p:cNvSpPr>
          <p:nvPr>
            <p:ph idx="1"/>
          </p:nvPr>
        </p:nvSpPr>
        <p:spPr/>
        <p:txBody>
          <a:bodyPr/>
          <a:lstStyle/>
          <a:p>
            <a:r>
              <a:rPr lang="en-US" dirty="0"/>
              <a:t>Benchmarking should:</a:t>
            </a:r>
          </a:p>
          <a:p>
            <a:pPr marL="342900" indent="-342900">
              <a:buFont typeface="Arial" panose="020B0604020202020204" pitchFamily="34" charset="0"/>
              <a:buChar char="•"/>
            </a:pPr>
            <a:r>
              <a:rPr lang="en-US" b="1" dirty="0"/>
              <a:t>Compare performance across peer institutions</a:t>
            </a:r>
            <a:r>
              <a:rPr lang="en-US" dirty="0"/>
              <a:t> </a:t>
            </a:r>
          </a:p>
          <a:p>
            <a:pPr marL="342900" indent="-342900">
              <a:buFont typeface="Arial" panose="020B0604020202020204" pitchFamily="34" charset="0"/>
              <a:buChar char="•"/>
            </a:pPr>
            <a:r>
              <a:rPr lang="en-US" b="1" dirty="0"/>
              <a:t>Highlight strengths, gaps, and trends</a:t>
            </a:r>
            <a:r>
              <a:rPr lang="en-US" dirty="0"/>
              <a:t> </a:t>
            </a:r>
          </a:p>
          <a:p>
            <a:pPr marL="342900" indent="-342900">
              <a:buFont typeface="Arial" panose="020B0604020202020204" pitchFamily="34" charset="0"/>
              <a:buChar char="•"/>
            </a:pPr>
            <a:r>
              <a:rPr lang="en-US" b="1" dirty="0"/>
              <a:t>Incorporate meaningful aggregates</a:t>
            </a:r>
            <a:r>
              <a:rPr lang="en-US" dirty="0"/>
              <a:t>, such as peer averages, top performers, and distance-to-benchmark measures </a:t>
            </a:r>
          </a:p>
          <a:p>
            <a:r>
              <a:rPr lang="en-US" dirty="0"/>
              <a:t>Finally, metrics must align with institutional strategy. Selecting the right indicators ensures that benchmarking efforts directly support progress toward strategic goals.</a:t>
            </a:r>
          </a:p>
        </p:txBody>
      </p:sp>
    </p:spTree>
    <p:extLst>
      <p:ext uri="{BB962C8B-B14F-4D97-AF65-F5344CB8AC3E}">
        <p14:creationId xmlns:p14="http://schemas.microsoft.com/office/powerpoint/2010/main" val="10883138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530DF-52E5-55B4-78D1-4143FE734D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3EC68A-D85F-27B3-AF7B-D4CADECE63A5}"/>
              </a:ext>
            </a:extLst>
          </p:cNvPr>
          <p:cNvSpPr>
            <a:spLocks noGrp="1"/>
          </p:cNvSpPr>
          <p:nvPr>
            <p:ph type="title"/>
          </p:nvPr>
        </p:nvSpPr>
        <p:spPr/>
        <p:txBody>
          <a:bodyPr/>
          <a:lstStyle/>
          <a:p>
            <a:r>
              <a:rPr lang="en-US" dirty="0"/>
              <a:t>Start with Purpose</a:t>
            </a:r>
          </a:p>
        </p:txBody>
      </p:sp>
      <p:sp>
        <p:nvSpPr>
          <p:cNvPr id="3" name="Content Placeholder 2">
            <a:extLst>
              <a:ext uri="{FF2B5EF4-FFF2-40B4-BE49-F238E27FC236}">
                <a16:creationId xmlns:a16="http://schemas.microsoft.com/office/drawing/2014/main" id="{11BE701B-38CB-17F4-E54B-FDF28D8B884C}"/>
              </a:ext>
            </a:extLst>
          </p:cNvPr>
          <p:cNvSpPr>
            <a:spLocks noGrp="1"/>
          </p:cNvSpPr>
          <p:nvPr>
            <p:ph idx="1"/>
          </p:nvPr>
        </p:nvSpPr>
        <p:spPr/>
        <p:txBody>
          <a:bodyPr/>
          <a:lstStyle/>
          <a:p>
            <a:r>
              <a:rPr lang="en-US" b="1" dirty="0"/>
              <a:t>Defining Benchmarking Metrics</a:t>
            </a:r>
          </a:p>
          <a:p>
            <a:r>
              <a:rPr lang="en-US" dirty="0"/>
              <a:t>Metrics should be driven by the report’s purpose and the needs of its users. Department leaders and institutional stakeholders often provide valuable input on which IPEDS variables are most relevant.</a:t>
            </a:r>
          </a:p>
          <a:p>
            <a:r>
              <a:rPr lang="en-US" dirty="0"/>
              <a:t>Once a draft set of metrics is identified, IPEDS data dictionaries can be used to map those metrics to the appropriate variables.</a:t>
            </a:r>
            <a:br>
              <a:rPr lang="en-US" dirty="0"/>
            </a:br>
            <a:r>
              <a:rPr lang="en-US" dirty="0">
                <a:hlinkClick r:id="rId2"/>
              </a:rPr>
              <a:t>Integrated Postsecondary Education Data System</a:t>
            </a:r>
            <a:r>
              <a:rPr lang="en-US" dirty="0"/>
              <a:t> provides comprehensive datasets and documentation to support this process.</a:t>
            </a:r>
          </a:p>
          <a:p>
            <a:endParaRPr lang="en-US" dirty="0"/>
          </a:p>
        </p:txBody>
      </p:sp>
    </p:spTree>
    <p:extLst>
      <p:ext uri="{BB962C8B-B14F-4D97-AF65-F5344CB8AC3E}">
        <p14:creationId xmlns:p14="http://schemas.microsoft.com/office/powerpoint/2010/main" val="8482375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75EF4-12B6-C787-9C27-759C4A9C62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182F02-6BF1-B76E-BCCB-3564F35D5C68}"/>
              </a:ext>
            </a:extLst>
          </p:cNvPr>
          <p:cNvSpPr>
            <a:spLocks noGrp="1"/>
          </p:cNvSpPr>
          <p:nvPr>
            <p:ph type="title"/>
          </p:nvPr>
        </p:nvSpPr>
        <p:spPr/>
        <p:txBody>
          <a:bodyPr/>
          <a:lstStyle/>
          <a:p>
            <a:r>
              <a:rPr lang="en-US" dirty="0"/>
              <a:t>Start with Purpose</a:t>
            </a:r>
          </a:p>
        </p:txBody>
      </p:sp>
      <p:sp>
        <p:nvSpPr>
          <p:cNvPr id="3" name="Content Placeholder 2">
            <a:extLst>
              <a:ext uri="{FF2B5EF4-FFF2-40B4-BE49-F238E27FC236}">
                <a16:creationId xmlns:a16="http://schemas.microsoft.com/office/drawing/2014/main" id="{5F0CF989-0B71-8AE7-2B7C-B1213BDB5D50}"/>
              </a:ext>
            </a:extLst>
          </p:cNvPr>
          <p:cNvSpPr>
            <a:spLocks noGrp="1"/>
          </p:cNvSpPr>
          <p:nvPr>
            <p:ph idx="1"/>
          </p:nvPr>
        </p:nvSpPr>
        <p:spPr/>
        <p:txBody>
          <a:bodyPr/>
          <a:lstStyle/>
          <a:p>
            <a:r>
              <a:rPr lang="en-US" b="1" dirty="0"/>
              <a:t>Our Approach</a:t>
            </a:r>
          </a:p>
          <a:p>
            <a:r>
              <a:rPr lang="en-US" dirty="0"/>
              <a:t>Our benchmarking framework was designed to support multiple institutional priorities:</a:t>
            </a:r>
          </a:p>
          <a:p>
            <a:pPr marL="342900" indent="-342900">
              <a:buFont typeface="Arial" panose="020B0604020202020204" pitchFamily="34" charset="0"/>
              <a:buChar char="•"/>
            </a:pPr>
            <a:r>
              <a:rPr lang="en-US" b="1" dirty="0"/>
              <a:t>Meeting accreditor requirements</a:t>
            </a:r>
            <a:br>
              <a:rPr lang="en-US" dirty="0"/>
            </a:br>
            <a:r>
              <a:rPr lang="en-US" dirty="0"/>
              <a:t>Ensuring compliance with required standards and validating institutional performance using accreditor defined metrics. </a:t>
            </a:r>
          </a:p>
          <a:p>
            <a:pPr marL="342900" indent="-342900">
              <a:buFont typeface="Arial" panose="020B0604020202020204" pitchFamily="34" charset="0"/>
              <a:buChar char="•"/>
            </a:pPr>
            <a:r>
              <a:rPr lang="en-US" b="1" dirty="0"/>
              <a:t>Creating a centralized tool for tracking progress</a:t>
            </a:r>
            <a:br>
              <a:rPr lang="en-US" dirty="0"/>
            </a:br>
            <a:r>
              <a:rPr lang="en-US" dirty="0"/>
              <a:t>Leveraging standardized, publicly available data to enable consistent use across departments and safe external sharing. </a:t>
            </a:r>
          </a:p>
        </p:txBody>
      </p:sp>
    </p:spTree>
    <p:extLst>
      <p:ext uri="{BB962C8B-B14F-4D97-AF65-F5344CB8AC3E}">
        <p14:creationId xmlns:p14="http://schemas.microsoft.com/office/powerpoint/2010/main" val="20645852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58330-6F06-A3F2-4316-960F192A8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B1E87-30D3-1A8E-678B-52EAEE1F2385}"/>
              </a:ext>
            </a:extLst>
          </p:cNvPr>
          <p:cNvSpPr>
            <a:spLocks noGrp="1"/>
          </p:cNvSpPr>
          <p:nvPr>
            <p:ph type="title"/>
          </p:nvPr>
        </p:nvSpPr>
        <p:spPr/>
        <p:txBody>
          <a:bodyPr/>
          <a:lstStyle/>
          <a:p>
            <a:r>
              <a:rPr lang="en-US" dirty="0"/>
              <a:t>Start with Purpose</a:t>
            </a:r>
          </a:p>
        </p:txBody>
      </p:sp>
      <p:sp>
        <p:nvSpPr>
          <p:cNvPr id="3" name="Content Placeholder 2">
            <a:extLst>
              <a:ext uri="{FF2B5EF4-FFF2-40B4-BE49-F238E27FC236}">
                <a16:creationId xmlns:a16="http://schemas.microsoft.com/office/drawing/2014/main" id="{BA05EB7B-850B-B11E-4D5C-681C261757CE}"/>
              </a:ext>
            </a:extLst>
          </p:cNvPr>
          <p:cNvSpPr>
            <a:spLocks noGrp="1"/>
          </p:cNvSpPr>
          <p:nvPr>
            <p:ph idx="1"/>
          </p:nvPr>
        </p:nvSpPr>
        <p:spPr/>
        <p:txBody>
          <a:bodyPr/>
          <a:lstStyle/>
          <a:p>
            <a:pPr marL="342900" indent="-342900">
              <a:buFont typeface="Arial" panose="020B0604020202020204" pitchFamily="34" charset="0"/>
              <a:buChar char="•"/>
            </a:pPr>
            <a:r>
              <a:rPr lang="en-US" b="1" dirty="0"/>
              <a:t>Staying aligned with national best practices</a:t>
            </a:r>
            <a:br>
              <a:rPr lang="en-US" dirty="0"/>
            </a:br>
            <a:r>
              <a:rPr lang="en-US" dirty="0"/>
              <a:t>Identifying high-performing peer institutions to understand successful strategies. </a:t>
            </a:r>
          </a:p>
          <a:p>
            <a:pPr marL="342900" indent="-342900">
              <a:buFont typeface="Arial" panose="020B0604020202020204" pitchFamily="34" charset="0"/>
              <a:buChar char="•"/>
            </a:pPr>
            <a:r>
              <a:rPr lang="en-US" b="1" dirty="0"/>
              <a:t>Building peer-to-peer collaboration</a:t>
            </a:r>
            <a:br>
              <a:rPr lang="en-US" dirty="0"/>
            </a:br>
            <a:r>
              <a:rPr lang="en-US" dirty="0"/>
              <a:t>Using benchmarking insights to foster communication and share actionable practices with peer institutions. </a:t>
            </a:r>
          </a:p>
          <a:p>
            <a:pPr marL="342900" indent="-342900">
              <a:buFont typeface="Arial" panose="020B0604020202020204" pitchFamily="34" charset="0"/>
              <a:buChar char="•"/>
            </a:pPr>
            <a:r>
              <a:rPr lang="en-US" b="1" dirty="0"/>
              <a:t>Supporting continuous improvement</a:t>
            </a:r>
            <a:br>
              <a:rPr lang="en-US" dirty="0"/>
            </a:br>
            <a:r>
              <a:rPr lang="en-US" dirty="0"/>
              <a:t>Establishing an ongoing process to monitor performance and refine institutional strategy over time.</a:t>
            </a:r>
          </a:p>
        </p:txBody>
      </p:sp>
    </p:spTree>
    <p:extLst>
      <p:ext uri="{BB962C8B-B14F-4D97-AF65-F5344CB8AC3E}">
        <p14:creationId xmlns:p14="http://schemas.microsoft.com/office/powerpoint/2010/main" val="36494222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481B933-8045-6E42-B6AB-6D14688F266C}"/>
              </a:ext>
            </a:extLst>
          </p:cNvPr>
          <p:cNvSpPr>
            <a:spLocks noGrp="1"/>
          </p:cNvSpPr>
          <p:nvPr>
            <p:ph type="title"/>
          </p:nvPr>
        </p:nvSpPr>
        <p:spPr/>
        <p:txBody>
          <a:bodyPr/>
          <a:lstStyle/>
          <a:p>
            <a:r>
              <a:rPr lang="en-US" dirty="0"/>
              <a:t>Create a Benchmarking Data Store</a:t>
            </a:r>
          </a:p>
        </p:txBody>
      </p:sp>
      <p:sp>
        <p:nvSpPr>
          <p:cNvPr id="2" name="Text Placeholder 1">
            <a:extLst>
              <a:ext uri="{FF2B5EF4-FFF2-40B4-BE49-F238E27FC236}">
                <a16:creationId xmlns:a16="http://schemas.microsoft.com/office/drawing/2014/main" id="{C33853BB-010D-8947-9870-1C462C550C14}"/>
              </a:ext>
            </a:extLst>
          </p:cNvPr>
          <p:cNvSpPr>
            <a:spLocks noGrp="1"/>
          </p:cNvSpPr>
          <p:nvPr>
            <p:ph type="body" idx="1"/>
          </p:nvPr>
        </p:nvSpPr>
        <p:spPr>
          <a:xfrm>
            <a:off x="450682" y="4924426"/>
            <a:ext cx="7601118" cy="511266"/>
          </a:xfrm>
        </p:spPr>
        <p:txBody>
          <a:bodyPr/>
          <a:lstStyle/>
          <a:p>
            <a:r>
              <a:rPr lang="en-US" dirty="0">
                <a:solidFill>
                  <a:schemeClr val="bg1"/>
                </a:solidFill>
              </a:rPr>
              <a:t>Each desired survey from IPEDS can be combined into one table for all collection years</a:t>
            </a:r>
          </a:p>
        </p:txBody>
      </p:sp>
      <p:cxnSp>
        <p:nvCxnSpPr>
          <p:cNvPr id="7" name="Connector: Elbow 6">
            <a:extLst>
              <a:ext uri="{FF2B5EF4-FFF2-40B4-BE49-F238E27FC236}">
                <a16:creationId xmlns:a16="http://schemas.microsoft.com/office/drawing/2014/main" id="{7A70D63F-AB8F-1CA0-EF79-4624F148840A}"/>
              </a:ext>
            </a:extLst>
          </p:cNvPr>
          <p:cNvCxnSpPr>
            <a:cxnSpLocks/>
          </p:cNvCxnSpPr>
          <p:nvPr/>
        </p:nvCxnSpPr>
        <p:spPr>
          <a:xfrm flipV="1">
            <a:off x="5744195" y="2683022"/>
            <a:ext cx="1462090" cy="733120"/>
          </a:xfrm>
          <a:prstGeom prst="bentConnector3">
            <a:avLst/>
          </a:prstGeom>
          <a:ln>
            <a:solidFill>
              <a:schemeClr val="tx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 name="Connector: Elbow 7">
            <a:extLst>
              <a:ext uri="{FF2B5EF4-FFF2-40B4-BE49-F238E27FC236}">
                <a16:creationId xmlns:a16="http://schemas.microsoft.com/office/drawing/2014/main" id="{34309F19-F406-8F78-1448-40A2223BE3C3}"/>
              </a:ext>
            </a:extLst>
          </p:cNvPr>
          <p:cNvCxnSpPr>
            <a:cxnSpLocks/>
          </p:cNvCxnSpPr>
          <p:nvPr/>
        </p:nvCxnSpPr>
        <p:spPr>
          <a:xfrm>
            <a:off x="5761123" y="1700709"/>
            <a:ext cx="1445162" cy="982313"/>
          </a:xfrm>
          <a:prstGeom prst="bentConnector3">
            <a:avLst/>
          </a:prstGeom>
          <a:ln>
            <a:solidFill>
              <a:schemeClr val="tx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Elbow 8">
            <a:extLst>
              <a:ext uri="{FF2B5EF4-FFF2-40B4-BE49-F238E27FC236}">
                <a16:creationId xmlns:a16="http://schemas.microsoft.com/office/drawing/2014/main" id="{D24463F0-1E54-5CE2-EC2F-483BF625026A}"/>
              </a:ext>
            </a:extLst>
          </p:cNvPr>
          <p:cNvCxnSpPr>
            <a:cxnSpLocks/>
          </p:cNvCxnSpPr>
          <p:nvPr/>
        </p:nvCxnSpPr>
        <p:spPr>
          <a:xfrm>
            <a:off x="5645500" y="2604830"/>
            <a:ext cx="1160995" cy="80746"/>
          </a:xfrm>
          <a:prstGeom prst="bentConnector3">
            <a:avLst>
              <a:gd name="adj1" fmla="val 50000"/>
            </a:avLst>
          </a:prstGeom>
          <a:ln>
            <a:solidFill>
              <a:schemeClr val="tx2">
                <a:lumMod val="50000"/>
              </a:schemeClr>
            </a:solidFill>
          </a:ln>
        </p:spPr>
        <p:style>
          <a:lnRef idx="2">
            <a:schemeClr val="accent1"/>
          </a:lnRef>
          <a:fillRef idx="0">
            <a:schemeClr val="accent1"/>
          </a:fillRef>
          <a:effectRef idx="1">
            <a:schemeClr val="accent1"/>
          </a:effectRef>
          <a:fontRef idx="minor">
            <a:schemeClr val="tx1"/>
          </a:fontRef>
        </p:style>
      </p:cxnSp>
      <p:sp>
        <p:nvSpPr>
          <p:cNvPr id="10" name="Flowchart: Magnetic Disk 9">
            <a:extLst>
              <a:ext uri="{FF2B5EF4-FFF2-40B4-BE49-F238E27FC236}">
                <a16:creationId xmlns:a16="http://schemas.microsoft.com/office/drawing/2014/main" id="{60498168-234E-3D03-C9CB-5BDE5408D423}"/>
              </a:ext>
            </a:extLst>
          </p:cNvPr>
          <p:cNvSpPr/>
          <p:nvPr/>
        </p:nvSpPr>
        <p:spPr>
          <a:xfrm>
            <a:off x="592484" y="2131967"/>
            <a:ext cx="2151155" cy="665259"/>
          </a:xfrm>
          <a:prstGeom prst="flowChartMagneticDisk">
            <a:avLst/>
          </a:prstGeom>
          <a:solidFill>
            <a:srgbClr val="00206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IPEDS</a:t>
            </a:r>
          </a:p>
        </p:txBody>
      </p:sp>
      <p:cxnSp>
        <p:nvCxnSpPr>
          <p:cNvPr id="11" name="Connector: Elbow 10">
            <a:extLst>
              <a:ext uri="{FF2B5EF4-FFF2-40B4-BE49-F238E27FC236}">
                <a16:creationId xmlns:a16="http://schemas.microsoft.com/office/drawing/2014/main" id="{B0B97218-B9C8-B072-0ADD-799D4F0671AF}"/>
              </a:ext>
            </a:extLst>
          </p:cNvPr>
          <p:cNvCxnSpPr>
            <a:cxnSpLocks/>
          </p:cNvCxnSpPr>
          <p:nvPr/>
        </p:nvCxnSpPr>
        <p:spPr>
          <a:xfrm flipV="1">
            <a:off x="2867183" y="1708784"/>
            <a:ext cx="1617518" cy="511266"/>
          </a:xfrm>
          <a:prstGeom prst="bentConnector3">
            <a:avLst/>
          </a:prstGeom>
          <a:ln>
            <a:solidFill>
              <a:schemeClr val="tx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Elbow 11">
            <a:extLst>
              <a:ext uri="{FF2B5EF4-FFF2-40B4-BE49-F238E27FC236}">
                <a16:creationId xmlns:a16="http://schemas.microsoft.com/office/drawing/2014/main" id="{5DCF22A3-4129-8E8F-2F1E-464DC222DB8E}"/>
              </a:ext>
            </a:extLst>
          </p:cNvPr>
          <p:cNvCxnSpPr>
            <a:cxnSpLocks/>
          </p:cNvCxnSpPr>
          <p:nvPr/>
        </p:nvCxnSpPr>
        <p:spPr>
          <a:xfrm>
            <a:off x="2867183" y="2481988"/>
            <a:ext cx="1620598" cy="128096"/>
          </a:xfrm>
          <a:prstGeom prst="bentConnector3">
            <a:avLst/>
          </a:prstGeom>
          <a:ln>
            <a:solidFill>
              <a:schemeClr val="tx2">
                <a:lumMod val="5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Elbow 12">
            <a:extLst>
              <a:ext uri="{FF2B5EF4-FFF2-40B4-BE49-F238E27FC236}">
                <a16:creationId xmlns:a16="http://schemas.microsoft.com/office/drawing/2014/main" id="{759E7811-018F-6805-CA90-55021EECA125}"/>
              </a:ext>
            </a:extLst>
          </p:cNvPr>
          <p:cNvCxnSpPr>
            <a:cxnSpLocks/>
          </p:cNvCxnSpPr>
          <p:nvPr/>
        </p:nvCxnSpPr>
        <p:spPr>
          <a:xfrm>
            <a:off x="2867183" y="2710588"/>
            <a:ext cx="1617518" cy="700459"/>
          </a:xfrm>
          <a:prstGeom prst="bentConnector3">
            <a:avLst/>
          </a:prstGeom>
          <a:ln>
            <a:solidFill>
              <a:schemeClr val="tx2">
                <a:lumMod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4" name="Flowchart: Internal Storage 13">
            <a:extLst>
              <a:ext uri="{FF2B5EF4-FFF2-40B4-BE49-F238E27FC236}">
                <a16:creationId xmlns:a16="http://schemas.microsoft.com/office/drawing/2014/main" id="{3E881623-6249-E32C-DE00-968A59851862}"/>
              </a:ext>
            </a:extLst>
          </p:cNvPr>
          <p:cNvSpPr/>
          <p:nvPr/>
        </p:nvSpPr>
        <p:spPr>
          <a:xfrm>
            <a:off x="4630569" y="1401559"/>
            <a:ext cx="1113626" cy="617052"/>
          </a:xfrm>
          <a:prstGeom prst="flowChartInternalStorage">
            <a:avLst/>
          </a:prstGeom>
          <a:solidFill>
            <a:srgbClr val="00206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Survey A 2024</a:t>
            </a:r>
          </a:p>
        </p:txBody>
      </p:sp>
      <p:sp>
        <p:nvSpPr>
          <p:cNvPr id="15" name="Flowchart: Internal Storage 14">
            <a:extLst>
              <a:ext uri="{FF2B5EF4-FFF2-40B4-BE49-F238E27FC236}">
                <a16:creationId xmlns:a16="http://schemas.microsoft.com/office/drawing/2014/main" id="{9CAB2FBA-203D-11F8-6FC5-CFA85A124FE5}"/>
              </a:ext>
            </a:extLst>
          </p:cNvPr>
          <p:cNvSpPr/>
          <p:nvPr/>
        </p:nvSpPr>
        <p:spPr>
          <a:xfrm>
            <a:off x="4630569" y="2290554"/>
            <a:ext cx="1113626" cy="617052"/>
          </a:xfrm>
          <a:prstGeom prst="flowChartInternalStorage">
            <a:avLst/>
          </a:prstGeom>
          <a:solidFill>
            <a:srgbClr val="00206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Survey A 2023</a:t>
            </a:r>
          </a:p>
        </p:txBody>
      </p:sp>
      <p:sp>
        <p:nvSpPr>
          <p:cNvPr id="16" name="Flowchart: Internal Storage 15">
            <a:extLst>
              <a:ext uri="{FF2B5EF4-FFF2-40B4-BE49-F238E27FC236}">
                <a16:creationId xmlns:a16="http://schemas.microsoft.com/office/drawing/2014/main" id="{0A8444D2-4FAE-BEB7-1A55-99B270F67B0C}"/>
              </a:ext>
            </a:extLst>
          </p:cNvPr>
          <p:cNvSpPr/>
          <p:nvPr/>
        </p:nvSpPr>
        <p:spPr>
          <a:xfrm>
            <a:off x="4630569" y="3179549"/>
            <a:ext cx="1113626" cy="617052"/>
          </a:xfrm>
          <a:prstGeom prst="flowChartInternalStorage">
            <a:avLst/>
          </a:prstGeom>
          <a:solidFill>
            <a:srgbClr val="00206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Survey A 2022</a:t>
            </a:r>
          </a:p>
        </p:txBody>
      </p:sp>
      <p:sp>
        <p:nvSpPr>
          <p:cNvPr id="17" name="Flowchart: Internal Storage 16">
            <a:extLst>
              <a:ext uri="{FF2B5EF4-FFF2-40B4-BE49-F238E27FC236}">
                <a16:creationId xmlns:a16="http://schemas.microsoft.com/office/drawing/2014/main" id="{92AD3BCB-23B8-374D-FDAE-1FC606ADB417}"/>
              </a:ext>
            </a:extLst>
          </p:cNvPr>
          <p:cNvSpPr/>
          <p:nvPr/>
        </p:nvSpPr>
        <p:spPr>
          <a:xfrm>
            <a:off x="7270062" y="1661780"/>
            <a:ext cx="1797737" cy="1966846"/>
          </a:xfrm>
          <a:prstGeom prst="flowChartInternalStorage">
            <a:avLst/>
          </a:prstGeom>
          <a:solidFill>
            <a:srgbClr val="002060"/>
          </a:solidFill>
          <a:ln>
            <a:solidFill>
              <a:schemeClr val="accent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Final Storage:</a:t>
            </a:r>
          </a:p>
          <a:p>
            <a:pPr algn="ctr"/>
            <a:r>
              <a:rPr lang="en-US" dirty="0"/>
              <a:t>Survey A</a:t>
            </a:r>
          </a:p>
          <a:p>
            <a:pPr algn="ctr"/>
            <a:r>
              <a:rPr lang="en-US" dirty="0"/>
              <a:t>Concatenated </a:t>
            </a:r>
          </a:p>
          <a:p>
            <a:pPr algn="ctr"/>
            <a:r>
              <a:rPr lang="en-US" dirty="0"/>
              <a:t>Years</a:t>
            </a:r>
          </a:p>
        </p:txBody>
      </p:sp>
    </p:spTree>
    <p:extLst>
      <p:ext uri="{BB962C8B-B14F-4D97-AF65-F5344CB8AC3E}">
        <p14:creationId xmlns:p14="http://schemas.microsoft.com/office/powerpoint/2010/main" val="1674212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8847D-BC70-0782-476B-C16602D74A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1A189B-16F1-02E5-5F86-9E6C878B9EC1}"/>
              </a:ext>
            </a:extLst>
          </p:cNvPr>
          <p:cNvSpPr>
            <a:spLocks noGrp="1"/>
          </p:cNvSpPr>
          <p:nvPr>
            <p:ph type="title"/>
          </p:nvPr>
        </p:nvSpPr>
        <p:spPr/>
        <p:txBody>
          <a:bodyPr/>
          <a:lstStyle/>
          <a:p>
            <a:r>
              <a:rPr lang="en-US" dirty="0"/>
              <a:t>Create a Benchmarking Data Store</a:t>
            </a:r>
          </a:p>
        </p:txBody>
      </p:sp>
      <p:sp>
        <p:nvSpPr>
          <p:cNvPr id="3" name="Content Placeholder 2">
            <a:extLst>
              <a:ext uri="{FF2B5EF4-FFF2-40B4-BE49-F238E27FC236}">
                <a16:creationId xmlns:a16="http://schemas.microsoft.com/office/drawing/2014/main" id="{4F307FB4-32A4-B2E8-31DD-2BFBB73A09C9}"/>
              </a:ext>
            </a:extLst>
          </p:cNvPr>
          <p:cNvSpPr>
            <a:spLocks noGrp="1"/>
          </p:cNvSpPr>
          <p:nvPr>
            <p:ph idx="1"/>
          </p:nvPr>
        </p:nvSpPr>
        <p:spPr/>
        <p:txBody>
          <a:bodyPr vert="horz" lIns="91440" tIns="45720" rIns="91440" bIns="45720" rtlCol="0" anchor="t">
            <a:noAutofit/>
          </a:bodyPr>
          <a:lstStyle/>
          <a:p>
            <a:r>
              <a:rPr lang="en-US" b="1" dirty="0"/>
              <a:t>Pull in Data</a:t>
            </a:r>
          </a:p>
          <a:p>
            <a:r>
              <a:rPr lang="en-US" dirty="0"/>
              <a:t>We used python to make requests for each dataset. Code for this can be found in the </a:t>
            </a:r>
            <a:r>
              <a:rPr lang="en-US" dirty="0" err="1"/>
              <a:t>Github</a:t>
            </a:r>
            <a:r>
              <a:rPr lang="en-US" dirty="0"/>
              <a:t> repository.</a:t>
            </a:r>
          </a:p>
          <a:p>
            <a:pPr marL="457200" indent="-457200">
              <a:buFont typeface="+mj-lt"/>
              <a:buAutoNum type="arabicPeriod"/>
            </a:pPr>
            <a:r>
              <a:rPr lang="en-US" dirty="0"/>
              <a:t>Define the year and dataset you want</a:t>
            </a:r>
          </a:p>
          <a:p>
            <a:pPr marL="457200" indent="-457200">
              <a:buFont typeface="+mj-lt"/>
              <a:buAutoNum type="arabicPeriod"/>
            </a:pPr>
            <a:r>
              <a:rPr lang="en-US" dirty="0"/>
              <a:t>Make the request to pull in the dataset</a:t>
            </a:r>
          </a:p>
          <a:p>
            <a:pPr marL="457200" indent="-457200">
              <a:buFont typeface="+mj-lt"/>
              <a:buAutoNum type="arabicPeriod"/>
            </a:pPr>
            <a:r>
              <a:rPr lang="en-US" dirty="0"/>
              <a:t>Store it in your preferred location</a:t>
            </a:r>
          </a:p>
          <a:p>
            <a:pPr marL="457200" indent="-457200">
              <a:buFont typeface="+mj-lt"/>
              <a:buAutoNum type="arabicPeriod"/>
            </a:pPr>
            <a:r>
              <a:rPr lang="en-US" dirty="0"/>
              <a:t>The end result for this step will be a table for each survey and year</a:t>
            </a:r>
          </a:p>
          <a:p>
            <a:r>
              <a:rPr lang="en-US" dirty="0">
                <a:ea typeface="Calibri" panose="020F0502020204030204"/>
                <a:cs typeface="Calibri" panose="020F0502020204030204"/>
              </a:rPr>
              <a:t>Ex. EF2024A, EF2024B,  EF2024C </a:t>
            </a:r>
            <a:r>
              <a:rPr lang="en-US">
                <a:ea typeface="Calibri" panose="020F0502020204030204"/>
                <a:cs typeface="Calibri" panose="020F0502020204030204"/>
              </a:rPr>
              <a:t>etc.</a:t>
            </a:r>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563053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BBC62-5B73-4684-C8F6-CFCD7CE8B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810DDA-BEAC-C4E0-8308-F42DFC1C0E43}"/>
              </a:ext>
            </a:extLst>
          </p:cNvPr>
          <p:cNvSpPr>
            <a:spLocks noGrp="1"/>
          </p:cNvSpPr>
          <p:nvPr>
            <p:ph type="title"/>
          </p:nvPr>
        </p:nvSpPr>
        <p:spPr/>
        <p:txBody>
          <a:bodyPr/>
          <a:lstStyle/>
          <a:p>
            <a:r>
              <a:rPr lang="en-US" dirty="0"/>
              <a:t>Create a Benchmarking Data Store</a:t>
            </a:r>
          </a:p>
        </p:txBody>
      </p:sp>
      <p:sp>
        <p:nvSpPr>
          <p:cNvPr id="3" name="Content Placeholder 2">
            <a:extLst>
              <a:ext uri="{FF2B5EF4-FFF2-40B4-BE49-F238E27FC236}">
                <a16:creationId xmlns:a16="http://schemas.microsoft.com/office/drawing/2014/main" id="{EE456308-A4FE-FDE1-2273-25C56341E89D}"/>
              </a:ext>
            </a:extLst>
          </p:cNvPr>
          <p:cNvSpPr>
            <a:spLocks noGrp="1"/>
          </p:cNvSpPr>
          <p:nvPr>
            <p:ph idx="1"/>
          </p:nvPr>
        </p:nvSpPr>
        <p:spPr/>
        <p:txBody>
          <a:bodyPr vert="horz" lIns="91440" tIns="45720" rIns="91440" bIns="45720" rtlCol="0" anchor="t">
            <a:noAutofit/>
          </a:bodyPr>
          <a:lstStyle/>
          <a:p>
            <a:r>
              <a:rPr lang="en-US" b="1"/>
              <a:t>Structure the Data</a:t>
            </a:r>
            <a:endParaRPr lang="en-US" b="1" dirty="0"/>
          </a:p>
          <a:p>
            <a:r>
              <a:rPr lang="en-US"/>
              <a:t>This step will add the trending element to your report. For each survey table, you will:</a:t>
            </a:r>
            <a:endParaRPr lang="en-US">
              <a:ea typeface="Calibri"/>
              <a:cs typeface="Calibri"/>
            </a:endParaRPr>
          </a:p>
          <a:p>
            <a:pPr marL="457200" indent="-457200">
              <a:buFont typeface="+mj-lt"/>
              <a:buAutoNum type="arabicPeriod"/>
            </a:pPr>
            <a:r>
              <a:rPr lang="en-US"/>
              <a:t>Union the same survey across the different years that you pulled in.</a:t>
            </a:r>
            <a:endParaRPr lang="en-US">
              <a:ea typeface="Calibri"/>
              <a:cs typeface="Calibri"/>
            </a:endParaRPr>
          </a:p>
          <a:p>
            <a:pPr marL="457200" indent="-457200">
              <a:buFont typeface="+mj-lt"/>
              <a:buAutoNum type="arabicPeriod"/>
            </a:pPr>
            <a:r>
              <a:rPr lang="en-US"/>
              <a:t>Some surveys add new variables/columns from year to year, so you will have to add these variables to previous years as blank values.</a:t>
            </a:r>
            <a:endParaRPr lang="en-US">
              <a:ea typeface="Calibri"/>
              <a:cs typeface="Calibri"/>
            </a:endParaRPr>
          </a:p>
          <a:p>
            <a:pPr marL="457200" indent="-457200">
              <a:buFont typeface="+mj-lt"/>
              <a:buAutoNum type="arabicPeriod"/>
            </a:pPr>
            <a:r>
              <a:rPr lang="en-US" dirty="0"/>
              <a:t>We used python again to handle this structuring, but it can be as simple as starting with the most recent year and copy pasting the previous</a:t>
            </a:r>
            <a:r>
              <a:rPr lang="en-US"/>
              <a:t> year to the dataset.</a:t>
            </a:r>
            <a:endParaRPr lang="en-US">
              <a:ea typeface="Calibri"/>
              <a:cs typeface="Calibri"/>
            </a:endParaRPr>
          </a:p>
          <a:p>
            <a:r>
              <a:rPr lang="en-US" dirty="0">
                <a:ea typeface="Calibri" panose="020F0502020204030204"/>
                <a:cs typeface="Calibri" panose="020F0502020204030204"/>
              </a:rPr>
              <a:t>Ex. EF2024A union EF2023A union EF2022A union EF2021A </a:t>
            </a:r>
            <a:r>
              <a:rPr lang="en-US">
                <a:ea typeface="Calibri" panose="020F0502020204030204"/>
                <a:cs typeface="Calibri" panose="020F0502020204030204"/>
              </a:rPr>
              <a:t>etc.s</a:t>
            </a:r>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2302473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B6165-FA49-D8D2-4B3E-37EF80094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E44AB-6211-D5CE-CF29-349A2B945A66}"/>
              </a:ext>
            </a:extLst>
          </p:cNvPr>
          <p:cNvSpPr>
            <a:spLocks noGrp="1"/>
          </p:cNvSpPr>
          <p:nvPr>
            <p:ph type="title"/>
          </p:nvPr>
        </p:nvSpPr>
        <p:spPr/>
        <p:txBody>
          <a:bodyPr/>
          <a:lstStyle/>
          <a:p>
            <a:r>
              <a:rPr lang="en-US" dirty="0"/>
              <a:t>Create a Benchmarking Data Store</a:t>
            </a:r>
          </a:p>
        </p:txBody>
      </p:sp>
      <p:sp>
        <p:nvSpPr>
          <p:cNvPr id="3" name="Content Placeholder 2">
            <a:extLst>
              <a:ext uri="{FF2B5EF4-FFF2-40B4-BE49-F238E27FC236}">
                <a16:creationId xmlns:a16="http://schemas.microsoft.com/office/drawing/2014/main" id="{63341693-1DAC-23FE-05F0-858B5F85AE48}"/>
              </a:ext>
            </a:extLst>
          </p:cNvPr>
          <p:cNvSpPr>
            <a:spLocks noGrp="1"/>
          </p:cNvSpPr>
          <p:nvPr>
            <p:ph idx="1"/>
          </p:nvPr>
        </p:nvSpPr>
        <p:spPr/>
        <p:txBody>
          <a:bodyPr vert="horz" lIns="91440" tIns="45720" rIns="91440" bIns="45720" rtlCol="0" anchor="t">
            <a:noAutofit/>
          </a:bodyPr>
          <a:lstStyle/>
          <a:p>
            <a:r>
              <a:rPr lang="en-US" b="1"/>
              <a:t>Structure the Data</a:t>
            </a:r>
            <a:endParaRPr lang="en-US" b="1" dirty="0"/>
          </a:p>
          <a:p>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graphicFrame>
        <p:nvGraphicFramePr>
          <p:cNvPr id="15" name="Table 14">
            <a:extLst>
              <a:ext uri="{FF2B5EF4-FFF2-40B4-BE49-F238E27FC236}">
                <a16:creationId xmlns:a16="http://schemas.microsoft.com/office/drawing/2014/main" id="{9A2C5529-4D50-C2E9-94C8-D7C137EC6E3D}"/>
              </a:ext>
            </a:extLst>
          </p:cNvPr>
          <p:cNvGraphicFramePr>
            <a:graphicFrameLocks noGrp="1"/>
          </p:cNvGraphicFramePr>
          <p:nvPr>
            <p:extLst>
              <p:ext uri="{D42A27DB-BD31-4B8C-83A1-F6EECF244321}">
                <p14:modId xmlns:p14="http://schemas.microsoft.com/office/powerpoint/2010/main" val="3956135564"/>
              </p:ext>
            </p:extLst>
          </p:nvPr>
        </p:nvGraphicFramePr>
        <p:xfrm>
          <a:off x="195146" y="2672576"/>
          <a:ext cx="11866878" cy="1828800"/>
        </p:xfrm>
        <a:graphic>
          <a:graphicData uri="http://schemas.openxmlformats.org/drawingml/2006/table">
            <a:tbl>
              <a:tblPr bandRow="1">
                <a:tableStyleId>{5C22544A-7EE6-4342-B048-85BDC9FD1C3A}</a:tableStyleId>
              </a:tblPr>
              <a:tblGrid>
                <a:gridCol w="1977813">
                  <a:extLst>
                    <a:ext uri="{9D8B030D-6E8A-4147-A177-3AD203B41FA5}">
                      <a16:colId xmlns:a16="http://schemas.microsoft.com/office/drawing/2014/main" val="1333089603"/>
                    </a:ext>
                  </a:extLst>
                </a:gridCol>
                <a:gridCol w="1977813">
                  <a:extLst>
                    <a:ext uri="{9D8B030D-6E8A-4147-A177-3AD203B41FA5}">
                      <a16:colId xmlns:a16="http://schemas.microsoft.com/office/drawing/2014/main" val="3094238957"/>
                    </a:ext>
                  </a:extLst>
                </a:gridCol>
                <a:gridCol w="1977813">
                  <a:extLst>
                    <a:ext uri="{9D8B030D-6E8A-4147-A177-3AD203B41FA5}">
                      <a16:colId xmlns:a16="http://schemas.microsoft.com/office/drawing/2014/main" val="3615998239"/>
                    </a:ext>
                  </a:extLst>
                </a:gridCol>
                <a:gridCol w="1977813">
                  <a:extLst>
                    <a:ext uri="{9D8B030D-6E8A-4147-A177-3AD203B41FA5}">
                      <a16:colId xmlns:a16="http://schemas.microsoft.com/office/drawing/2014/main" val="3814541215"/>
                    </a:ext>
                  </a:extLst>
                </a:gridCol>
                <a:gridCol w="1977813">
                  <a:extLst>
                    <a:ext uri="{9D8B030D-6E8A-4147-A177-3AD203B41FA5}">
                      <a16:colId xmlns:a16="http://schemas.microsoft.com/office/drawing/2014/main" val="957330606"/>
                    </a:ext>
                  </a:extLst>
                </a:gridCol>
                <a:gridCol w="1977813">
                  <a:extLst>
                    <a:ext uri="{9D8B030D-6E8A-4147-A177-3AD203B41FA5}">
                      <a16:colId xmlns:a16="http://schemas.microsoft.com/office/drawing/2014/main" val="1356901299"/>
                    </a:ext>
                  </a:extLst>
                </a:gridCol>
              </a:tblGrid>
              <a:tr h="0">
                <a:tc>
                  <a:txBody>
                    <a:bodyPr/>
                    <a:lstStyle/>
                    <a:p>
                      <a:pPr>
                        <a:buNone/>
                      </a:pPr>
                      <a:r>
                        <a:rPr lang="en-US"/>
                        <a:t>UNITID</a:t>
                      </a:r>
                    </a:p>
                  </a:txBody>
                  <a:tcPr anchor="ctr">
                    <a:lnL>
                      <a:noFill/>
                    </a:lnL>
                    <a:lnR>
                      <a:noFill/>
                    </a:lnR>
                    <a:lnT>
                      <a:noFill/>
                    </a:lnT>
                    <a:lnB>
                      <a:noFill/>
                    </a:lnB>
                    <a:solidFill>
                      <a:schemeClr val="tx1">
                        <a:lumMod val="50000"/>
                        <a:lumOff val="50000"/>
                      </a:schemeClr>
                    </a:solidFill>
                  </a:tcPr>
                </a:tc>
                <a:tc>
                  <a:txBody>
                    <a:bodyPr/>
                    <a:lstStyle/>
                    <a:p>
                      <a:pPr>
                        <a:buNone/>
                      </a:pPr>
                      <a:r>
                        <a:rPr lang="en-US"/>
                        <a:t>COLLECTION</a:t>
                      </a:r>
                    </a:p>
                  </a:txBody>
                  <a:tcPr anchor="ctr">
                    <a:lnL>
                      <a:noFill/>
                    </a:lnL>
                    <a:lnR>
                      <a:noFill/>
                    </a:lnR>
                    <a:lnT>
                      <a:noFill/>
                    </a:lnT>
                    <a:lnB>
                      <a:noFill/>
                    </a:lnB>
                    <a:solidFill>
                      <a:schemeClr val="tx1">
                        <a:lumMod val="50000"/>
                        <a:lumOff val="50000"/>
                      </a:schemeClr>
                    </a:solidFill>
                  </a:tcPr>
                </a:tc>
                <a:tc>
                  <a:txBody>
                    <a:bodyPr/>
                    <a:lstStyle/>
                    <a:p>
                      <a:pPr>
                        <a:buNone/>
                      </a:pPr>
                      <a:r>
                        <a:rPr lang="en-US"/>
                        <a:t>EFALEVEL</a:t>
                      </a:r>
                    </a:p>
                  </a:txBody>
                  <a:tcPr anchor="ctr">
                    <a:lnL>
                      <a:noFill/>
                    </a:lnL>
                    <a:lnR>
                      <a:noFill/>
                    </a:lnR>
                    <a:lnT>
                      <a:noFill/>
                    </a:lnT>
                    <a:lnB>
                      <a:noFill/>
                    </a:lnB>
                    <a:solidFill>
                      <a:schemeClr val="tx1">
                        <a:lumMod val="50000"/>
                        <a:lumOff val="50000"/>
                      </a:schemeClr>
                    </a:solidFill>
                  </a:tcPr>
                </a:tc>
                <a:tc>
                  <a:txBody>
                    <a:bodyPr/>
                    <a:lstStyle/>
                    <a:p>
                      <a:pPr>
                        <a:buNone/>
                      </a:pPr>
                      <a:r>
                        <a:rPr lang="en-US"/>
                        <a:t>LINE</a:t>
                      </a:r>
                    </a:p>
                  </a:txBody>
                  <a:tcPr anchor="ctr">
                    <a:lnL>
                      <a:noFill/>
                    </a:lnL>
                    <a:lnR>
                      <a:noFill/>
                    </a:lnR>
                    <a:lnT>
                      <a:noFill/>
                    </a:lnT>
                    <a:lnB>
                      <a:noFill/>
                    </a:lnB>
                    <a:solidFill>
                      <a:schemeClr val="tx1">
                        <a:lumMod val="50000"/>
                        <a:lumOff val="50000"/>
                      </a:schemeClr>
                    </a:solidFill>
                  </a:tcPr>
                </a:tc>
                <a:tc>
                  <a:txBody>
                    <a:bodyPr/>
                    <a:lstStyle/>
                    <a:p>
                      <a:pPr>
                        <a:buNone/>
                      </a:pPr>
                      <a:r>
                        <a:rPr lang="en-US"/>
                        <a:t>SECTION</a:t>
                      </a:r>
                    </a:p>
                  </a:txBody>
                  <a:tcPr anchor="ctr">
                    <a:lnL>
                      <a:noFill/>
                    </a:lnL>
                    <a:lnR>
                      <a:noFill/>
                    </a:lnR>
                    <a:lnT>
                      <a:noFill/>
                    </a:lnT>
                    <a:lnB>
                      <a:noFill/>
                    </a:lnB>
                    <a:solidFill>
                      <a:schemeClr val="tx1">
                        <a:lumMod val="50000"/>
                        <a:lumOff val="50000"/>
                      </a:schemeClr>
                    </a:solidFill>
                  </a:tcPr>
                </a:tc>
                <a:tc>
                  <a:txBody>
                    <a:bodyPr/>
                    <a:lstStyle/>
                    <a:p>
                      <a:pPr>
                        <a:buNone/>
                      </a:pPr>
                      <a:r>
                        <a:rPr lang="en-US"/>
                        <a:t>EFTOTLM</a:t>
                      </a:r>
                    </a:p>
                  </a:txBody>
                  <a:tcPr anchor="ctr">
                    <a:lnL>
                      <a:noFill/>
                    </a:lnL>
                    <a:lnR>
                      <a:noFill/>
                    </a:lnR>
                    <a:lnT>
                      <a:noFill/>
                    </a:lnT>
                    <a:lnB>
                      <a:noFill/>
                    </a:lnB>
                    <a:solidFill>
                      <a:schemeClr val="tx1">
                        <a:lumMod val="50000"/>
                        <a:lumOff val="50000"/>
                      </a:schemeClr>
                    </a:solidFill>
                  </a:tcPr>
                </a:tc>
                <a:extLst>
                  <a:ext uri="{0D108BD9-81ED-4DB2-BD59-A6C34878D82A}">
                    <a16:rowId xmlns:a16="http://schemas.microsoft.com/office/drawing/2014/main" val="3691624269"/>
                  </a:ext>
                </a:extLst>
              </a:tr>
              <a:tr h="0">
                <a:tc>
                  <a:txBody>
                    <a:bodyPr/>
                    <a:lstStyle/>
                    <a:p>
                      <a:pPr>
                        <a:buNone/>
                      </a:pPr>
                      <a:r>
                        <a:rPr lang="en-US"/>
                        <a:t>156107</a:t>
                      </a:r>
                    </a:p>
                  </a:txBody>
                  <a:tcPr anchor="ctr">
                    <a:lnL>
                      <a:noFill/>
                    </a:lnL>
                    <a:lnR>
                      <a:noFill/>
                    </a:lnR>
                    <a:lnT>
                      <a:noFill/>
                    </a:lnT>
                    <a:lnB>
                      <a:noFill/>
                    </a:lnB>
                    <a:noFill/>
                  </a:tcPr>
                </a:tc>
                <a:tc>
                  <a:txBody>
                    <a:bodyPr/>
                    <a:lstStyle/>
                    <a:p>
                      <a:pPr>
                        <a:buNone/>
                      </a:pPr>
                      <a:r>
                        <a:rPr lang="en-US"/>
                        <a:t>2024</a:t>
                      </a:r>
                    </a:p>
                  </a:txBody>
                  <a:tcPr anchor="ctr">
                    <a:lnL>
                      <a:noFill/>
                    </a:lnL>
                    <a:lnR>
                      <a:noFill/>
                    </a:lnR>
                    <a:lnT>
                      <a:noFill/>
                    </a:lnT>
                    <a:lnB>
                      <a:noFill/>
                    </a:lnB>
                    <a:noFill/>
                  </a:tcPr>
                </a:tc>
                <a:tc>
                  <a:txBody>
                    <a:bodyPr/>
                    <a:lstStyle/>
                    <a:p>
                      <a:pPr>
                        <a:buNone/>
                      </a:pPr>
                      <a:r>
                        <a:rPr lang="en-US"/>
                        <a:t>1</a:t>
                      </a:r>
                    </a:p>
                  </a:txBody>
                  <a:tcPr anchor="ctr">
                    <a:lnL>
                      <a:noFill/>
                    </a:lnL>
                    <a:lnR>
                      <a:noFill/>
                    </a:lnR>
                    <a:lnT>
                      <a:noFill/>
                    </a:lnT>
                    <a:lnB>
                      <a:noFill/>
                    </a:lnB>
                    <a:noFill/>
                  </a:tcPr>
                </a:tc>
                <a:tc>
                  <a:txBody>
                    <a:bodyPr/>
                    <a:lstStyle/>
                    <a:p>
                      <a:pPr>
                        <a:buNone/>
                      </a:pPr>
                      <a:r>
                        <a:rPr lang="en-US"/>
                        <a:t>29</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a:buNone/>
                      </a:pPr>
                      <a:r>
                        <a:rPr lang="en-US"/>
                        <a:t>3136</a:t>
                      </a:r>
                      <a:endParaRPr lang="en-US" dirty="0"/>
                    </a:p>
                  </a:txBody>
                  <a:tcPr anchor="ctr">
                    <a:lnL>
                      <a:noFill/>
                    </a:lnL>
                    <a:lnR>
                      <a:noFill/>
                    </a:lnR>
                    <a:lnT>
                      <a:noFill/>
                    </a:lnT>
                    <a:lnB>
                      <a:noFill/>
                    </a:lnB>
                    <a:noFill/>
                  </a:tcPr>
                </a:tc>
                <a:extLst>
                  <a:ext uri="{0D108BD9-81ED-4DB2-BD59-A6C34878D82A}">
                    <a16:rowId xmlns:a16="http://schemas.microsoft.com/office/drawing/2014/main" val="1978664309"/>
                  </a:ext>
                </a:extLst>
              </a:tr>
              <a:tr h="0">
                <a:tc>
                  <a:txBody>
                    <a:bodyPr/>
                    <a:lstStyle/>
                    <a:p>
                      <a:pPr>
                        <a:buNone/>
                      </a:pPr>
                      <a:r>
                        <a:rPr lang="en-US"/>
                        <a:t>156107</a:t>
                      </a:r>
                    </a:p>
                  </a:txBody>
                  <a:tcPr anchor="ctr">
                    <a:lnL>
                      <a:noFill/>
                    </a:lnL>
                    <a:lnR>
                      <a:noFill/>
                    </a:lnR>
                    <a:lnT>
                      <a:noFill/>
                    </a:lnT>
                    <a:lnB>
                      <a:noFill/>
                    </a:lnB>
                    <a:noFill/>
                  </a:tcPr>
                </a:tc>
                <a:tc>
                  <a:txBody>
                    <a:bodyPr/>
                    <a:lstStyle/>
                    <a:p>
                      <a:pPr>
                        <a:buNone/>
                      </a:pPr>
                      <a:r>
                        <a:rPr lang="en-US"/>
                        <a:t>2023</a:t>
                      </a:r>
                    </a:p>
                  </a:txBody>
                  <a:tcPr anchor="ctr">
                    <a:lnL>
                      <a:noFill/>
                    </a:lnL>
                    <a:lnR>
                      <a:noFill/>
                    </a:lnR>
                    <a:lnT>
                      <a:noFill/>
                    </a:lnT>
                    <a:lnB>
                      <a:noFill/>
                    </a:lnB>
                    <a:noFill/>
                  </a:tcPr>
                </a:tc>
                <a:tc>
                  <a:txBody>
                    <a:bodyPr/>
                    <a:lstStyle/>
                    <a:p>
                      <a:pPr>
                        <a:buNone/>
                      </a:pPr>
                      <a:r>
                        <a:rPr lang="en-US"/>
                        <a:t>1</a:t>
                      </a:r>
                    </a:p>
                  </a:txBody>
                  <a:tcPr anchor="ctr">
                    <a:lnL>
                      <a:noFill/>
                    </a:lnL>
                    <a:lnR>
                      <a:noFill/>
                    </a:lnR>
                    <a:lnT>
                      <a:noFill/>
                    </a:lnT>
                    <a:lnB>
                      <a:noFill/>
                    </a:lnB>
                    <a:noFill/>
                  </a:tcPr>
                </a:tc>
                <a:tc>
                  <a:txBody>
                    <a:bodyPr/>
                    <a:lstStyle/>
                    <a:p>
                      <a:pPr>
                        <a:buNone/>
                      </a:pPr>
                      <a:r>
                        <a:rPr lang="en-US"/>
                        <a:t>29</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lvl="0">
                        <a:buNone/>
                      </a:pPr>
                      <a:r>
                        <a:rPr lang="en-US" sz="1800" b="0" i="0" u="none" strike="noStrike" noProof="0">
                          <a:solidFill>
                            <a:srgbClr val="0C2244"/>
                          </a:solidFill>
                          <a:latin typeface="Calibri"/>
                          <a:ea typeface="Calibri"/>
                          <a:cs typeface="Calibri"/>
                        </a:rPr>
                        <a:t>2923</a:t>
                      </a:r>
                      <a:endParaRPr lang="en-US" sz="1800" b="0" i="0" u="none" strike="noStrike" noProof="0" dirty="0">
                        <a:solidFill>
                          <a:srgbClr val="0C2244"/>
                        </a:solidFill>
                        <a:latin typeface="Calibri"/>
                        <a:ea typeface="Calibri"/>
                        <a:cs typeface="Calibri"/>
                      </a:endParaRPr>
                    </a:p>
                  </a:txBody>
                  <a:tcPr anchor="ctr">
                    <a:lnL>
                      <a:noFill/>
                    </a:lnL>
                    <a:lnR>
                      <a:noFill/>
                    </a:lnR>
                    <a:lnT>
                      <a:noFill/>
                    </a:lnT>
                    <a:lnB>
                      <a:noFill/>
                    </a:lnB>
                    <a:noFill/>
                  </a:tcPr>
                </a:tc>
                <a:extLst>
                  <a:ext uri="{0D108BD9-81ED-4DB2-BD59-A6C34878D82A}">
                    <a16:rowId xmlns:a16="http://schemas.microsoft.com/office/drawing/2014/main" val="4198715526"/>
                  </a:ext>
                </a:extLst>
              </a:tr>
              <a:tr h="0">
                <a:tc>
                  <a:txBody>
                    <a:bodyPr/>
                    <a:lstStyle/>
                    <a:p>
                      <a:pPr>
                        <a:buNone/>
                      </a:pPr>
                      <a:r>
                        <a:rPr lang="en-US"/>
                        <a:t>156107</a:t>
                      </a:r>
                    </a:p>
                  </a:txBody>
                  <a:tcPr anchor="ctr">
                    <a:lnL>
                      <a:noFill/>
                    </a:lnL>
                    <a:lnR>
                      <a:noFill/>
                    </a:lnR>
                    <a:lnT>
                      <a:noFill/>
                    </a:lnT>
                    <a:lnB>
                      <a:noFill/>
                    </a:lnB>
                    <a:noFill/>
                  </a:tcPr>
                </a:tc>
                <a:tc>
                  <a:txBody>
                    <a:bodyPr/>
                    <a:lstStyle/>
                    <a:p>
                      <a:pPr>
                        <a:buNone/>
                      </a:pPr>
                      <a:r>
                        <a:rPr lang="en-US"/>
                        <a:t>2022_rv</a:t>
                      </a:r>
                    </a:p>
                  </a:txBody>
                  <a:tcPr anchor="ctr">
                    <a:lnL>
                      <a:noFill/>
                    </a:lnL>
                    <a:lnR>
                      <a:noFill/>
                    </a:lnR>
                    <a:lnT>
                      <a:noFill/>
                    </a:lnT>
                    <a:lnB>
                      <a:noFill/>
                    </a:lnB>
                    <a:noFill/>
                  </a:tcPr>
                </a:tc>
                <a:tc>
                  <a:txBody>
                    <a:bodyPr/>
                    <a:lstStyle/>
                    <a:p>
                      <a:pPr>
                        <a:buNone/>
                      </a:pPr>
                      <a:r>
                        <a:rPr lang="en-US"/>
                        <a:t>1</a:t>
                      </a:r>
                    </a:p>
                  </a:txBody>
                  <a:tcPr anchor="ctr">
                    <a:lnL>
                      <a:noFill/>
                    </a:lnL>
                    <a:lnR>
                      <a:noFill/>
                    </a:lnR>
                    <a:lnT>
                      <a:noFill/>
                    </a:lnT>
                    <a:lnB>
                      <a:noFill/>
                    </a:lnB>
                    <a:noFill/>
                  </a:tcPr>
                </a:tc>
                <a:tc>
                  <a:txBody>
                    <a:bodyPr/>
                    <a:lstStyle/>
                    <a:p>
                      <a:pPr>
                        <a:buNone/>
                      </a:pPr>
                      <a:r>
                        <a:rPr lang="en-US"/>
                        <a:t>29</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lvl="0">
                        <a:buNone/>
                      </a:pPr>
                      <a:r>
                        <a:rPr lang="en-US" sz="1800" b="0" i="0" u="none" strike="noStrike" noProof="0">
                          <a:solidFill>
                            <a:srgbClr val="0C2244"/>
                          </a:solidFill>
                          <a:latin typeface="Calibri"/>
                          <a:ea typeface="Calibri"/>
                          <a:cs typeface="Calibri"/>
                        </a:rPr>
                        <a:t>2745</a:t>
                      </a:r>
                      <a:endParaRPr lang="en-US" sz="1800" b="0" i="0" u="none" strike="noStrike" noProof="0" dirty="0">
                        <a:solidFill>
                          <a:srgbClr val="0C2244"/>
                        </a:solidFill>
                        <a:latin typeface="Calibri"/>
                        <a:ea typeface="Calibri"/>
                        <a:cs typeface="Calibri"/>
                      </a:endParaRPr>
                    </a:p>
                  </a:txBody>
                  <a:tcPr anchor="ctr">
                    <a:lnL>
                      <a:noFill/>
                    </a:lnL>
                    <a:lnR>
                      <a:noFill/>
                    </a:lnR>
                    <a:lnT>
                      <a:noFill/>
                    </a:lnT>
                    <a:lnB>
                      <a:noFill/>
                    </a:lnB>
                    <a:noFill/>
                  </a:tcPr>
                </a:tc>
                <a:extLst>
                  <a:ext uri="{0D108BD9-81ED-4DB2-BD59-A6C34878D82A}">
                    <a16:rowId xmlns:a16="http://schemas.microsoft.com/office/drawing/2014/main" val="3434612371"/>
                  </a:ext>
                </a:extLst>
              </a:tr>
              <a:tr h="365759">
                <a:tc>
                  <a:txBody>
                    <a:bodyPr/>
                    <a:lstStyle/>
                    <a:p>
                      <a:pPr>
                        <a:buNone/>
                      </a:pPr>
                      <a:r>
                        <a:rPr lang="en-US"/>
                        <a:t>156107</a:t>
                      </a:r>
                    </a:p>
                  </a:txBody>
                  <a:tcPr anchor="ctr">
                    <a:lnL>
                      <a:noFill/>
                    </a:lnL>
                    <a:lnR>
                      <a:noFill/>
                    </a:lnR>
                    <a:lnT>
                      <a:noFill/>
                    </a:lnT>
                    <a:lnB>
                      <a:noFill/>
                    </a:lnB>
                    <a:noFill/>
                  </a:tcPr>
                </a:tc>
                <a:tc>
                  <a:txBody>
                    <a:bodyPr/>
                    <a:lstStyle/>
                    <a:p>
                      <a:pPr>
                        <a:buNone/>
                      </a:pPr>
                      <a:r>
                        <a:rPr lang="en-US"/>
                        <a:t>2021_rv</a:t>
                      </a:r>
                    </a:p>
                  </a:txBody>
                  <a:tcPr anchor="ctr">
                    <a:lnL>
                      <a:noFill/>
                    </a:lnL>
                    <a:lnR>
                      <a:noFill/>
                    </a:lnR>
                    <a:lnT>
                      <a:noFill/>
                    </a:lnT>
                    <a:lnB>
                      <a:noFill/>
                    </a:lnB>
                    <a:noFill/>
                  </a:tcPr>
                </a:tc>
                <a:tc>
                  <a:txBody>
                    <a:bodyPr/>
                    <a:lstStyle/>
                    <a:p>
                      <a:pPr>
                        <a:buNone/>
                      </a:pPr>
                      <a:r>
                        <a:rPr lang="en-US"/>
                        <a:t>1</a:t>
                      </a:r>
                    </a:p>
                  </a:txBody>
                  <a:tcPr anchor="ctr">
                    <a:lnL>
                      <a:noFill/>
                    </a:lnL>
                    <a:lnR>
                      <a:noFill/>
                    </a:lnR>
                    <a:lnT>
                      <a:noFill/>
                    </a:lnT>
                    <a:lnB>
                      <a:noFill/>
                    </a:lnB>
                    <a:noFill/>
                  </a:tcPr>
                </a:tc>
                <a:tc>
                  <a:txBody>
                    <a:bodyPr/>
                    <a:lstStyle/>
                    <a:p>
                      <a:pPr>
                        <a:buNone/>
                      </a:pPr>
                      <a:r>
                        <a:rPr lang="en-US"/>
                        <a:t>29</a:t>
                      </a:r>
                    </a:p>
                  </a:txBody>
                  <a:tcPr anchor="ctr">
                    <a:lnL>
                      <a:noFill/>
                    </a:lnL>
                    <a:lnR>
                      <a:noFill/>
                    </a:lnR>
                    <a:lnT>
                      <a:noFill/>
                    </a:lnT>
                    <a:lnB>
                      <a:noFill/>
                    </a:lnB>
                    <a:noFill/>
                  </a:tcPr>
                </a:tc>
                <a:tc>
                  <a:txBody>
                    <a:bodyPr/>
                    <a:lstStyle/>
                    <a:p>
                      <a:pPr>
                        <a:buNone/>
                      </a:pPr>
                      <a:r>
                        <a:rPr lang="en-US"/>
                        <a:t>3</a:t>
                      </a:r>
                    </a:p>
                  </a:txBody>
                  <a:tcPr anchor="ctr">
                    <a:lnL>
                      <a:noFill/>
                    </a:lnL>
                    <a:lnR>
                      <a:noFill/>
                    </a:lnR>
                    <a:lnT>
                      <a:noFill/>
                    </a:lnT>
                    <a:lnB>
                      <a:noFill/>
                    </a:lnB>
                    <a:noFill/>
                  </a:tcPr>
                </a:tc>
                <a:tc>
                  <a:txBody>
                    <a:bodyPr/>
                    <a:lstStyle/>
                    <a:p>
                      <a:pPr lvl="0">
                        <a:buNone/>
                      </a:pPr>
                      <a:r>
                        <a:rPr lang="en-US" sz="1800" b="0" i="0" u="none" strike="noStrike" noProof="0">
                          <a:solidFill>
                            <a:srgbClr val="0C2244"/>
                          </a:solidFill>
                          <a:latin typeface="Calibri"/>
                          <a:ea typeface="Calibri"/>
                          <a:cs typeface="Calibri"/>
                        </a:rPr>
                        <a:t>2573</a:t>
                      </a:r>
                      <a:endParaRPr lang="en-US" sz="1800" b="0" i="0" u="none" strike="noStrike" noProof="0" dirty="0">
                        <a:solidFill>
                          <a:srgbClr val="0C2244"/>
                        </a:solidFill>
                        <a:latin typeface="Calibri"/>
                        <a:ea typeface="Calibri"/>
                        <a:cs typeface="Calibri"/>
                      </a:endParaRPr>
                    </a:p>
                  </a:txBody>
                  <a:tcPr anchor="ctr">
                    <a:lnL>
                      <a:noFill/>
                    </a:lnL>
                    <a:lnR>
                      <a:noFill/>
                    </a:lnR>
                    <a:lnT>
                      <a:noFill/>
                    </a:lnT>
                    <a:lnB>
                      <a:noFill/>
                    </a:lnB>
                    <a:noFill/>
                  </a:tcPr>
                </a:tc>
                <a:extLst>
                  <a:ext uri="{0D108BD9-81ED-4DB2-BD59-A6C34878D82A}">
                    <a16:rowId xmlns:a16="http://schemas.microsoft.com/office/drawing/2014/main" val="4269509005"/>
                  </a:ext>
                </a:extLst>
              </a:tr>
            </a:tbl>
          </a:graphicData>
        </a:graphic>
      </p:graphicFrame>
    </p:spTree>
    <p:extLst>
      <p:ext uri="{BB962C8B-B14F-4D97-AF65-F5344CB8AC3E}">
        <p14:creationId xmlns:p14="http://schemas.microsoft.com/office/powerpoint/2010/main" val="4125180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A1579-F4E9-65BE-1562-9C9A9970B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662FBF-0E0A-D1B3-563A-AB41CA4DC473}"/>
              </a:ext>
            </a:extLst>
          </p:cNvPr>
          <p:cNvSpPr>
            <a:spLocks noGrp="1"/>
          </p:cNvSpPr>
          <p:nvPr>
            <p:ph type="title"/>
          </p:nvPr>
        </p:nvSpPr>
        <p:spPr/>
        <p:txBody>
          <a:bodyPr/>
          <a:lstStyle/>
          <a:p>
            <a:r>
              <a:rPr lang="en-US" dirty="0"/>
              <a:t>Create a Benchmarking Data Store</a:t>
            </a:r>
          </a:p>
        </p:txBody>
      </p:sp>
      <p:sp>
        <p:nvSpPr>
          <p:cNvPr id="3" name="Content Placeholder 2">
            <a:extLst>
              <a:ext uri="{FF2B5EF4-FFF2-40B4-BE49-F238E27FC236}">
                <a16:creationId xmlns:a16="http://schemas.microsoft.com/office/drawing/2014/main" id="{004B83D5-E979-95BD-EB4D-B9F247ABF68E}"/>
              </a:ext>
            </a:extLst>
          </p:cNvPr>
          <p:cNvSpPr>
            <a:spLocks noGrp="1"/>
          </p:cNvSpPr>
          <p:nvPr>
            <p:ph idx="1"/>
          </p:nvPr>
        </p:nvSpPr>
        <p:spPr/>
        <p:txBody>
          <a:bodyPr vert="horz" lIns="91440" tIns="45720" rIns="91440" bIns="45720" rtlCol="0" anchor="t">
            <a:noAutofit/>
          </a:bodyPr>
          <a:lstStyle/>
          <a:p>
            <a:r>
              <a:rPr lang="en-US" b="1"/>
              <a:t>Structure the Data</a:t>
            </a:r>
            <a:endParaRPr lang="en-US" b="1" dirty="0"/>
          </a:p>
          <a:p>
            <a:r>
              <a:rPr lang="en-US" dirty="0"/>
              <a:t>Lastly, we put together our defined metrics using all needed surveys and collections.</a:t>
            </a:r>
            <a:endParaRPr lang="en-US" dirty="0">
              <a:ea typeface="Calibri"/>
              <a:cs typeface="Calibri"/>
            </a:endParaRPr>
          </a:p>
          <a:p>
            <a:pPr marL="457200" indent="-457200">
              <a:buAutoNum type="arabicPeriod"/>
            </a:pPr>
            <a:r>
              <a:rPr lang="en-US" dirty="0">
                <a:ea typeface="Calibri"/>
                <a:cs typeface="Calibri"/>
              </a:rPr>
              <a:t>If needed, different surveys can now be joined on </a:t>
            </a:r>
            <a:r>
              <a:rPr lang="en-US">
                <a:ea typeface="Calibri"/>
                <a:cs typeface="Calibri"/>
              </a:rPr>
              <a:t> UNITID </a:t>
            </a:r>
            <a:r>
              <a:rPr lang="en-US" dirty="0">
                <a:ea typeface="Calibri"/>
                <a:cs typeface="Calibri"/>
              </a:rPr>
              <a:t>(institution id) and collection year (self-defined).</a:t>
            </a:r>
          </a:p>
          <a:p>
            <a:pPr marL="457200" indent="-457200">
              <a:buAutoNum type="arabicPeriod"/>
            </a:pPr>
            <a:r>
              <a:rPr lang="en-US" dirty="0">
                <a:ea typeface="Calibri"/>
                <a:cs typeface="Calibri"/>
              </a:rPr>
              <a:t>Calculate the metric with the necessary IPEDS </a:t>
            </a:r>
            <a:r>
              <a:rPr lang="en-US">
                <a:ea typeface="Calibri"/>
                <a:cs typeface="Calibri"/>
              </a:rPr>
              <a:t>variables.</a:t>
            </a:r>
            <a:endParaRPr lang="en-US" dirty="0">
              <a:ea typeface="Calibri"/>
              <a:cs typeface="Calibri"/>
            </a:endParaRPr>
          </a:p>
          <a:p>
            <a:pPr marL="457200" indent="-457200">
              <a:buAutoNum type="arabicPeriod"/>
            </a:pPr>
            <a:r>
              <a:rPr lang="en-US" dirty="0">
                <a:ea typeface="Calibri"/>
                <a:cs typeface="Calibri"/>
              </a:rPr>
              <a:t>Some surveys may need to be prefiltered to certain codes. We made sure each join was only between tables that had one row per school per </a:t>
            </a:r>
            <a:r>
              <a:rPr lang="en-US">
                <a:ea typeface="Calibri"/>
                <a:cs typeface="Calibri"/>
              </a:rPr>
              <a:t>collection year.</a:t>
            </a:r>
            <a:endParaRPr lang="en-US" dirty="0">
              <a:ea typeface="Calibri"/>
              <a:cs typeface="Calibri"/>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4143772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64BBD-9D84-043B-3720-431A7B0A71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65109F-AAE0-94BD-E7D9-B9F5E5337452}"/>
              </a:ext>
            </a:extLst>
          </p:cNvPr>
          <p:cNvSpPr>
            <a:spLocks noGrp="1"/>
          </p:cNvSpPr>
          <p:nvPr>
            <p:ph type="title"/>
          </p:nvPr>
        </p:nvSpPr>
        <p:spPr/>
        <p:txBody>
          <a:bodyPr/>
          <a:lstStyle/>
          <a:p>
            <a:r>
              <a:rPr lang="en-US" dirty="0"/>
              <a:t>Create a Benchmarking Data Store</a:t>
            </a:r>
          </a:p>
        </p:txBody>
      </p:sp>
      <p:sp>
        <p:nvSpPr>
          <p:cNvPr id="3" name="Content Placeholder 2">
            <a:extLst>
              <a:ext uri="{FF2B5EF4-FFF2-40B4-BE49-F238E27FC236}">
                <a16:creationId xmlns:a16="http://schemas.microsoft.com/office/drawing/2014/main" id="{ED8668C3-CE5F-D3DA-7991-81AE1EC78CAF}"/>
              </a:ext>
            </a:extLst>
          </p:cNvPr>
          <p:cNvSpPr>
            <a:spLocks noGrp="1"/>
          </p:cNvSpPr>
          <p:nvPr>
            <p:ph idx="1"/>
          </p:nvPr>
        </p:nvSpPr>
        <p:spPr>
          <a:xfrm>
            <a:off x="838200" y="1834917"/>
            <a:ext cx="10515600" cy="504168"/>
          </a:xfrm>
        </p:spPr>
        <p:txBody>
          <a:bodyPr vert="horz" lIns="91440" tIns="45720" rIns="91440" bIns="45720" rtlCol="0" anchor="t">
            <a:noAutofit/>
          </a:bodyPr>
          <a:lstStyle/>
          <a:p>
            <a:r>
              <a:rPr lang="en-US" b="1"/>
              <a:t>Example Calculations</a:t>
            </a:r>
            <a:endParaRPr lang="en-US" b="1" dirty="0"/>
          </a:p>
          <a:p>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pic>
        <p:nvPicPr>
          <p:cNvPr id="10" name="Picture 9" descr="A yellow rectangular sign with black text&#10;&#10;AI-generated content may be incorrect.">
            <a:extLst>
              <a:ext uri="{FF2B5EF4-FFF2-40B4-BE49-F238E27FC236}">
                <a16:creationId xmlns:a16="http://schemas.microsoft.com/office/drawing/2014/main" id="{BB9FE26A-E55A-851C-9134-381DE7F67BA4}"/>
              </a:ext>
            </a:extLst>
          </p:cNvPr>
          <p:cNvPicPr>
            <a:picLocks noChangeAspect="1"/>
          </p:cNvPicPr>
          <p:nvPr/>
        </p:nvPicPr>
        <p:blipFill>
          <a:blip r:embed="rId2"/>
          <a:stretch>
            <a:fillRect/>
          </a:stretch>
        </p:blipFill>
        <p:spPr>
          <a:xfrm>
            <a:off x="2104676" y="4258953"/>
            <a:ext cx="2518550" cy="1499607"/>
          </a:xfrm>
          <a:prstGeom prst="rect">
            <a:avLst/>
          </a:prstGeom>
        </p:spPr>
      </p:pic>
      <p:pic>
        <p:nvPicPr>
          <p:cNvPr id="11" name="Picture 10" descr="A black rectangle with white text&#10;&#10;AI-generated content may be incorrect.">
            <a:extLst>
              <a:ext uri="{FF2B5EF4-FFF2-40B4-BE49-F238E27FC236}">
                <a16:creationId xmlns:a16="http://schemas.microsoft.com/office/drawing/2014/main" id="{C39F6B8C-0B71-3F94-50F3-0CC331035B98}"/>
              </a:ext>
            </a:extLst>
          </p:cNvPr>
          <p:cNvPicPr>
            <a:picLocks noChangeAspect="1"/>
          </p:cNvPicPr>
          <p:nvPr/>
        </p:nvPicPr>
        <p:blipFill>
          <a:blip r:embed="rId3"/>
          <a:stretch>
            <a:fillRect/>
          </a:stretch>
        </p:blipFill>
        <p:spPr>
          <a:xfrm>
            <a:off x="2104676" y="3972274"/>
            <a:ext cx="2518550" cy="372405"/>
          </a:xfrm>
          <a:prstGeom prst="rect">
            <a:avLst/>
          </a:prstGeom>
        </p:spPr>
      </p:pic>
      <p:sp>
        <p:nvSpPr>
          <p:cNvPr id="13" name="Content Placeholder 2">
            <a:extLst>
              <a:ext uri="{FF2B5EF4-FFF2-40B4-BE49-F238E27FC236}">
                <a16:creationId xmlns:a16="http://schemas.microsoft.com/office/drawing/2014/main" id="{2CD422D6-323E-EC56-07A9-A1C249520A0F}"/>
              </a:ext>
            </a:extLst>
          </p:cNvPr>
          <p:cNvSpPr txBox="1">
            <a:spLocks/>
          </p:cNvSpPr>
          <p:nvPr/>
        </p:nvSpPr>
        <p:spPr>
          <a:xfrm>
            <a:off x="2012795" y="3167487"/>
            <a:ext cx="2403088" cy="504168"/>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Source: </a:t>
            </a:r>
            <a:r>
              <a:rPr lang="en-US"/>
              <a:t>EF20##D</a:t>
            </a:r>
            <a:endParaRPr lang="en-US">
              <a:ea typeface="Calibri"/>
              <a:cs typeface="Calibri"/>
            </a:endParaRPr>
          </a:p>
          <a:p>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pic>
        <p:nvPicPr>
          <p:cNvPr id="14" name="Picture 13" descr="A yellow rectangular sign with black text&#10;&#10;AI-generated content may be incorrect.">
            <a:extLst>
              <a:ext uri="{FF2B5EF4-FFF2-40B4-BE49-F238E27FC236}">
                <a16:creationId xmlns:a16="http://schemas.microsoft.com/office/drawing/2014/main" id="{3418597E-3318-87AF-5DC9-FE9DC9600D2F}"/>
              </a:ext>
            </a:extLst>
          </p:cNvPr>
          <p:cNvPicPr>
            <a:picLocks noChangeAspect="1"/>
          </p:cNvPicPr>
          <p:nvPr/>
        </p:nvPicPr>
        <p:blipFill>
          <a:blip r:embed="rId4"/>
          <a:stretch>
            <a:fillRect/>
          </a:stretch>
        </p:blipFill>
        <p:spPr>
          <a:xfrm>
            <a:off x="5143384" y="4286831"/>
            <a:ext cx="2453501" cy="1471729"/>
          </a:xfrm>
          <a:prstGeom prst="rect">
            <a:avLst/>
          </a:prstGeom>
        </p:spPr>
      </p:pic>
      <p:pic>
        <p:nvPicPr>
          <p:cNvPr id="16" name="Picture 15" descr="A black and white sign with white text&#10;&#10;AI-generated content may be incorrect.">
            <a:extLst>
              <a:ext uri="{FF2B5EF4-FFF2-40B4-BE49-F238E27FC236}">
                <a16:creationId xmlns:a16="http://schemas.microsoft.com/office/drawing/2014/main" id="{42C3F0BC-5985-B05D-2703-4AC420E02F9B}"/>
              </a:ext>
            </a:extLst>
          </p:cNvPr>
          <p:cNvPicPr>
            <a:picLocks noChangeAspect="1"/>
          </p:cNvPicPr>
          <p:nvPr/>
        </p:nvPicPr>
        <p:blipFill>
          <a:blip r:embed="rId5"/>
          <a:stretch>
            <a:fillRect/>
          </a:stretch>
        </p:blipFill>
        <p:spPr>
          <a:xfrm>
            <a:off x="5143384" y="3972274"/>
            <a:ext cx="2453501" cy="363112"/>
          </a:xfrm>
          <a:prstGeom prst="rect">
            <a:avLst/>
          </a:prstGeom>
        </p:spPr>
      </p:pic>
      <p:sp>
        <p:nvSpPr>
          <p:cNvPr id="17" name="Content Placeholder 2">
            <a:extLst>
              <a:ext uri="{FF2B5EF4-FFF2-40B4-BE49-F238E27FC236}">
                <a16:creationId xmlns:a16="http://schemas.microsoft.com/office/drawing/2014/main" id="{F902632F-77B8-0527-440A-C67F784CCBAB}"/>
              </a:ext>
            </a:extLst>
          </p:cNvPr>
          <p:cNvSpPr txBox="1">
            <a:spLocks/>
          </p:cNvSpPr>
          <p:nvPr/>
        </p:nvSpPr>
        <p:spPr>
          <a:xfrm>
            <a:off x="5153722" y="2925877"/>
            <a:ext cx="2458844" cy="99668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Source: </a:t>
            </a:r>
            <a:r>
              <a:rPr lang="en-US" dirty="0"/>
              <a:t>C20##_B </a:t>
            </a:r>
            <a:r>
              <a:rPr lang="en-US"/>
              <a:t>joined F2#2#_F1A</a:t>
            </a:r>
            <a:endParaRPr lang="en-US">
              <a:ea typeface="Calibri"/>
              <a:cs typeface="Calibri"/>
            </a:endParaRPr>
          </a:p>
          <a:p>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pic>
        <p:nvPicPr>
          <p:cNvPr id="18" name="Picture 17" descr="A yellow rectangular sign with black text&#10;&#10;AI-generated content may be incorrect.">
            <a:extLst>
              <a:ext uri="{FF2B5EF4-FFF2-40B4-BE49-F238E27FC236}">
                <a16:creationId xmlns:a16="http://schemas.microsoft.com/office/drawing/2014/main" id="{C6D22756-54B2-C2F4-F1D9-31F0900054C6}"/>
              </a:ext>
            </a:extLst>
          </p:cNvPr>
          <p:cNvPicPr>
            <a:picLocks noChangeAspect="1"/>
          </p:cNvPicPr>
          <p:nvPr/>
        </p:nvPicPr>
        <p:blipFill>
          <a:blip r:embed="rId6"/>
          <a:stretch>
            <a:fillRect/>
          </a:stretch>
        </p:blipFill>
        <p:spPr>
          <a:xfrm>
            <a:off x="8112280" y="4305417"/>
            <a:ext cx="2444441" cy="1453144"/>
          </a:xfrm>
          <a:prstGeom prst="rect">
            <a:avLst/>
          </a:prstGeom>
        </p:spPr>
      </p:pic>
      <p:pic>
        <p:nvPicPr>
          <p:cNvPr id="19" name="Picture 18" descr="A black and white sign with white text&#10;&#10;AI-generated content may be incorrect.">
            <a:extLst>
              <a:ext uri="{FF2B5EF4-FFF2-40B4-BE49-F238E27FC236}">
                <a16:creationId xmlns:a16="http://schemas.microsoft.com/office/drawing/2014/main" id="{D52EE454-F559-383D-3ABB-1B19F7C75048}"/>
              </a:ext>
            </a:extLst>
          </p:cNvPr>
          <p:cNvPicPr>
            <a:picLocks noChangeAspect="1"/>
          </p:cNvPicPr>
          <p:nvPr/>
        </p:nvPicPr>
        <p:blipFill>
          <a:blip r:embed="rId7"/>
          <a:stretch>
            <a:fillRect/>
          </a:stretch>
        </p:blipFill>
        <p:spPr>
          <a:xfrm>
            <a:off x="8112280" y="3990859"/>
            <a:ext cx="2444441" cy="353819"/>
          </a:xfrm>
          <a:prstGeom prst="rect">
            <a:avLst/>
          </a:prstGeom>
        </p:spPr>
      </p:pic>
      <p:sp>
        <p:nvSpPr>
          <p:cNvPr id="20" name="Content Placeholder 2">
            <a:extLst>
              <a:ext uri="{FF2B5EF4-FFF2-40B4-BE49-F238E27FC236}">
                <a16:creationId xmlns:a16="http://schemas.microsoft.com/office/drawing/2014/main" id="{019C4EBB-B8DA-893D-9ADB-BCC79731D6A6}"/>
              </a:ext>
            </a:extLst>
          </p:cNvPr>
          <p:cNvSpPr txBox="1">
            <a:spLocks/>
          </p:cNvSpPr>
          <p:nvPr/>
        </p:nvSpPr>
        <p:spPr>
          <a:xfrm>
            <a:off x="8108795" y="3167487"/>
            <a:ext cx="2458844" cy="996680"/>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t>Source: </a:t>
            </a:r>
            <a:r>
              <a:rPr lang="en-US"/>
              <a:t> GR20##</a:t>
            </a:r>
            <a:endParaRPr lang="en-US">
              <a:ea typeface="Calibri"/>
              <a:cs typeface="Calibri"/>
            </a:endParaRPr>
          </a:p>
          <a:p>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1864246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B871E6-24DA-9261-41FD-294A56CE49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54D90-C640-9F67-E948-1225BF551B9B}"/>
              </a:ext>
            </a:extLst>
          </p:cNvPr>
          <p:cNvSpPr>
            <a:spLocks noGrp="1"/>
          </p:cNvSpPr>
          <p:nvPr>
            <p:ph type="title"/>
          </p:nvPr>
        </p:nvSpPr>
        <p:spPr/>
        <p:txBody>
          <a:bodyPr/>
          <a:lstStyle/>
          <a:p>
            <a:r>
              <a:rPr lang="en-US" dirty="0"/>
              <a:t>Create a Benchmarking Data Store</a:t>
            </a:r>
          </a:p>
        </p:txBody>
      </p:sp>
      <p:sp>
        <p:nvSpPr>
          <p:cNvPr id="3" name="Content Placeholder 2">
            <a:extLst>
              <a:ext uri="{FF2B5EF4-FFF2-40B4-BE49-F238E27FC236}">
                <a16:creationId xmlns:a16="http://schemas.microsoft.com/office/drawing/2014/main" id="{663E2A69-105A-B6C0-E898-893C940F7E1B}"/>
              </a:ext>
            </a:extLst>
          </p:cNvPr>
          <p:cNvSpPr>
            <a:spLocks noGrp="1"/>
          </p:cNvSpPr>
          <p:nvPr>
            <p:ph idx="1"/>
          </p:nvPr>
        </p:nvSpPr>
        <p:spPr/>
        <p:txBody>
          <a:bodyPr vert="horz" lIns="91440" tIns="45720" rIns="91440" bIns="45720" rtlCol="0" anchor="t">
            <a:noAutofit/>
          </a:bodyPr>
          <a:lstStyle/>
          <a:p>
            <a:r>
              <a:rPr lang="en-US" b="1" dirty="0"/>
              <a:t>End Result</a:t>
            </a:r>
          </a:p>
          <a:p>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graphicFrame>
        <p:nvGraphicFramePr>
          <p:cNvPr id="5" name="Table 4">
            <a:extLst>
              <a:ext uri="{FF2B5EF4-FFF2-40B4-BE49-F238E27FC236}">
                <a16:creationId xmlns:a16="http://schemas.microsoft.com/office/drawing/2014/main" id="{B37EFD38-EA7F-AFF3-BAFB-92BE16B743B0}"/>
              </a:ext>
            </a:extLst>
          </p:cNvPr>
          <p:cNvGraphicFramePr>
            <a:graphicFrameLocks noGrp="1"/>
          </p:cNvGraphicFramePr>
          <p:nvPr>
            <p:extLst>
              <p:ext uri="{D42A27DB-BD31-4B8C-83A1-F6EECF244321}">
                <p14:modId xmlns:p14="http://schemas.microsoft.com/office/powerpoint/2010/main" val="1913509006"/>
              </p:ext>
            </p:extLst>
          </p:nvPr>
        </p:nvGraphicFramePr>
        <p:xfrm>
          <a:off x="0" y="2646928"/>
          <a:ext cx="12192000" cy="2103120"/>
        </p:xfrm>
        <a:graphic>
          <a:graphicData uri="http://schemas.openxmlformats.org/drawingml/2006/table">
            <a:tbl>
              <a:tblPr bandRow="1">
                <a:tableStyleId>{5C22544A-7EE6-4342-B048-85BDC9FD1C3A}</a:tableStyleId>
              </a:tblPr>
              <a:tblGrid>
                <a:gridCol w="2438400">
                  <a:extLst>
                    <a:ext uri="{9D8B030D-6E8A-4147-A177-3AD203B41FA5}">
                      <a16:colId xmlns:a16="http://schemas.microsoft.com/office/drawing/2014/main" val="3466346260"/>
                    </a:ext>
                  </a:extLst>
                </a:gridCol>
                <a:gridCol w="2438400">
                  <a:extLst>
                    <a:ext uri="{9D8B030D-6E8A-4147-A177-3AD203B41FA5}">
                      <a16:colId xmlns:a16="http://schemas.microsoft.com/office/drawing/2014/main" val="2719631386"/>
                    </a:ext>
                  </a:extLst>
                </a:gridCol>
                <a:gridCol w="2438400">
                  <a:extLst>
                    <a:ext uri="{9D8B030D-6E8A-4147-A177-3AD203B41FA5}">
                      <a16:colId xmlns:a16="http://schemas.microsoft.com/office/drawing/2014/main" val="4259783006"/>
                    </a:ext>
                  </a:extLst>
                </a:gridCol>
                <a:gridCol w="2438400">
                  <a:extLst>
                    <a:ext uri="{9D8B030D-6E8A-4147-A177-3AD203B41FA5}">
                      <a16:colId xmlns:a16="http://schemas.microsoft.com/office/drawing/2014/main" val="2989516191"/>
                    </a:ext>
                  </a:extLst>
                </a:gridCol>
                <a:gridCol w="2438400">
                  <a:extLst>
                    <a:ext uri="{9D8B030D-6E8A-4147-A177-3AD203B41FA5}">
                      <a16:colId xmlns:a16="http://schemas.microsoft.com/office/drawing/2014/main" val="646534034"/>
                    </a:ext>
                  </a:extLst>
                </a:gridCol>
              </a:tblGrid>
              <a:tr h="0">
                <a:tc>
                  <a:txBody>
                    <a:bodyPr/>
                    <a:lstStyle/>
                    <a:p>
                      <a:pPr>
                        <a:buNone/>
                      </a:pPr>
                      <a:r>
                        <a:rPr lang="en-US" b="1"/>
                        <a:t>Institution ID</a:t>
                      </a:r>
                    </a:p>
                  </a:txBody>
                  <a:tcPr anchor="ctr">
                    <a:lnL>
                      <a:noFill/>
                    </a:lnL>
                    <a:lnR>
                      <a:noFill/>
                    </a:lnR>
                    <a:lnT>
                      <a:noFill/>
                    </a:lnT>
                    <a:lnB>
                      <a:noFill/>
                    </a:lnB>
                    <a:solidFill>
                      <a:schemeClr val="bg1">
                        <a:lumMod val="50000"/>
                        <a:lumOff val="50000"/>
                      </a:schemeClr>
                    </a:solidFill>
                  </a:tcPr>
                </a:tc>
                <a:tc>
                  <a:txBody>
                    <a:bodyPr/>
                    <a:lstStyle/>
                    <a:p>
                      <a:pPr>
                        <a:buNone/>
                      </a:pPr>
                      <a:r>
                        <a:rPr lang="en-US" b="1"/>
                        <a:t>Year</a:t>
                      </a:r>
                    </a:p>
                  </a:txBody>
                  <a:tcPr anchor="ctr">
                    <a:lnL>
                      <a:noFill/>
                    </a:lnL>
                    <a:lnR>
                      <a:noFill/>
                    </a:lnR>
                    <a:lnT>
                      <a:noFill/>
                    </a:lnT>
                    <a:lnB>
                      <a:noFill/>
                    </a:lnB>
                    <a:solidFill>
                      <a:schemeClr val="bg1">
                        <a:lumMod val="50000"/>
                        <a:lumOff val="50000"/>
                      </a:schemeClr>
                    </a:solidFill>
                  </a:tcPr>
                </a:tc>
                <a:tc>
                  <a:txBody>
                    <a:bodyPr/>
                    <a:lstStyle/>
                    <a:p>
                      <a:pPr>
                        <a:buNone/>
                      </a:pPr>
                      <a:r>
                        <a:rPr lang="en-US" b="1"/>
                        <a:t>First-Year Retention Rate</a:t>
                      </a:r>
                    </a:p>
                  </a:txBody>
                  <a:tcPr anchor="ctr">
                    <a:lnL>
                      <a:noFill/>
                    </a:lnL>
                    <a:lnR>
                      <a:noFill/>
                    </a:lnR>
                    <a:lnT>
                      <a:noFill/>
                    </a:lnT>
                    <a:lnB>
                      <a:noFill/>
                    </a:lnB>
                    <a:solidFill>
                      <a:schemeClr val="bg1">
                        <a:lumMod val="50000"/>
                        <a:lumOff val="50000"/>
                      </a:schemeClr>
                    </a:solidFill>
                  </a:tcPr>
                </a:tc>
                <a:tc>
                  <a:txBody>
                    <a:bodyPr/>
                    <a:lstStyle/>
                    <a:p>
                      <a:pPr>
                        <a:buNone/>
                      </a:pPr>
                      <a:r>
                        <a:rPr lang="en-US" b="1"/>
                        <a:t>Outcome Efficiency Index</a:t>
                      </a:r>
                    </a:p>
                  </a:txBody>
                  <a:tcPr anchor="ctr">
                    <a:lnL>
                      <a:noFill/>
                    </a:lnL>
                    <a:lnR>
                      <a:noFill/>
                    </a:lnR>
                    <a:lnT>
                      <a:noFill/>
                    </a:lnT>
                    <a:lnB>
                      <a:noFill/>
                    </a:lnB>
                    <a:solidFill>
                      <a:schemeClr val="bg1">
                        <a:lumMod val="50000"/>
                        <a:lumOff val="50000"/>
                      </a:schemeClr>
                    </a:solidFill>
                  </a:tcPr>
                </a:tc>
                <a:tc>
                  <a:txBody>
                    <a:bodyPr/>
                    <a:lstStyle/>
                    <a:p>
                      <a:pPr>
                        <a:buNone/>
                      </a:pPr>
                      <a:r>
                        <a:rPr lang="en-US" b="1"/>
                        <a:t>150% Graduation Rate</a:t>
                      </a:r>
                    </a:p>
                  </a:txBody>
                  <a:tcPr anchor="ctr">
                    <a:lnL>
                      <a:noFill/>
                    </a:lnL>
                    <a:lnR>
                      <a:noFill/>
                    </a:lnR>
                    <a:lnT>
                      <a:noFill/>
                    </a:lnT>
                    <a:lnB>
                      <a:noFill/>
                    </a:lnB>
                    <a:solidFill>
                      <a:schemeClr val="bg1">
                        <a:lumMod val="50000"/>
                        <a:lumOff val="50000"/>
                      </a:schemeClr>
                    </a:solidFill>
                  </a:tcPr>
                </a:tc>
                <a:extLst>
                  <a:ext uri="{0D108BD9-81ED-4DB2-BD59-A6C34878D82A}">
                    <a16:rowId xmlns:a16="http://schemas.microsoft.com/office/drawing/2014/main" val="3376993963"/>
                  </a:ext>
                </a:extLst>
              </a:tr>
              <a:tr h="0">
                <a:tc>
                  <a:txBody>
                    <a:bodyPr/>
                    <a:lstStyle/>
                    <a:p>
                      <a:pPr>
                        <a:buNone/>
                      </a:pPr>
                      <a:r>
                        <a:rPr lang="en-US"/>
                        <a:t>156107</a:t>
                      </a:r>
                    </a:p>
                  </a:txBody>
                  <a:tcPr anchor="ctr">
                    <a:lnL>
                      <a:noFill/>
                    </a:lnL>
                    <a:lnR>
                      <a:noFill/>
                    </a:lnR>
                    <a:lnT>
                      <a:noFill/>
                    </a:lnT>
                    <a:lnB>
                      <a:noFill/>
                    </a:lnB>
                    <a:noFill/>
                  </a:tcPr>
                </a:tc>
                <a:tc>
                  <a:txBody>
                    <a:bodyPr/>
                    <a:lstStyle/>
                    <a:p>
                      <a:pPr>
                        <a:buNone/>
                      </a:pPr>
                      <a:r>
                        <a:rPr lang="en-US"/>
                        <a:t>2024</a:t>
                      </a:r>
                    </a:p>
                  </a:txBody>
                  <a:tcPr anchor="ctr">
                    <a:lnL>
                      <a:noFill/>
                    </a:lnL>
                    <a:lnR>
                      <a:noFill/>
                    </a:lnR>
                    <a:lnT>
                      <a:noFill/>
                    </a:lnT>
                    <a:lnB>
                      <a:noFill/>
                    </a:lnB>
                    <a:noFill/>
                  </a:tcPr>
                </a:tc>
                <a:tc>
                  <a:txBody>
                    <a:bodyPr/>
                    <a:lstStyle/>
                    <a:p>
                      <a:pPr>
                        <a:buNone/>
                      </a:pPr>
                      <a:r>
                        <a:rPr lang="en-US"/>
                        <a:t>0.5641025641</a:t>
                      </a:r>
                    </a:p>
                  </a:txBody>
                  <a:tcPr anchor="ctr">
                    <a:lnL>
                      <a:noFill/>
                    </a:lnL>
                    <a:lnR>
                      <a:noFill/>
                    </a:lnR>
                    <a:lnT>
                      <a:noFill/>
                    </a:lnT>
                    <a:lnB>
                      <a:noFill/>
                    </a:lnB>
                    <a:noFill/>
                  </a:tcPr>
                </a:tc>
                <a:tc>
                  <a:txBody>
                    <a:bodyPr/>
                    <a:lstStyle/>
                    <a:p>
                      <a:pPr>
                        <a:buNone/>
                      </a:pPr>
                      <a:r>
                        <a:rPr lang="en-US"/>
                        <a:t>2.96561973795</a:t>
                      </a:r>
                    </a:p>
                  </a:txBody>
                  <a:tcPr anchor="ctr">
                    <a:lnL>
                      <a:noFill/>
                    </a:lnL>
                    <a:lnR>
                      <a:noFill/>
                    </a:lnR>
                    <a:lnT>
                      <a:noFill/>
                    </a:lnT>
                    <a:lnB>
                      <a:noFill/>
                    </a:lnB>
                    <a:noFill/>
                  </a:tcPr>
                </a:tc>
                <a:tc>
                  <a:txBody>
                    <a:bodyPr/>
                    <a:lstStyle/>
                    <a:p>
                      <a:pPr>
                        <a:buNone/>
                      </a:pPr>
                      <a:r>
                        <a:rPr lang="en-US"/>
                        <a:t>0.43</a:t>
                      </a:r>
                    </a:p>
                  </a:txBody>
                  <a:tcPr anchor="ctr">
                    <a:lnL>
                      <a:noFill/>
                    </a:lnL>
                    <a:lnR>
                      <a:noFill/>
                    </a:lnR>
                    <a:lnT>
                      <a:noFill/>
                    </a:lnT>
                    <a:lnB>
                      <a:noFill/>
                    </a:lnB>
                    <a:noFill/>
                  </a:tcPr>
                </a:tc>
                <a:extLst>
                  <a:ext uri="{0D108BD9-81ED-4DB2-BD59-A6C34878D82A}">
                    <a16:rowId xmlns:a16="http://schemas.microsoft.com/office/drawing/2014/main" val="1403660089"/>
                  </a:ext>
                </a:extLst>
              </a:tr>
              <a:tr h="0">
                <a:tc>
                  <a:txBody>
                    <a:bodyPr/>
                    <a:lstStyle/>
                    <a:p>
                      <a:pPr>
                        <a:buNone/>
                      </a:pPr>
                      <a:r>
                        <a:rPr lang="en-US"/>
                        <a:t>156107</a:t>
                      </a:r>
                    </a:p>
                  </a:txBody>
                  <a:tcPr anchor="ctr">
                    <a:lnL>
                      <a:noFill/>
                    </a:lnL>
                    <a:lnR>
                      <a:noFill/>
                    </a:lnR>
                    <a:lnT>
                      <a:noFill/>
                    </a:lnT>
                    <a:lnB>
                      <a:noFill/>
                    </a:lnB>
                    <a:noFill/>
                  </a:tcPr>
                </a:tc>
                <a:tc>
                  <a:txBody>
                    <a:bodyPr/>
                    <a:lstStyle/>
                    <a:p>
                      <a:pPr>
                        <a:buNone/>
                      </a:pPr>
                      <a:r>
                        <a:rPr lang="en-US"/>
                        <a:t>2023</a:t>
                      </a:r>
                    </a:p>
                  </a:txBody>
                  <a:tcPr anchor="ctr">
                    <a:lnL>
                      <a:noFill/>
                    </a:lnL>
                    <a:lnR>
                      <a:noFill/>
                    </a:lnR>
                    <a:lnT>
                      <a:noFill/>
                    </a:lnT>
                    <a:lnB>
                      <a:noFill/>
                    </a:lnB>
                    <a:noFill/>
                  </a:tcPr>
                </a:tc>
                <a:tc>
                  <a:txBody>
                    <a:bodyPr/>
                    <a:lstStyle/>
                    <a:p>
                      <a:pPr>
                        <a:buNone/>
                      </a:pPr>
                      <a:r>
                        <a:rPr lang="en-US"/>
                        <a:t>0.5576619273</a:t>
                      </a:r>
                    </a:p>
                  </a:txBody>
                  <a:tcPr anchor="ctr">
                    <a:lnL>
                      <a:noFill/>
                    </a:lnL>
                    <a:lnR>
                      <a:noFill/>
                    </a:lnR>
                    <a:lnT>
                      <a:noFill/>
                    </a:lnT>
                    <a:lnB>
                      <a:noFill/>
                    </a:lnB>
                    <a:noFill/>
                  </a:tcPr>
                </a:tc>
                <a:tc>
                  <a:txBody>
                    <a:bodyPr/>
                    <a:lstStyle/>
                    <a:p>
                      <a:pPr>
                        <a:buNone/>
                      </a:pPr>
                      <a:r>
                        <a:rPr lang="en-US"/>
                        <a:t>3.28290891027</a:t>
                      </a:r>
                    </a:p>
                  </a:txBody>
                  <a:tcPr anchor="ctr">
                    <a:lnL>
                      <a:noFill/>
                    </a:lnL>
                    <a:lnR>
                      <a:noFill/>
                    </a:lnR>
                    <a:lnT>
                      <a:noFill/>
                    </a:lnT>
                    <a:lnB>
                      <a:noFill/>
                    </a:lnB>
                    <a:noFill/>
                  </a:tcPr>
                </a:tc>
                <a:tc>
                  <a:txBody>
                    <a:bodyPr/>
                    <a:lstStyle/>
                    <a:p>
                      <a:pPr>
                        <a:buNone/>
                      </a:pPr>
                      <a:r>
                        <a:rPr lang="en-US"/>
                        <a:t>0.36</a:t>
                      </a:r>
                    </a:p>
                  </a:txBody>
                  <a:tcPr anchor="ctr">
                    <a:lnL>
                      <a:noFill/>
                    </a:lnL>
                    <a:lnR>
                      <a:noFill/>
                    </a:lnR>
                    <a:lnT>
                      <a:noFill/>
                    </a:lnT>
                    <a:lnB>
                      <a:noFill/>
                    </a:lnB>
                    <a:noFill/>
                  </a:tcPr>
                </a:tc>
                <a:extLst>
                  <a:ext uri="{0D108BD9-81ED-4DB2-BD59-A6C34878D82A}">
                    <a16:rowId xmlns:a16="http://schemas.microsoft.com/office/drawing/2014/main" val="732931910"/>
                  </a:ext>
                </a:extLst>
              </a:tr>
              <a:tr h="0">
                <a:tc>
                  <a:txBody>
                    <a:bodyPr/>
                    <a:lstStyle/>
                    <a:p>
                      <a:pPr>
                        <a:buNone/>
                      </a:pPr>
                      <a:r>
                        <a:rPr lang="en-US"/>
                        <a:t>156107</a:t>
                      </a:r>
                    </a:p>
                  </a:txBody>
                  <a:tcPr anchor="ctr">
                    <a:lnL>
                      <a:noFill/>
                    </a:lnL>
                    <a:lnR>
                      <a:noFill/>
                    </a:lnR>
                    <a:lnT>
                      <a:noFill/>
                    </a:lnT>
                    <a:lnB>
                      <a:noFill/>
                    </a:lnB>
                    <a:noFill/>
                  </a:tcPr>
                </a:tc>
                <a:tc>
                  <a:txBody>
                    <a:bodyPr/>
                    <a:lstStyle/>
                    <a:p>
                      <a:pPr>
                        <a:buNone/>
                      </a:pPr>
                      <a:r>
                        <a:rPr lang="en-US"/>
                        <a:t>2022</a:t>
                      </a:r>
                    </a:p>
                  </a:txBody>
                  <a:tcPr anchor="ctr">
                    <a:lnL>
                      <a:noFill/>
                    </a:lnL>
                    <a:lnR>
                      <a:noFill/>
                    </a:lnR>
                    <a:lnT>
                      <a:noFill/>
                    </a:lnT>
                    <a:lnB>
                      <a:noFill/>
                    </a:lnB>
                    <a:noFill/>
                  </a:tcPr>
                </a:tc>
                <a:tc>
                  <a:txBody>
                    <a:bodyPr/>
                    <a:lstStyle/>
                    <a:p>
                      <a:pPr>
                        <a:buNone/>
                      </a:pPr>
                      <a:r>
                        <a:rPr lang="en-US"/>
                        <a:t>0.5082352941</a:t>
                      </a:r>
                    </a:p>
                  </a:txBody>
                  <a:tcPr anchor="ctr">
                    <a:lnL>
                      <a:noFill/>
                    </a:lnL>
                    <a:lnR>
                      <a:noFill/>
                    </a:lnR>
                    <a:lnT>
                      <a:noFill/>
                    </a:lnT>
                    <a:lnB>
                      <a:noFill/>
                    </a:lnB>
                    <a:noFill/>
                  </a:tcPr>
                </a:tc>
                <a:tc>
                  <a:txBody>
                    <a:bodyPr/>
                    <a:lstStyle/>
                    <a:p>
                      <a:pPr>
                        <a:buNone/>
                      </a:pPr>
                      <a:r>
                        <a:rPr lang="en-US"/>
                        <a:t>3.28651778775</a:t>
                      </a:r>
                    </a:p>
                  </a:txBody>
                  <a:tcPr anchor="ctr">
                    <a:lnL>
                      <a:noFill/>
                    </a:lnL>
                    <a:lnR>
                      <a:noFill/>
                    </a:lnR>
                    <a:lnT>
                      <a:noFill/>
                    </a:lnT>
                    <a:lnB>
                      <a:noFill/>
                    </a:lnB>
                    <a:noFill/>
                  </a:tcPr>
                </a:tc>
                <a:tc>
                  <a:txBody>
                    <a:bodyPr/>
                    <a:lstStyle/>
                    <a:p>
                      <a:pPr>
                        <a:buNone/>
                      </a:pPr>
                      <a:r>
                        <a:rPr lang="en-US"/>
                        <a:t>0.3</a:t>
                      </a:r>
                    </a:p>
                  </a:txBody>
                  <a:tcPr anchor="ctr">
                    <a:lnL>
                      <a:noFill/>
                    </a:lnL>
                    <a:lnR>
                      <a:noFill/>
                    </a:lnR>
                    <a:lnT>
                      <a:noFill/>
                    </a:lnT>
                    <a:lnB>
                      <a:noFill/>
                    </a:lnB>
                    <a:noFill/>
                  </a:tcPr>
                </a:tc>
                <a:extLst>
                  <a:ext uri="{0D108BD9-81ED-4DB2-BD59-A6C34878D82A}">
                    <a16:rowId xmlns:a16="http://schemas.microsoft.com/office/drawing/2014/main" val="3657894288"/>
                  </a:ext>
                </a:extLst>
              </a:tr>
              <a:tr h="0">
                <a:tc>
                  <a:txBody>
                    <a:bodyPr/>
                    <a:lstStyle/>
                    <a:p>
                      <a:pPr>
                        <a:buNone/>
                      </a:pPr>
                      <a:r>
                        <a:rPr lang="en-US"/>
                        <a:t>156107</a:t>
                      </a:r>
                    </a:p>
                  </a:txBody>
                  <a:tcPr anchor="ctr">
                    <a:lnL>
                      <a:noFill/>
                    </a:lnL>
                    <a:lnR>
                      <a:noFill/>
                    </a:lnR>
                    <a:lnT>
                      <a:noFill/>
                    </a:lnT>
                    <a:lnB>
                      <a:noFill/>
                    </a:lnB>
                    <a:noFill/>
                  </a:tcPr>
                </a:tc>
                <a:tc>
                  <a:txBody>
                    <a:bodyPr/>
                    <a:lstStyle/>
                    <a:p>
                      <a:pPr>
                        <a:buNone/>
                      </a:pPr>
                      <a:r>
                        <a:rPr lang="en-US"/>
                        <a:t>2021</a:t>
                      </a:r>
                    </a:p>
                  </a:txBody>
                  <a:tcPr anchor="ctr">
                    <a:lnL>
                      <a:noFill/>
                    </a:lnL>
                    <a:lnR>
                      <a:noFill/>
                    </a:lnR>
                    <a:lnT>
                      <a:noFill/>
                    </a:lnT>
                    <a:lnB>
                      <a:noFill/>
                    </a:lnB>
                    <a:noFill/>
                  </a:tcPr>
                </a:tc>
                <a:tc>
                  <a:txBody>
                    <a:bodyPr/>
                    <a:lstStyle/>
                    <a:p>
                      <a:pPr>
                        <a:buNone/>
                      </a:pPr>
                      <a:r>
                        <a:rPr lang="en-US"/>
                        <a:t>0.4727592267</a:t>
                      </a:r>
                    </a:p>
                  </a:txBody>
                  <a:tcPr anchor="ctr">
                    <a:lnL>
                      <a:noFill/>
                    </a:lnL>
                    <a:lnR>
                      <a:noFill/>
                    </a:lnR>
                    <a:lnT>
                      <a:noFill/>
                    </a:lnT>
                    <a:lnB>
                      <a:noFill/>
                    </a:lnB>
                    <a:noFill/>
                  </a:tcPr>
                </a:tc>
                <a:tc>
                  <a:txBody>
                    <a:bodyPr/>
                    <a:lstStyle/>
                    <a:p>
                      <a:pPr>
                        <a:buNone/>
                      </a:pPr>
                      <a:r>
                        <a:rPr lang="en-US"/>
                        <a:t>3.22737016641</a:t>
                      </a:r>
                    </a:p>
                  </a:txBody>
                  <a:tcPr anchor="ctr">
                    <a:lnL>
                      <a:noFill/>
                    </a:lnL>
                    <a:lnR>
                      <a:noFill/>
                    </a:lnR>
                    <a:lnT>
                      <a:noFill/>
                    </a:lnT>
                    <a:lnB>
                      <a:noFill/>
                    </a:lnB>
                    <a:noFill/>
                  </a:tcPr>
                </a:tc>
                <a:tc>
                  <a:txBody>
                    <a:bodyPr/>
                    <a:lstStyle/>
                    <a:p>
                      <a:pPr>
                        <a:buNone/>
                      </a:pPr>
                      <a:r>
                        <a:rPr lang="en-US"/>
                        <a:t>0.38</a:t>
                      </a:r>
                    </a:p>
                  </a:txBody>
                  <a:tcPr anchor="ctr">
                    <a:lnL>
                      <a:noFill/>
                    </a:lnL>
                    <a:lnR>
                      <a:noFill/>
                    </a:lnR>
                    <a:lnT>
                      <a:noFill/>
                    </a:lnT>
                    <a:lnB>
                      <a:noFill/>
                    </a:lnB>
                    <a:noFill/>
                  </a:tcPr>
                </a:tc>
                <a:extLst>
                  <a:ext uri="{0D108BD9-81ED-4DB2-BD59-A6C34878D82A}">
                    <a16:rowId xmlns:a16="http://schemas.microsoft.com/office/drawing/2014/main" val="2648984746"/>
                  </a:ext>
                </a:extLst>
              </a:tr>
            </a:tbl>
          </a:graphicData>
        </a:graphic>
      </p:graphicFrame>
    </p:spTree>
    <p:extLst>
      <p:ext uri="{BB962C8B-B14F-4D97-AF65-F5344CB8AC3E}">
        <p14:creationId xmlns:p14="http://schemas.microsoft.com/office/powerpoint/2010/main" val="417452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9F7E8-B492-AB8A-0924-9A2451C3597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86075B-231E-CE87-1B8D-2765BFE4AADF}"/>
              </a:ext>
            </a:extLst>
          </p:cNvPr>
          <p:cNvSpPr>
            <a:spLocks noGrp="1"/>
          </p:cNvSpPr>
          <p:nvPr>
            <p:ph type="title"/>
          </p:nvPr>
        </p:nvSpPr>
        <p:spPr/>
        <p:txBody>
          <a:bodyPr/>
          <a:lstStyle/>
          <a:p>
            <a:r>
              <a:rPr lang="en-US">
                <a:ea typeface="Calibri"/>
                <a:cs typeface="Calibri"/>
              </a:rPr>
              <a:t>Grouping Peers</a:t>
            </a:r>
            <a:endParaRPr lang="en-US" dirty="0">
              <a:ea typeface="Calibri"/>
              <a:cs typeface="Calibri"/>
            </a:endParaRPr>
          </a:p>
        </p:txBody>
      </p:sp>
      <p:sp>
        <p:nvSpPr>
          <p:cNvPr id="5" name="Content Placeholder 2">
            <a:extLst>
              <a:ext uri="{FF2B5EF4-FFF2-40B4-BE49-F238E27FC236}">
                <a16:creationId xmlns:a16="http://schemas.microsoft.com/office/drawing/2014/main" id="{EA266EB0-0C46-5470-2D4A-90993876FF43}"/>
              </a:ext>
            </a:extLst>
          </p:cNvPr>
          <p:cNvSpPr txBox="1">
            <a:spLocks/>
          </p:cNvSpPr>
          <p:nvPr/>
        </p:nvSpPr>
        <p:spPr>
          <a:xfrm>
            <a:off x="838200" y="1825625"/>
            <a:ext cx="10515600" cy="4351338"/>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pic>
        <p:nvPicPr>
          <p:cNvPr id="7" name="Picture 6">
            <a:extLst>
              <a:ext uri="{FF2B5EF4-FFF2-40B4-BE49-F238E27FC236}">
                <a16:creationId xmlns:a16="http://schemas.microsoft.com/office/drawing/2014/main" id="{DF2FBA9D-AF00-59A9-0367-960D16045C41}"/>
              </a:ext>
            </a:extLst>
          </p:cNvPr>
          <p:cNvPicPr>
            <a:picLocks noChangeAspect="1"/>
          </p:cNvPicPr>
          <p:nvPr/>
        </p:nvPicPr>
        <p:blipFill>
          <a:blip r:embed="rId3"/>
          <a:stretch>
            <a:fillRect/>
          </a:stretch>
        </p:blipFill>
        <p:spPr>
          <a:xfrm>
            <a:off x="1125062" y="1300975"/>
            <a:ext cx="9588756" cy="5399049"/>
          </a:xfrm>
          <a:prstGeom prst="rect">
            <a:avLst/>
          </a:prstGeom>
        </p:spPr>
      </p:pic>
    </p:spTree>
    <p:extLst>
      <p:ext uri="{BB962C8B-B14F-4D97-AF65-F5344CB8AC3E}">
        <p14:creationId xmlns:p14="http://schemas.microsoft.com/office/powerpoint/2010/main" val="6501952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B7A17-373D-27FE-9C60-D81F2F4C0D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ADC9DAD-CBBD-107E-11EF-7CEE381DF928}"/>
              </a:ext>
            </a:extLst>
          </p:cNvPr>
          <p:cNvSpPr>
            <a:spLocks noGrp="1"/>
          </p:cNvSpPr>
          <p:nvPr>
            <p:ph type="title"/>
          </p:nvPr>
        </p:nvSpPr>
        <p:spPr/>
        <p:txBody>
          <a:bodyPr/>
          <a:lstStyle/>
          <a:p>
            <a:r>
              <a:rPr lang="en-US">
                <a:ea typeface="Calibri"/>
                <a:cs typeface="Calibri"/>
              </a:rPr>
              <a:t>Grouping Peers</a:t>
            </a:r>
            <a:endParaRPr lang="en-US" dirty="0">
              <a:ea typeface="Calibri"/>
              <a:cs typeface="Calibri"/>
            </a:endParaRPr>
          </a:p>
        </p:txBody>
      </p:sp>
      <p:sp>
        <p:nvSpPr>
          <p:cNvPr id="5" name="Content Placeholder 2">
            <a:extLst>
              <a:ext uri="{FF2B5EF4-FFF2-40B4-BE49-F238E27FC236}">
                <a16:creationId xmlns:a16="http://schemas.microsoft.com/office/drawing/2014/main" id="{D5D7CC63-D703-4192-2A5E-08993FAEF113}"/>
              </a:ext>
            </a:extLst>
          </p:cNvPr>
          <p:cNvSpPr txBox="1">
            <a:spLocks/>
          </p:cNvSpPr>
          <p:nvPr/>
        </p:nvSpPr>
        <p:spPr>
          <a:xfrm>
            <a:off x="838200" y="1825625"/>
            <a:ext cx="10515600" cy="4351338"/>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8" name="Content Placeholder 2">
            <a:extLst>
              <a:ext uri="{FF2B5EF4-FFF2-40B4-BE49-F238E27FC236}">
                <a16:creationId xmlns:a16="http://schemas.microsoft.com/office/drawing/2014/main" id="{D41B2744-D70B-7542-6B6E-1B9BFED70A8F}"/>
              </a:ext>
            </a:extLst>
          </p:cNvPr>
          <p:cNvSpPr txBox="1">
            <a:spLocks/>
          </p:cNvSpPr>
          <p:nvPr/>
        </p:nvSpPr>
        <p:spPr>
          <a:xfrm>
            <a:off x="990600" y="1654175"/>
            <a:ext cx="10515600" cy="4351338"/>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Filter down to similar institutions</a:t>
            </a:r>
          </a:p>
          <a:p>
            <a:pPr marL="1028700" lvl="1" indent="-342900"/>
            <a:r>
              <a:rPr lang="en-US" dirty="0"/>
              <a:t>Before we choose peers, it is helpful to establish a baseline pool of institution to choose your peers from. </a:t>
            </a:r>
          </a:p>
          <a:p>
            <a:pPr marL="1028700" lvl="1" indent="-342900"/>
            <a:r>
              <a:rPr lang="en-US" dirty="0"/>
              <a:t>Carnegie classifications help determine what schools have high level characteristics with your own school.</a:t>
            </a:r>
          </a:p>
          <a:p>
            <a:pPr marL="1028700" lvl="1" indent="-342900"/>
            <a:r>
              <a:rPr lang="en-US" dirty="0"/>
              <a:t>We used:</a:t>
            </a:r>
          </a:p>
          <a:p>
            <a:pPr marL="1028700" lvl="1" indent="-342900"/>
            <a:r>
              <a:rPr lang="en-US" dirty="0"/>
              <a:t>	Public vs Private (Control)</a:t>
            </a:r>
          </a:p>
          <a:p>
            <a:pPr marL="1028700" lvl="1" indent="-342900"/>
            <a:r>
              <a:rPr lang="en-US" dirty="0"/>
              <a:t>	Institution Size (CARNEGIESIZE)</a:t>
            </a:r>
          </a:p>
          <a:p>
            <a:pPr marL="1028700" lvl="1" indent="-342900"/>
            <a:r>
              <a:rPr lang="en-US" dirty="0"/>
              <a:t>	College Type (C21BASIC)</a:t>
            </a:r>
          </a:p>
          <a:p>
            <a:pPr marL="1028700" lvl="1" indent="-342900"/>
            <a:endParaRPr lang="en-US" dirty="0"/>
          </a:p>
          <a:p>
            <a:pPr marL="1028700" lvl="1" indent="-342900"/>
            <a:r>
              <a:rPr lang="en-US" dirty="0"/>
              <a:t>Institutional characteristics can be found in the directory survey from IPEDS (HD2024)</a:t>
            </a:r>
          </a:p>
        </p:txBody>
      </p:sp>
    </p:spTree>
    <p:extLst>
      <p:ext uri="{BB962C8B-B14F-4D97-AF65-F5344CB8AC3E}">
        <p14:creationId xmlns:p14="http://schemas.microsoft.com/office/powerpoint/2010/main" val="584042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0BE1E-12F4-677A-8702-6B4A4E14EB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D88BCAC-6BC6-02A0-909C-15FB8A3AB276}"/>
              </a:ext>
            </a:extLst>
          </p:cNvPr>
          <p:cNvSpPr>
            <a:spLocks noGrp="1"/>
          </p:cNvSpPr>
          <p:nvPr>
            <p:ph type="title"/>
          </p:nvPr>
        </p:nvSpPr>
        <p:spPr/>
        <p:txBody>
          <a:bodyPr/>
          <a:lstStyle/>
          <a:p>
            <a:r>
              <a:rPr lang="en-US">
                <a:ea typeface="Calibri"/>
                <a:cs typeface="Calibri"/>
              </a:rPr>
              <a:t>Grouping Peers</a:t>
            </a:r>
            <a:endParaRPr lang="en-US" dirty="0">
              <a:ea typeface="Calibri"/>
              <a:cs typeface="Calibri"/>
            </a:endParaRPr>
          </a:p>
        </p:txBody>
      </p:sp>
      <p:sp>
        <p:nvSpPr>
          <p:cNvPr id="5" name="Content Placeholder 2">
            <a:extLst>
              <a:ext uri="{FF2B5EF4-FFF2-40B4-BE49-F238E27FC236}">
                <a16:creationId xmlns:a16="http://schemas.microsoft.com/office/drawing/2014/main" id="{435931C1-55DC-A17E-F530-99D2CB19B6AF}"/>
              </a:ext>
            </a:extLst>
          </p:cNvPr>
          <p:cNvSpPr txBox="1">
            <a:spLocks/>
          </p:cNvSpPr>
          <p:nvPr/>
        </p:nvSpPr>
        <p:spPr>
          <a:xfrm>
            <a:off x="838200" y="1825625"/>
            <a:ext cx="10515600" cy="4351338"/>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8" name="Content Placeholder 2">
            <a:extLst>
              <a:ext uri="{FF2B5EF4-FFF2-40B4-BE49-F238E27FC236}">
                <a16:creationId xmlns:a16="http://schemas.microsoft.com/office/drawing/2014/main" id="{BCFA894D-FB2E-2D78-488B-006E257E2F08}"/>
              </a:ext>
            </a:extLst>
          </p:cNvPr>
          <p:cNvSpPr txBox="1">
            <a:spLocks/>
          </p:cNvSpPr>
          <p:nvPr/>
        </p:nvSpPr>
        <p:spPr>
          <a:xfrm>
            <a:off x="990600" y="1978025"/>
            <a:ext cx="10515600" cy="2870200"/>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Example</a:t>
            </a:r>
          </a:p>
          <a:p>
            <a:pPr marL="1028700" lvl="1" indent="-342900"/>
            <a:r>
              <a:rPr lang="en-US" dirty="0"/>
              <a:t>We are:</a:t>
            </a:r>
          </a:p>
          <a:p>
            <a:pPr marL="1028700" lvl="1" indent="-342900"/>
            <a:r>
              <a:rPr lang="en-US" dirty="0"/>
              <a:t>	Public</a:t>
            </a:r>
          </a:p>
          <a:p>
            <a:pPr marL="1028700" lvl="1" indent="-342900"/>
            <a:r>
              <a:rPr lang="en-US" dirty="0"/>
              <a:t>	Medium to Very Large</a:t>
            </a:r>
          </a:p>
          <a:p>
            <a:pPr marL="1028700" lvl="1" indent="-342900"/>
            <a:r>
              <a:rPr lang="en-US" dirty="0"/>
              <a:t>	Associate’s Colleges</a:t>
            </a:r>
          </a:p>
          <a:p>
            <a:pPr marL="1028700" lvl="1" indent="-342900"/>
            <a:r>
              <a:rPr lang="en-US" dirty="0"/>
              <a:t>Resulting pool of colleges had 444 to choose from.</a:t>
            </a:r>
          </a:p>
        </p:txBody>
      </p:sp>
    </p:spTree>
    <p:extLst>
      <p:ext uri="{BB962C8B-B14F-4D97-AF65-F5344CB8AC3E}">
        <p14:creationId xmlns:p14="http://schemas.microsoft.com/office/powerpoint/2010/main" val="42623917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0B83B-9B06-64AB-B491-7C88217A0A6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EA2AE3C-4CF7-79F6-8FFC-E67476AC9520}"/>
              </a:ext>
            </a:extLst>
          </p:cNvPr>
          <p:cNvSpPr>
            <a:spLocks noGrp="1"/>
          </p:cNvSpPr>
          <p:nvPr>
            <p:ph type="title"/>
          </p:nvPr>
        </p:nvSpPr>
        <p:spPr/>
        <p:txBody>
          <a:bodyPr/>
          <a:lstStyle/>
          <a:p>
            <a:r>
              <a:rPr lang="en-US" dirty="0">
                <a:ea typeface="Calibri"/>
                <a:cs typeface="Calibri"/>
              </a:rPr>
              <a:t>Grouping Peers (</a:t>
            </a:r>
            <a:r>
              <a:rPr lang="en-US" dirty="0" err="1">
                <a:ea typeface="Calibri"/>
                <a:cs typeface="Calibri"/>
              </a:rPr>
              <a:t>cont</a:t>
            </a:r>
            <a:r>
              <a:rPr lang="en-US" dirty="0">
                <a:ea typeface="Calibri"/>
                <a:cs typeface="Calibri"/>
              </a:rPr>
              <a:t>)</a:t>
            </a:r>
          </a:p>
        </p:txBody>
      </p:sp>
      <p:sp>
        <p:nvSpPr>
          <p:cNvPr id="5" name="Content Placeholder 2">
            <a:extLst>
              <a:ext uri="{FF2B5EF4-FFF2-40B4-BE49-F238E27FC236}">
                <a16:creationId xmlns:a16="http://schemas.microsoft.com/office/drawing/2014/main" id="{DEC35822-24E5-6AA4-09E6-93FA0655A82D}"/>
              </a:ext>
            </a:extLst>
          </p:cNvPr>
          <p:cNvSpPr txBox="1">
            <a:spLocks/>
          </p:cNvSpPr>
          <p:nvPr/>
        </p:nvSpPr>
        <p:spPr>
          <a:xfrm>
            <a:off x="838200" y="1825625"/>
            <a:ext cx="10515600" cy="4351338"/>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8" name="Content Placeholder 2">
            <a:extLst>
              <a:ext uri="{FF2B5EF4-FFF2-40B4-BE49-F238E27FC236}">
                <a16:creationId xmlns:a16="http://schemas.microsoft.com/office/drawing/2014/main" id="{7455DAC2-9780-5620-7D50-B6A249275AC1}"/>
              </a:ext>
            </a:extLst>
          </p:cNvPr>
          <p:cNvSpPr txBox="1">
            <a:spLocks/>
          </p:cNvSpPr>
          <p:nvPr/>
        </p:nvSpPr>
        <p:spPr>
          <a:xfrm>
            <a:off x="990600" y="1978025"/>
            <a:ext cx="10515600" cy="2870200"/>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Augment the selection process (optional)</a:t>
            </a:r>
          </a:p>
          <a:p>
            <a:pPr marL="1028700" lvl="1" indent="-342900"/>
            <a:r>
              <a:rPr lang="en-US" dirty="0"/>
              <a:t>Using the baseline pool filtered down, we can also include clusters to help us understand potential peers.</a:t>
            </a:r>
          </a:p>
          <a:p>
            <a:pPr marL="1028700" lvl="1" indent="-342900"/>
            <a:r>
              <a:rPr lang="en-US" dirty="0"/>
              <a:t>K Means Clustering and a selection of metrics will create clusters to further group institutions with similar performance. </a:t>
            </a:r>
          </a:p>
          <a:p>
            <a:pPr marL="1028700" lvl="1" indent="-342900"/>
            <a:r>
              <a:rPr lang="en-US" dirty="0"/>
              <a:t>The code used for this will be in the </a:t>
            </a:r>
            <a:r>
              <a:rPr lang="en-US" dirty="0" err="1"/>
              <a:t>Github</a:t>
            </a:r>
            <a:r>
              <a:rPr lang="en-US" dirty="0"/>
              <a:t> Repository for this project. We used the Inertia and the Silhouette Method to find the optimal K number of clusters, which in our case was eight.</a:t>
            </a:r>
          </a:p>
          <a:p>
            <a:pPr marL="1028700" lvl="1" indent="-342900"/>
            <a:endParaRPr lang="en-US" dirty="0"/>
          </a:p>
          <a:p>
            <a:endParaRPr lang="en-US" dirty="0"/>
          </a:p>
        </p:txBody>
      </p:sp>
    </p:spTree>
    <p:extLst>
      <p:ext uri="{BB962C8B-B14F-4D97-AF65-F5344CB8AC3E}">
        <p14:creationId xmlns:p14="http://schemas.microsoft.com/office/powerpoint/2010/main" val="7129980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97F14-4635-A6D4-62D5-BCA36FF3F0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5FACA9F-AA3D-A792-A416-139D62502153}"/>
              </a:ext>
            </a:extLst>
          </p:cNvPr>
          <p:cNvSpPr>
            <a:spLocks noGrp="1"/>
          </p:cNvSpPr>
          <p:nvPr>
            <p:ph type="title"/>
          </p:nvPr>
        </p:nvSpPr>
        <p:spPr/>
        <p:txBody>
          <a:bodyPr/>
          <a:lstStyle/>
          <a:p>
            <a:r>
              <a:rPr lang="en-US" dirty="0">
                <a:ea typeface="Calibri"/>
                <a:cs typeface="Calibri"/>
              </a:rPr>
              <a:t>Grouping Peers (</a:t>
            </a:r>
            <a:r>
              <a:rPr lang="en-US" dirty="0" err="1">
                <a:ea typeface="Calibri"/>
                <a:cs typeface="Calibri"/>
              </a:rPr>
              <a:t>cont</a:t>
            </a:r>
            <a:r>
              <a:rPr lang="en-US" dirty="0">
                <a:ea typeface="Calibri"/>
                <a:cs typeface="Calibri"/>
              </a:rPr>
              <a:t>)</a:t>
            </a:r>
          </a:p>
        </p:txBody>
      </p:sp>
      <p:sp>
        <p:nvSpPr>
          <p:cNvPr id="5" name="Content Placeholder 2">
            <a:extLst>
              <a:ext uri="{FF2B5EF4-FFF2-40B4-BE49-F238E27FC236}">
                <a16:creationId xmlns:a16="http://schemas.microsoft.com/office/drawing/2014/main" id="{352B7BB8-FB4D-3CE1-44B6-1D6577900ACE}"/>
              </a:ext>
            </a:extLst>
          </p:cNvPr>
          <p:cNvSpPr txBox="1">
            <a:spLocks/>
          </p:cNvSpPr>
          <p:nvPr/>
        </p:nvSpPr>
        <p:spPr>
          <a:xfrm>
            <a:off x="838200" y="1825625"/>
            <a:ext cx="10515600" cy="4351338"/>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8" name="Content Placeholder 2">
            <a:extLst>
              <a:ext uri="{FF2B5EF4-FFF2-40B4-BE49-F238E27FC236}">
                <a16:creationId xmlns:a16="http://schemas.microsoft.com/office/drawing/2014/main" id="{8B227F38-6441-38CF-9426-ADC18ABDF525}"/>
              </a:ext>
            </a:extLst>
          </p:cNvPr>
          <p:cNvSpPr txBox="1">
            <a:spLocks/>
          </p:cNvSpPr>
          <p:nvPr/>
        </p:nvSpPr>
        <p:spPr>
          <a:xfrm>
            <a:off x="990600" y="1978025"/>
            <a:ext cx="10515600" cy="650875"/>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Augment the selection process (optional)</a:t>
            </a:r>
          </a:p>
          <a:p>
            <a:pPr marL="1028700" lvl="1" indent="-342900"/>
            <a:endParaRPr lang="en-US" dirty="0"/>
          </a:p>
          <a:p>
            <a:endParaRPr lang="en-US" dirty="0"/>
          </a:p>
        </p:txBody>
      </p:sp>
      <p:pic>
        <p:nvPicPr>
          <p:cNvPr id="4" name="Picture 3">
            <a:extLst>
              <a:ext uri="{FF2B5EF4-FFF2-40B4-BE49-F238E27FC236}">
                <a16:creationId xmlns:a16="http://schemas.microsoft.com/office/drawing/2014/main" id="{149D602A-81FF-1DCE-C21C-338F583A2F52}"/>
              </a:ext>
            </a:extLst>
          </p:cNvPr>
          <p:cNvPicPr>
            <a:picLocks noChangeAspect="1"/>
          </p:cNvPicPr>
          <p:nvPr/>
        </p:nvPicPr>
        <p:blipFill>
          <a:blip r:embed="rId3"/>
          <a:stretch>
            <a:fillRect/>
          </a:stretch>
        </p:blipFill>
        <p:spPr>
          <a:xfrm>
            <a:off x="1613128" y="2130199"/>
            <a:ext cx="6964816" cy="4435104"/>
          </a:xfrm>
          <a:prstGeom prst="rect">
            <a:avLst/>
          </a:prstGeom>
        </p:spPr>
      </p:pic>
    </p:spTree>
    <p:extLst>
      <p:ext uri="{BB962C8B-B14F-4D97-AF65-F5344CB8AC3E}">
        <p14:creationId xmlns:p14="http://schemas.microsoft.com/office/powerpoint/2010/main" val="22967930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E041B-0550-F53B-D39A-72A621D704E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76409A7-3353-8E56-AC8B-158742844F66}"/>
              </a:ext>
            </a:extLst>
          </p:cNvPr>
          <p:cNvSpPr>
            <a:spLocks noGrp="1"/>
          </p:cNvSpPr>
          <p:nvPr>
            <p:ph type="title"/>
          </p:nvPr>
        </p:nvSpPr>
        <p:spPr/>
        <p:txBody>
          <a:bodyPr/>
          <a:lstStyle/>
          <a:p>
            <a:r>
              <a:rPr lang="en-US">
                <a:ea typeface="Calibri"/>
                <a:cs typeface="Calibri"/>
              </a:rPr>
              <a:t>Grouping Peers (cont)</a:t>
            </a:r>
            <a:endParaRPr lang="en-US" dirty="0">
              <a:ea typeface="Calibri"/>
              <a:cs typeface="Calibri"/>
            </a:endParaRPr>
          </a:p>
        </p:txBody>
      </p:sp>
      <p:sp>
        <p:nvSpPr>
          <p:cNvPr id="5" name="Content Placeholder 2">
            <a:extLst>
              <a:ext uri="{FF2B5EF4-FFF2-40B4-BE49-F238E27FC236}">
                <a16:creationId xmlns:a16="http://schemas.microsoft.com/office/drawing/2014/main" id="{DE0D2965-B478-4D16-33EF-C8D30640ED30}"/>
              </a:ext>
            </a:extLst>
          </p:cNvPr>
          <p:cNvSpPr txBox="1">
            <a:spLocks/>
          </p:cNvSpPr>
          <p:nvPr/>
        </p:nvSpPr>
        <p:spPr>
          <a:xfrm>
            <a:off x="838200" y="1825625"/>
            <a:ext cx="10515600" cy="4351338"/>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p:txBody>
      </p:sp>
      <p:sp>
        <p:nvSpPr>
          <p:cNvPr id="18" name="Content Placeholder 2">
            <a:extLst>
              <a:ext uri="{FF2B5EF4-FFF2-40B4-BE49-F238E27FC236}">
                <a16:creationId xmlns:a16="http://schemas.microsoft.com/office/drawing/2014/main" id="{48E8911E-337D-6D21-3C46-D015C6B7E5DB}"/>
              </a:ext>
            </a:extLst>
          </p:cNvPr>
          <p:cNvSpPr txBox="1">
            <a:spLocks/>
          </p:cNvSpPr>
          <p:nvPr/>
        </p:nvSpPr>
        <p:spPr>
          <a:xfrm>
            <a:off x="1676400" y="1170646"/>
            <a:ext cx="10515600" cy="2870200"/>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en-US" dirty="0"/>
              <a:t>Augment the selection process (optional)</a:t>
            </a:r>
          </a:p>
          <a:p>
            <a:pPr marL="1028700" lvl="1" indent="-342900"/>
            <a:r>
              <a:rPr lang="en-US" dirty="0"/>
              <a:t>Next, we found the Principal Components of the same dataset (same selected metrics) to reduce the dimensions of our dataset. This is a preferred way to visualize the data to a 2-dimensional plane. </a:t>
            </a:r>
          </a:p>
          <a:p>
            <a:pPr marL="1028700" lvl="1" indent="-342900"/>
            <a:r>
              <a:rPr lang="en-US" dirty="0"/>
              <a:t>The first scatter plot are all schools graphed on the first two PCs, color coded to their corresponding cluster. The second is the average value for each cluster. </a:t>
            </a:r>
          </a:p>
          <a:p>
            <a:pPr marL="1028700" lvl="1" indent="-342900"/>
            <a:endParaRPr lang="en-US" dirty="0"/>
          </a:p>
          <a:p>
            <a:endParaRPr lang="en-US" dirty="0"/>
          </a:p>
        </p:txBody>
      </p:sp>
      <p:sp>
        <p:nvSpPr>
          <p:cNvPr id="4" name="Content Placeholder 2">
            <a:extLst>
              <a:ext uri="{FF2B5EF4-FFF2-40B4-BE49-F238E27FC236}">
                <a16:creationId xmlns:a16="http://schemas.microsoft.com/office/drawing/2014/main" id="{88305A86-8495-EDAA-7A14-1714FEB63448}"/>
              </a:ext>
            </a:extLst>
          </p:cNvPr>
          <p:cNvSpPr txBox="1">
            <a:spLocks/>
          </p:cNvSpPr>
          <p:nvPr/>
        </p:nvSpPr>
        <p:spPr>
          <a:xfrm>
            <a:off x="8095488" y="3089136"/>
            <a:ext cx="4096512" cy="2870200"/>
          </a:xfrm>
          <a:prstGeom prst="rect">
            <a:avLst/>
          </a:prstGeom>
        </p:spPr>
        <p:txBody>
          <a:bodyPr vert="horz" lIns="91440" tIns="45720" rIns="91440" bIns="45720" rtlCol="0" anchor="ctr" anchorCtr="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bg2"/>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bg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bg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bg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en-US" dirty="0"/>
          </a:p>
          <a:p>
            <a:pPr marL="1028700" lvl="1" indent="-342900"/>
            <a:r>
              <a:rPr lang="en-US" dirty="0"/>
              <a:t>The Clusters were labeled after visually confirming their relationship with our own cluster.</a:t>
            </a:r>
          </a:p>
          <a:p>
            <a:endParaRPr lang="en-US" dirty="0"/>
          </a:p>
        </p:txBody>
      </p:sp>
      <p:pic>
        <p:nvPicPr>
          <p:cNvPr id="12" name="Picture 11">
            <a:extLst>
              <a:ext uri="{FF2B5EF4-FFF2-40B4-BE49-F238E27FC236}">
                <a16:creationId xmlns:a16="http://schemas.microsoft.com/office/drawing/2014/main" id="{2D72002D-0642-49A5-79E0-BEFDF786C229}"/>
              </a:ext>
            </a:extLst>
          </p:cNvPr>
          <p:cNvPicPr>
            <a:picLocks noChangeAspect="1"/>
          </p:cNvPicPr>
          <p:nvPr/>
        </p:nvPicPr>
        <p:blipFill>
          <a:blip r:embed="rId3"/>
          <a:stretch>
            <a:fillRect/>
          </a:stretch>
        </p:blipFill>
        <p:spPr>
          <a:xfrm>
            <a:off x="96584" y="3120168"/>
            <a:ext cx="4431873" cy="3005744"/>
          </a:xfrm>
          <a:prstGeom prst="rect">
            <a:avLst/>
          </a:prstGeom>
        </p:spPr>
      </p:pic>
      <p:pic>
        <p:nvPicPr>
          <p:cNvPr id="14" name="Picture 13">
            <a:extLst>
              <a:ext uri="{FF2B5EF4-FFF2-40B4-BE49-F238E27FC236}">
                <a16:creationId xmlns:a16="http://schemas.microsoft.com/office/drawing/2014/main" id="{C01245A6-A89E-771A-196C-49C4F1BB10B4}"/>
              </a:ext>
            </a:extLst>
          </p:cNvPr>
          <p:cNvPicPr>
            <a:picLocks noChangeAspect="1"/>
          </p:cNvPicPr>
          <p:nvPr/>
        </p:nvPicPr>
        <p:blipFill>
          <a:blip r:embed="rId4"/>
          <a:stretch>
            <a:fillRect/>
          </a:stretch>
        </p:blipFill>
        <p:spPr>
          <a:xfrm>
            <a:off x="4655603" y="3217998"/>
            <a:ext cx="4096512" cy="3620864"/>
          </a:xfrm>
          <a:prstGeom prst="rect">
            <a:avLst/>
          </a:prstGeom>
        </p:spPr>
      </p:pic>
    </p:spTree>
    <p:extLst>
      <p:ext uri="{BB962C8B-B14F-4D97-AF65-F5344CB8AC3E}">
        <p14:creationId xmlns:p14="http://schemas.microsoft.com/office/powerpoint/2010/main" val="32657980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33015-9001-0891-A40F-4539C1E025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A064C-7AF4-5DF5-0801-00C347699FFD}"/>
              </a:ext>
            </a:extLst>
          </p:cNvPr>
          <p:cNvSpPr>
            <a:spLocks noGrp="1"/>
          </p:cNvSpPr>
          <p:nvPr>
            <p:ph type="title"/>
          </p:nvPr>
        </p:nvSpPr>
        <p:spPr/>
        <p:txBody>
          <a:bodyPr/>
          <a:lstStyle/>
          <a:p>
            <a:r>
              <a:rPr lang="en-US" dirty="0"/>
              <a:t>Selecting Peers</a:t>
            </a:r>
          </a:p>
        </p:txBody>
      </p:sp>
      <p:sp>
        <p:nvSpPr>
          <p:cNvPr id="3" name="Content Placeholder 2">
            <a:extLst>
              <a:ext uri="{FF2B5EF4-FFF2-40B4-BE49-F238E27FC236}">
                <a16:creationId xmlns:a16="http://schemas.microsoft.com/office/drawing/2014/main" id="{B7574F55-33FB-4941-EE91-DF010904C3F2}"/>
              </a:ext>
            </a:extLst>
          </p:cNvPr>
          <p:cNvSpPr>
            <a:spLocks noGrp="1"/>
          </p:cNvSpPr>
          <p:nvPr>
            <p:ph idx="1"/>
          </p:nvPr>
        </p:nvSpPr>
        <p:spPr/>
        <p:txBody>
          <a:bodyPr vert="horz" lIns="91440" tIns="45720" rIns="91440" bIns="45720" rtlCol="0" anchor="t">
            <a:noAutofit/>
          </a:bodyPr>
          <a:lstStyle/>
          <a:p>
            <a:r>
              <a:rPr lang="en-US" b="1" dirty="0"/>
              <a:t>Criteria</a:t>
            </a:r>
          </a:p>
          <a:p>
            <a:r>
              <a:rPr lang="en-US" dirty="0">
                <a:ea typeface="Calibri"/>
                <a:cs typeface="Calibri"/>
              </a:rPr>
              <a:t>We used five metrics to base our selection criteria from.</a:t>
            </a:r>
          </a:p>
          <a:p>
            <a:pPr marL="457200" indent="-457200">
              <a:buFont typeface="+mj-lt"/>
              <a:buAutoNum type="arabicPeriod"/>
            </a:pPr>
            <a:r>
              <a:rPr lang="en-US" dirty="0">
                <a:ea typeface="Calibri"/>
                <a:cs typeface="Calibri"/>
              </a:rPr>
              <a:t>First-Year Retention Rate</a:t>
            </a:r>
          </a:p>
          <a:p>
            <a:pPr marL="457200" indent="-457200">
              <a:buFont typeface="+mj-lt"/>
              <a:buAutoNum type="arabicPeriod"/>
            </a:pPr>
            <a:r>
              <a:rPr lang="en-US" dirty="0">
                <a:ea typeface="Calibri"/>
                <a:cs typeface="Calibri"/>
              </a:rPr>
              <a:t>Graduation Rate</a:t>
            </a:r>
          </a:p>
          <a:p>
            <a:pPr marL="457200" indent="-457200">
              <a:buFont typeface="+mj-lt"/>
              <a:buAutoNum type="arabicPeriod"/>
            </a:pPr>
            <a:r>
              <a:rPr lang="en-US" dirty="0">
                <a:ea typeface="Calibri"/>
                <a:cs typeface="Calibri"/>
              </a:rPr>
              <a:t>Completion &amp; Transfer Rate</a:t>
            </a:r>
          </a:p>
          <a:p>
            <a:pPr marL="457200" indent="-457200">
              <a:buFont typeface="+mj-lt"/>
              <a:buAutoNum type="arabicPeriod"/>
            </a:pPr>
            <a:r>
              <a:rPr lang="en-US" dirty="0">
                <a:ea typeface="Calibri"/>
                <a:cs typeface="Calibri"/>
              </a:rPr>
              <a:t>Outcome Efficiency Index</a:t>
            </a:r>
          </a:p>
          <a:p>
            <a:pPr marL="457200" indent="-457200">
              <a:buFont typeface="+mj-lt"/>
              <a:buAutoNum type="arabicPeriod"/>
            </a:pPr>
            <a:r>
              <a:rPr lang="en-US" dirty="0">
                <a:ea typeface="Calibri"/>
                <a:cs typeface="Calibri"/>
              </a:rPr>
              <a:t>Fall Enrollment</a:t>
            </a:r>
          </a:p>
          <a:p>
            <a:r>
              <a:rPr lang="en-US" dirty="0">
                <a:ea typeface="Calibri"/>
                <a:cs typeface="Calibri"/>
              </a:rPr>
              <a:t>Using theses five, we then defined the performance needed to be placed in our peer groups.</a:t>
            </a:r>
          </a:p>
          <a:p>
            <a:pPr marL="457200" indent="-457200">
              <a:buFont typeface="+mj-lt"/>
              <a:buAutoNum type="arabicPeriod"/>
            </a:pPr>
            <a:endParaRPr lang="en-US" dirty="0">
              <a:ea typeface="Calibri"/>
              <a:cs typeface="Calibri"/>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18294603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90628-0723-C032-09BB-D0AE2E330A90}"/>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3D5849E-0914-28C6-76E0-57B9E1B50171}"/>
              </a:ext>
            </a:extLst>
          </p:cNvPr>
          <p:cNvPicPr>
            <a:picLocks noChangeAspect="1"/>
          </p:cNvPicPr>
          <p:nvPr/>
        </p:nvPicPr>
        <p:blipFill>
          <a:blip r:embed="rId2"/>
          <a:stretch>
            <a:fillRect/>
          </a:stretch>
        </p:blipFill>
        <p:spPr>
          <a:xfrm>
            <a:off x="6931" y="627169"/>
            <a:ext cx="10775369" cy="6230832"/>
          </a:xfrm>
          <a:prstGeom prst="rect">
            <a:avLst/>
          </a:prstGeom>
        </p:spPr>
      </p:pic>
      <p:sp>
        <p:nvSpPr>
          <p:cNvPr id="2" name="Title 1">
            <a:extLst>
              <a:ext uri="{FF2B5EF4-FFF2-40B4-BE49-F238E27FC236}">
                <a16:creationId xmlns:a16="http://schemas.microsoft.com/office/drawing/2014/main" id="{748BD8AD-3179-72C5-D50C-A1C659603973}"/>
              </a:ext>
            </a:extLst>
          </p:cNvPr>
          <p:cNvSpPr>
            <a:spLocks noGrp="1"/>
          </p:cNvSpPr>
          <p:nvPr>
            <p:ph type="title"/>
          </p:nvPr>
        </p:nvSpPr>
        <p:spPr/>
        <p:txBody>
          <a:bodyPr/>
          <a:lstStyle/>
          <a:p>
            <a:r>
              <a:rPr lang="en-US" dirty="0"/>
              <a:t>Selecting Peers</a:t>
            </a:r>
          </a:p>
        </p:txBody>
      </p:sp>
      <p:sp>
        <p:nvSpPr>
          <p:cNvPr id="9" name="Content Placeholder 2">
            <a:extLst>
              <a:ext uri="{FF2B5EF4-FFF2-40B4-BE49-F238E27FC236}">
                <a16:creationId xmlns:a16="http://schemas.microsoft.com/office/drawing/2014/main" id="{1BB35C8C-5D47-9A2E-201C-29C8F50CEADA}"/>
              </a:ext>
            </a:extLst>
          </p:cNvPr>
          <p:cNvSpPr>
            <a:spLocks noGrp="1"/>
          </p:cNvSpPr>
          <p:nvPr>
            <p:ph idx="1"/>
          </p:nvPr>
        </p:nvSpPr>
        <p:spPr>
          <a:xfrm>
            <a:off x="838200" y="1825625"/>
            <a:ext cx="10515600" cy="4351338"/>
          </a:xfrm>
        </p:spPr>
        <p:txBody>
          <a:bodyPr vert="horz" lIns="91440" tIns="45720" rIns="91440" bIns="45720" rtlCol="0" anchor="t">
            <a:noAutofit/>
          </a:bodyPr>
          <a:lstStyle/>
          <a:p>
            <a:r>
              <a:rPr lang="en-US" b="1" dirty="0"/>
              <a:t>Criteria</a:t>
            </a:r>
            <a:endParaRPr lang="en-US" dirty="0">
              <a:ea typeface="Calibri"/>
              <a:cs typeface="Calibri"/>
            </a:endParaRPr>
          </a:p>
          <a:p>
            <a:pPr marL="457200" indent="-457200">
              <a:buFont typeface="+mj-lt"/>
              <a:buAutoNum type="arabicPeriod"/>
            </a:pPr>
            <a:endParaRPr lang="en-US" dirty="0">
              <a:ea typeface="Calibri"/>
              <a:cs typeface="Calibri"/>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22417800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337D0-3F7C-79F8-2E38-EC20767C8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F7FC75-3D39-45D2-A6EC-43F5EB3E077B}"/>
              </a:ext>
            </a:extLst>
          </p:cNvPr>
          <p:cNvSpPr>
            <a:spLocks noGrp="1"/>
          </p:cNvSpPr>
          <p:nvPr>
            <p:ph type="title"/>
          </p:nvPr>
        </p:nvSpPr>
        <p:spPr/>
        <p:txBody>
          <a:bodyPr/>
          <a:lstStyle/>
          <a:p>
            <a:r>
              <a:rPr lang="en-US" dirty="0"/>
              <a:t>Selecting Peers</a:t>
            </a:r>
          </a:p>
        </p:txBody>
      </p:sp>
      <p:sp>
        <p:nvSpPr>
          <p:cNvPr id="3" name="Content Placeholder 2">
            <a:extLst>
              <a:ext uri="{FF2B5EF4-FFF2-40B4-BE49-F238E27FC236}">
                <a16:creationId xmlns:a16="http://schemas.microsoft.com/office/drawing/2014/main" id="{EA8B65B2-AC92-1C7C-6FF5-31DC4010510B}"/>
              </a:ext>
            </a:extLst>
          </p:cNvPr>
          <p:cNvSpPr>
            <a:spLocks noGrp="1"/>
          </p:cNvSpPr>
          <p:nvPr>
            <p:ph idx="1"/>
          </p:nvPr>
        </p:nvSpPr>
        <p:spPr/>
        <p:txBody>
          <a:bodyPr vert="horz" lIns="91440" tIns="45720" rIns="91440" bIns="45720" rtlCol="0" anchor="t">
            <a:noAutofit/>
          </a:bodyPr>
          <a:lstStyle/>
          <a:p>
            <a:r>
              <a:rPr lang="en-US" b="1" dirty="0"/>
              <a:t>Cosine Similarity (optional)</a:t>
            </a:r>
          </a:p>
          <a:p>
            <a:r>
              <a:rPr lang="en-US" dirty="0"/>
              <a:t>Cosine Similarity also helps us understand schools with similar or non-similar performance, but on a school-by-school basis. In this way, each school will have a distance score related to your own institution.</a:t>
            </a:r>
          </a:p>
          <a:p>
            <a:pPr marL="457200" indent="-457200">
              <a:buAutoNum type="arabicPeriod"/>
            </a:pPr>
            <a:r>
              <a:rPr lang="en-US" dirty="0">
                <a:ea typeface="Calibri"/>
                <a:cs typeface="Calibri"/>
              </a:rPr>
              <a:t>Using the same metrics again and baseline institution pool, create a new column that holds the cosine similarity (code used can be found in the </a:t>
            </a:r>
            <a:r>
              <a:rPr lang="en-US" dirty="0" err="1">
                <a:ea typeface="Calibri"/>
                <a:cs typeface="Calibri"/>
              </a:rPr>
              <a:t>github</a:t>
            </a:r>
            <a:r>
              <a:rPr lang="en-US" dirty="0">
                <a:ea typeface="Calibri"/>
                <a:cs typeface="Calibri"/>
              </a:rPr>
              <a:t> repo).</a:t>
            </a:r>
          </a:p>
          <a:p>
            <a:pPr marL="457200" indent="-457200">
              <a:buAutoNum type="arabicPeriod"/>
            </a:pPr>
            <a:r>
              <a:rPr lang="en-US" dirty="0">
                <a:ea typeface="Calibri"/>
                <a:cs typeface="Calibri"/>
              </a:rPr>
              <a:t>Order the new column in descending order. Cosine similarity is between 1 and -1, from most similar, to having opposite similarity, respectively. This can also be ordered by the different clusters created.</a:t>
            </a:r>
          </a:p>
          <a:p>
            <a:r>
              <a:rPr lang="en-US" dirty="0">
                <a:ea typeface="Calibri"/>
                <a:cs typeface="Calibri"/>
              </a:rPr>
              <a:t>This extra information comes in handy when selecting multiple peers that meet your criteria. Using similarity helps narrow down your selection.</a:t>
            </a: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34429352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ACF486-499D-18DF-24B3-A4EA19809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8D777-6651-49E1-6750-B292C61B80D3}"/>
              </a:ext>
            </a:extLst>
          </p:cNvPr>
          <p:cNvSpPr>
            <a:spLocks noGrp="1"/>
          </p:cNvSpPr>
          <p:nvPr>
            <p:ph type="title"/>
          </p:nvPr>
        </p:nvSpPr>
        <p:spPr/>
        <p:txBody>
          <a:bodyPr/>
          <a:lstStyle/>
          <a:p>
            <a:r>
              <a:rPr lang="en-US" dirty="0"/>
              <a:t>Developing a Report</a:t>
            </a:r>
          </a:p>
        </p:txBody>
      </p:sp>
      <p:sp>
        <p:nvSpPr>
          <p:cNvPr id="3" name="Content Placeholder 2">
            <a:extLst>
              <a:ext uri="{FF2B5EF4-FFF2-40B4-BE49-F238E27FC236}">
                <a16:creationId xmlns:a16="http://schemas.microsoft.com/office/drawing/2014/main" id="{0D00A156-CD9D-9083-C547-05BD63CE6C13}"/>
              </a:ext>
            </a:extLst>
          </p:cNvPr>
          <p:cNvSpPr>
            <a:spLocks noGrp="1"/>
          </p:cNvSpPr>
          <p:nvPr>
            <p:ph idx="1"/>
          </p:nvPr>
        </p:nvSpPr>
        <p:spPr/>
        <p:txBody>
          <a:bodyPr vert="horz" lIns="91440" tIns="45720" rIns="91440" bIns="45720" rtlCol="0" anchor="t">
            <a:noAutofit/>
          </a:bodyPr>
          <a:lstStyle/>
          <a:p>
            <a:r>
              <a:rPr lang="en-US" b="1" dirty="0">
                <a:ea typeface="Calibri"/>
                <a:cs typeface="Calibri"/>
              </a:rPr>
              <a:t>What you should have so far</a:t>
            </a:r>
          </a:p>
          <a:p>
            <a:pPr marL="342900" indent="-342900">
              <a:buFont typeface="Arial" panose="020B0604020202020204" pitchFamily="34" charset="0"/>
              <a:buChar char="•"/>
            </a:pPr>
            <a:r>
              <a:rPr lang="en-US" dirty="0"/>
              <a:t>A </a:t>
            </a:r>
            <a:r>
              <a:rPr lang="en-US" b="1" dirty="0"/>
              <a:t>clear purpose</a:t>
            </a:r>
            <a:r>
              <a:rPr lang="en-US" dirty="0"/>
              <a:t> to guide report structure and content.</a:t>
            </a:r>
          </a:p>
          <a:p>
            <a:pPr marL="342900" indent="-342900">
              <a:buFont typeface="Arial" panose="020B0604020202020204" pitchFamily="34" charset="0"/>
              <a:buChar char="•"/>
            </a:pPr>
            <a:r>
              <a:rPr lang="en-US" b="1" dirty="0"/>
              <a:t>Defined metrics</a:t>
            </a:r>
            <a:r>
              <a:rPr lang="en-US" dirty="0"/>
              <a:t> sourced from IPEDS definitions. This may also include metric groupings if created. </a:t>
            </a:r>
          </a:p>
          <a:p>
            <a:pPr marL="342900" indent="-342900">
              <a:buFont typeface="Arial" panose="020B0604020202020204" pitchFamily="34" charset="0"/>
              <a:buChar char="•"/>
            </a:pPr>
            <a:r>
              <a:rPr lang="en-US" dirty="0"/>
              <a:t>A validated </a:t>
            </a:r>
            <a:r>
              <a:rPr lang="en-US" b="1" dirty="0"/>
              <a:t>peer list</a:t>
            </a:r>
            <a:r>
              <a:rPr lang="en-US" dirty="0"/>
              <a:t> for comparison. This also could contain the </a:t>
            </a:r>
            <a:r>
              <a:rPr lang="en-US" b="1" dirty="0"/>
              <a:t>peer groups </a:t>
            </a:r>
            <a:r>
              <a:rPr lang="en-US" dirty="0"/>
              <a:t>that align with your institutional strategy. </a:t>
            </a:r>
          </a:p>
          <a:p>
            <a:pPr marL="342900" indent="-342900">
              <a:buFont typeface="Arial" panose="020B0604020202020204" pitchFamily="34" charset="0"/>
              <a:buChar char="•"/>
            </a:pPr>
            <a:r>
              <a:rPr lang="en-US" dirty="0"/>
              <a:t>Supporting </a:t>
            </a:r>
            <a:r>
              <a:rPr lang="en-US" b="1" dirty="0"/>
              <a:t>institutional reference data</a:t>
            </a:r>
            <a:r>
              <a:rPr lang="en-US" dirty="0"/>
              <a:t> (e.g., labels, categories). This is found in the directory survey in IPEDS (HD2024)</a:t>
            </a:r>
          </a:p>
          <a:p>
            <a:pPr marL="342900" indent="-342900">
              <a:buFont typeface="Arial" panose="020B0604020202020204" pitchFamily="34" charset="0"/>
              <a:buChar char="•"/>
            </a:pPr>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33305039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2AE18-2838-DABC-5C60-88F934B5E2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E355E3-3B4D-3DCF-44BA-5F8A904F3189}"/>
              </a:ext>
            </a:extLst>
          </p:cNvPr>
          <p:cNvSpPr>
            <a:spLocks noGrp="1"/>
          </p:cNvSpPr>
          <p:nvPr>
            <p:ph type="title"/>
          </p:nvPr>
        </p:nvSpPr>
        <p:spPr/>
        <p:txBody>
          <a:bodyPr/>
          <a:lstStyle/>
          <a:p>
            <a:r>
              <a:rPr lang="en-US" dirty="0"/>
              <a:t>Developing a Report</a:t>
            </a:r>
          </a:p>
        </p:txBody>
      </p:sp>
      <p:sp>
        <p:nvSpPr>
          <p:cNvPr id="3" name="Content Placeholder 2">
            <a:extLst>
              <a:ext uri="{FF2B5EF4-FFF2-40B4-BE49-F238E27FC236}">
                <a16:creationId xmlns:a16="http://schemas.microsoft.com/office/drawing/2014/main" id="{98EB26D9-7667-C80F-A222-12E1959088B0}"/>
              </a:ext>
            </a:extLst>
          </p:cNvPr>
          <p:cNvSpPr>
            <a:spLocks noGrp="1"/>
          </p:cNvSpPr>
          <p:nvPr>
            <p:ph idx="1"/>
          </p:nvPr>
        </p:nvSpPr>
        <p:spPr/>
        <p:txBody>
          <a:bodyPr vert="horz" lIns="91440" tIns="45720" rIns="91440" bIns="45720" rtlCol="0" anchor="t">
            <a:noAutofit/>
          </a:bodyPr>
          <a:lstStyle/>
          <a:p>
            <a:r>
              <a:rPr lang="en-US" b="1" dirty="0">
                <a:ea typeface="Calibri"/>
                <a:cs typeface="Calibri"/>
              </a:rPr>
              <a:t>Displaying multiple dimensions</a:t>
            </a:r>
          </a:p>
          <a:p>
            <a:r>
              <a:rPr lang="en-US" dirty="0">
                <a:ea typeface="Calibri"/>
                <a:cs typeface="Calibri"/>
              </a:rPr>
              <a:t>This is a common problem for data professionals to handle. How do you display as many factors or dimensions of data as possible in one visual? Here we have:</a:t>
            </a:r>
          </a:p>
          <a:p>
            <a:pPr marL="457200" indent="-457200">
              <a:buFont typeface="+mj-lt"/>
              <a:buAutoNum type="arabicPeriod"/>
            </a:pPr>
            <a:r>
              <a:rPr lang="en-US" dirty="0">
                <a:ea typeface="Calibri"/>
                <a:cs typeface="Calibri"/>
              </a:rPr>
              <a:t>Time (Year over Year collections)</a:t>
            </a:r>
          </a:p>
          <a:p>
            <a:pPr marL="457200" indent="-457200">
              <a:buFont typeface="+mj-lt"/>
              <a:buAutoNum type="arabicPeriod"/>
            </a:pPr>
            <a:r>
              <a:rPr lang="en-US" dirty="0">
                <a:ea typeface="Calibri"/>
                <a:cs typeface="Calibri"/>
              </a:rPr>
              <a:t>Peers (Multiple institutions)</a:t>
            </a:r>
          </a:p>
          <a:p>
            <a:pPr marL="457200" indent="-457200">
              <a:buFont typeface="+mj-lt"/>
              <a:buAutoNum type="arabicPeriod"/>
            </a:pPr>
            <a:r>
              <a:rPr lang="en-US" dirty="0">
                <a:ea typeface="Calibri"/>
                <a:cs typeface="Calibri"/>
              </a:rPr>
              <a:t>The Metric itself</a:t>
            </a:r>
          </a:p>
          <a:p>
            <a:pPr marL="457200" indent="-457200">
              <a:buFont typeface="+mj-lt"/>
              <a:buAutoNum type="arabicPeriod"/>
            </a:pPr>
            <a:r>
              <a:rPr lang="en-US" dirty="0">
                <a:ea typeface="Calibri"/>
                <a:cs typeface="Calibri"/>
              </a:rPr>
              <a:t>Benchmarking/Ranking/Comparison element</a:t>
            </a:r>
          </a:p>
          <a:p>
            <a:r>
              <a:rPr lang="en-US" dirty="0">
                <a:ea typeface="Calibri"/>
                <a:cs typeface="Calibri"/>
              </a:rPr>
              <a:t>And not to mention any other breakdown you may need. One of many solutions we implemented was to have two dedicated pages that broke these dimensions apart:</a:t>
            </a:r>
          </a:p>
        </p:txBody>
      </p:sp>
      <p:sp>
        <p:nvSpPr>
          <p:cNvPr id="6" name="Content Placeholder 2">
            <a:extLst>
              <a:ext uri="{FF2B5EF4-FFF2-40B4-BE49-F238E27FC236}">
                <a16:creationId xmlns:a16="http://schemas.microsoft.com/office/drawing/2014/main" id="{282154F4-DE4A-FC42-0313-04CE1720C9B5}"/>
              </a:ext>
            </a:extLst>
          </p:cNvPr>
          <p:cNvSpPr txBox="1">
            <a:spLocks/>
          </p:cNvSpPr>
          <p:nvPr/>
        </p:nvSpPr>
        <p:spPr>
          <a:xfrm>
            <a:off x="1282700" y="5670551"/>
            <a:ext cx="10515600" cy="628650"/>
          </a:xfrm>
          <a:prstGeom prst="rect">
            <a:avLst/>
          </a:prstGeom>
        </p:spPr>
        <p:txBody>
          <a:bodyPr vert="horz" lIns="91440" tIns="45720" rIns="91440" bIns="45720" numCol="2"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2400" b="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b="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b="1" dirty="0">
                <a:ea typeface="Calibri"/>
                <a:cs typeface="Calibri"/>
              </a:rPr>
              <a:t>Single Year Comparison</a:t>
            </a:r>
          </a:p>
          <a:p>
            <a:endParaRPr lang="en-US" b="1" dirty="0">
              <a:ea typeface="Calibri"/>
              <a:cs typeface="Calibri"/>
            </a:endParaRPr>
          </a:p>
          <a:p>
            <a:pPr marL="342900" indent="-342900">
              <a:buFont typeface="Arial" panose="020B0604020202020204" pitchFamily="34" charset="0"/>
              <a:buChar char="•"/>
            </a:pPr>
            <a:r>
              <a:rPr lang="en-US" b="1" dirty="0">
                <a:ea typeface="Calibri"/>
                <a:cs typeface="Calibri"/>
              </a:rPr>
              <a:t>Yearly Trend Comparison</a:t>
            </a:r>
            <a:endParaRPr lang="en-US" dirty="0">
              <a:ea typeface="Calibri" panose="020F0502020204030204"/>
              <a:cs typeface="Calibri" panose="020F0502020204030204"/>
            </a:endParaRPr>
          </a:p>
          <a:p>
            <a:endParaRPr lang="en-US" b="1" dirty="0">
              <a:ea typeface="Calibri" panose="020F0502020204030204"/>
              <a:cs typeface="Calibri" panose="020F0502020204030204"/>
            </a:endParaRPr>
          </a:p>
        </p:txBody>
      </p:sp>
    </p:spTree>
    <p:extLst>
      <p:ext uri="{BB962C8B-B14F-4D97-AF65-F5344CB8AC3E}">
        <p14:creationId xmlns:p14="http://schemas.microsoft.com/office/powerpoint/2010/main" val="32697457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8E556-680C-3723-83AA-23D1D3534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7EFF9E-6AAA-3049-5C07-FE5CCEEAAED2}"/>
              </a:ext>
            </a:extLst>
          </p:cNvPr>
          <p:cNvSpPr>
            <a:spLocks noGrp="1"/>
          </p:cNvSpPr>
          <p:nvPr>
            <p:ph type="title"/>
          </p:nvPr>
        </p:nvSpPr>
        <p:spPr/>
        <p:txBody>
          <a:bodyPr/>
          <a:lstStyle/>
          <a:p>
            <a:r>
              <a:rPr lang="en-US" dirty="0"/>
              <a:t>Developing a Report</a:t>
            </a:r>
          </a:p>
        </p:txBody>
      </p:sp>
      <p:sp>
        <p:nvSpPr>
          <p:cNvPr id="3" name="Content Placeholder 2">
            <a:extLst>
              <a:ext uri="{FF2B5EF4-FFF2-40B4-BE49-F238E27FC236}">
                <a16:creationId xmlns:a16="http://schemas.microsoft.com/office/drawing/2014/main" id="{F66A9494-3507-95C6-85D3-3712487A459F}"/>
              </a:ext>
            </a:extLst>
          </p:cNvPr>
          <p:cNvSpPr>
            <a:spLocks noGrp="1"/>
          </p:cNvSpPr>
          <p:nvPr>
            <p:ph idx="1"/>
          </p:nvPr>
        </p:nvSpPr>
        <p:spPr/>
        <p:txBody>
          <a:bodyPr vert="horz" lIns="91440" tIns="45720" rIns="91440" bIns="45720" rtlCol="0" anchor="t">
            <a:noAutofit/>
          </a:bodyPr>
          <a:lstStyle/>
          <a:p>
            <a:r>
              <a:rPr lang="en-US" b="1" dirty="0">
                <a:ea typeface="Calibri"/>
                <a:cs typeface="Calibri"/>
              </a:rPr>
              <a:t>Single Year Comparison</a:t>
            </a:r>
          </a:p>
          <a:p>
            <a:r>
              <a:rPr lang="en-US" dirty="0">
                <a:ea typeface="Calibri"/>
                <a:cs typeface="Calibri"/>
              </a:rPr>
              <a:t>Here we visualize:</a:t>
            </a:r>
          </a:p>
          <a:p>
            <a:pPr marL="342900" indent="-342900">
              <a:buFont typeface="Arial" panose="020B0604020202020204" pitchFamily="34" charset="0"/>
              <a:buChar char="•"/>
            </a:pPr>
            <a:r>
              <a:rPr lang="en-US" dirty="0">
                <a:ea typeface="Calibri"/>
                <a:cs typeface="Calibri"/>
              </a:rPr>
              <a:t>Metrics in columns</a:t>
            </a:r>
          </a:p>
          <a:p>
            <a:pPr marL="342900" indent="-342900">
              <a:buFont typeface="Arial" panose="020B0604020202020204" pitchFamily="34" charset="0"/>
              <a:buChar char="•"/>
            </a:pPr>
            <a:r>
              <a:rPr lang="en-US" dirty="0">
                <a:ea typeface="Calibri"/>
                <a:cs typeface="Calibri"/>
              </a:rPr>
              <a:t>Peers in rows</a:t>
            </a:r>
          </a:p>
          <a:p>
            <a:pPr marL="342900" indent="-342900">
              <a:buFont typeface="Arial" panose="020B0604020202020204" pitchFamily="34" charset="0"/>
              <a:buChar char="•"/>
            </a:pPr>
            <a:r>
              <a:rPr lang="en-US" dirty="0">
                <a:ea typeface="Calibri"/>
                <a:cs typeface="Calibri"/>
              </a:rPr>
              <a:t>Added aggregate rows are:</a:t>
            </a:r>
          </a:p>
          <a:p>
            <a:pPr marL="1028700" lvl="1" indent="-342900"/>
            <a:r>
              <a:rPr lang="en-US" dirty="0">
                <a:ea typeface="Calibri"/>
                <a:cs typeface="Calibri"/>
              </a:rPr>
              <a:t>Ranking for each metric that our school falls into</a:t>
            </a:r>
          </a:p>
          <a:p>
            <a:pPr marL="1028700" lvl="1" indent="-342900"/>
            <a:r>
              <a:rPr lang="en-US" dirty="0">
                <a:ea typeface="Calibri"/>
                <a:cs typeface="Calibri"/>
              </a:rPr>
              <a:t>Change in rank from prior year</a:t>
            </a:r>
          </a:p>
        </p:txBody>
      </p:sp>
    </p:spTree>
    <p:extLst>
      <p:ext uri="{BB962C8B-B14F-4D97-AF65-F5344CB8AC3E}">
        <p14:creationId xmlns:p14="http://schemas.microsoft.com/office/powerpoint/2010/main" val="2815574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C03E3-646F-E7D5-9E31-2F8C32D329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375C4-4529-902C-80A4-F93BCD4142B7}"/>
              </a:ext>
            </a:extLst>
          </p:cNvPr>
          <p:cNvSpPr>
            <a:spLocks noGrp="1"/>
          </p:cNvSpPr>
          <p:nvPr>
            <p:ph type="title"/>
          </p:nvPr>
        </p:nvSpPr>
        <p:spPr/>
        <p:txBody>
          <a:bodyPr/>
          <a:lstStyle/>
          <a:p>
            <a:r>
              <a:rPr lang="en-US" dirty="0"/>
              <a:t>Developing a Report</a:t>
            </a:r>
          </a:p>
        </p:txBody>
      </p:sp>
      <p:sp>
        <p:nvSpPr>
          <p:cNvPr id="3" name="Content Placeholder 2">
            <a:extLst>
              <a:ext uri="{FF2B5EF4-FFF2-40B4-BE49-F238E27FC236}">
                <a16:creationId xmlns:a16="http://schemas.microsoft.com/office/drawing/2014/main" id="{47962C58-0FBE-E7B3-06EE-86FD282CF2E1}"/>
              </a:ext>
            </a:extLst>
          </p:cNvPr>
          <p:cNvSpPr>
            <a:spLocks noGrp="1"/>
          </p:cNvSpPr>
          <p:nvPr>
            <p:ph idx="1"/>
          </p:nvPr>
        </p:nvSpPr>
        <p:spPr>
          <a:xfrm>
            <a:off x="6096000" y="585980"/>
            <a:ext cx="3603171" cy="656318"/>
          </a:xfrm>
        </p:spPr>
        <p:txBody>
          <a:bodyPr vert="horz" lIns="91440" tIns="45720" rIns="91440" bIns="45720" rtlCol="0" anchor="t">
            <a:noAutofit/>
          </a:bodyPr>
          <a:lstStyle/>
          <a:p>
            <a:r>
              <a:rPr lang="en-US" b="1" dirty="0">
                <a:ea typeface="Calibri"/>
                <a:cs typeface="Calibri"/>
              </a:rPr>
              <a:t>Single Year Comparison</a:t>
            </a:r>
          </a:p>
        </p:txBody>
      </p:sp>
      <p:pic>
        <p:nvPicPr>
          <p:cNvPr id="5" name="Picture 4">
            <a:extLst>
              <a:ext uri="{FF2B5EF4-FFF2-40B4-BE49-F238E27FC236}">
                <a16:creationId xmlns:a16="http://schemas.microsoft.com/office/drawing/2014/main" id="{097D8824-E721-CFD5-109B-42AB0A59AC2D}"/>
              </a:ext>
            </a:extLst>
          </p:cNvPr>
          <p:cNvPicPr>
            <a:picLocks noChangeAspect="1"/>
          </p:cNvPicPr>
          <p:nvPr/>
        </p:nvPicPr>
        <p:blipFill>
          <a:blip r:embed="rId2"/>
          <a:stretch>
            <a:fillRect/>
          </a:stretch>
        </p:blipFill>
        <p:spPr>
          <a:xfrm>
            <a:off x="1709626" y="1242298"/>
            <a:ext cx="8694902" cy="5250576"/>
          </a:xfrm>
          <a:prstGeom prst="rect">
            <a:avLst/>
          </a:prstGeom>
          <a:solidFill>
            <a:srgbClr val="002060"/>
          </a:solidFill>
          <a:ln w="101600">
            <a:solidFill>
              <a:schemeClr val="bg1"/>
            </a:solidFill>
          </a:ln>
          <a:effectLst>
            <a:outerShdw blurRad="1270000" dist="38100" dir="5400000" algn="t" rotWithShape="0">
              <a:prstClr val="black">
                <a:alpha val="40000"/>
              </a:prstClr>
            </a:outerShdw>
          </a:effectLst>
        </p:spPr>
      </p:pic>
    </p:spTree>
    <p:extLst>
      <p:ext uri="{BB962C8B-B14F-4D97-AF65-F5344CB8AC3E}">
        <p14:creationId xmlns:p14="http://schemas.microsoft.com/office/powerpoint/2010/main" val="9825553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5617A5-C8F7-51C5-286A-2611D7AA7E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7B634C-4AA5-722C-5F84-E68FA569818A}"/>
              </a:ext>
            </a:extLst>
          </p:cNvPr>
          <p:cNvSpPr>
            <a:spLocks noGrp="1"/>
          </p:cNvSpPr>
          <p:nvPr>
            <p:ph type="title"/>
          </p:nvPr>
        </p:nvSpPr>
        <p:spPr/>
        <p:txBody>
          <a:bodyPr/>
          <a:lstStyle/>
          <a:p>
            <a:r>
              <a:rPr lang="en-US" dirty="0"/>
              <a:t>Developing a Report</a:t>
            </a:r>
          </a:p>
        </p:txBody>
      </p:sp>
      <p:sp>
        <p:nvSpPr>
          <p:cNvPr id="3" name="Content Placeholder 2">
            <a:extLst>
              <a:ext uri="{FF2B5EF4-FFF2-40B4-BE49-F238E27FC236}">
                <a16:creationId xmlns:a16="http://schemas.microsoft.com/office/drawing/2014/main" id="{3AAC7DEA-0318-A745-EF0F-C3FBB9F2380A}"/>
              </a:ext>
            </a:extLst>
          </p:cNvPr>
          <p:cNvSpPr>
            <a:spLocks noGrp="1"/>
          </p:cNvSpPr>
          <p:nvPr>
            <p:ph idx="1"/>
          </p:nvPr>
        </p:nvSpPr>
        <p:spPr/>
        <p:txBody>
          <a:bodyPr vert="horz" lIns="91440" tIns="45720" rIns="91440" bIns="45720" rtlCol="0" anchor="t">
            <a:noAutofit/>
          </a:bodyPr>
          <a:lstStyle/>
          <a:p>
            <a:r>
              <a:rPr lang="en-US" b="1" dirty="0">
                <a:ea typeface="Calibri"/>
                <a:cs typeface="Calibri"/>
              </a:rPr>
              <a:t>Yearly Trend Comparison</a:t>
            </a:r>
          </a:p>
          <a:p>
            <a:r>
              <a:rPr lang="en-US" dirty="0">
                <a:ea typeface="Calibri"/>
                <a:cs typeface="Calibri"/>
              </a:rPr>
              <a:t>Here we visualize:</a:t>
            </a:r>
          </a:p>
          <a:p>
            <a:pPr marL="342900" indent="-342900">
              <a:buFont typeface="Arial" panose="020B0604020202020204" pitchFamily="34" charset="0"/>
              <a:buChar char="•"/>
            </a:pPr>
            <a:r>
              <a:rPr lang="en-US" dirty="0">
                <a:ea typeface="Calibri"/>
                <a:cs typeface="Calibri"/>
              </a:rPr>
              <a:t>Metrics typically on the y axis</a:t>
            </a:r>
          </a:p>
          <a:p>
            <a:pPr marL="342900" indent="-342900">
              <a:buFont typeface="Arial" panose="020B0604020202020204" pitchFamily="34" charset="0"/>
              <a:buChar char="•"/>
            </a:pPr>
            <a:r>
              <a:rPr lang="en-US" dirty="0">
                <a:ea typeface="Calibri"/>
                <a:cs typeface="Calibri"/>
              </a:rPr>
              <a:t>Peers as color codes or represented as an aggregate group</a:t>
            </a:r>
          </a:p>
          <a:p>
            <a:pPr marL="342900" indent="-342900">
              <a:buFont typeface="Arial" panose="020B0604020202020204" pitchFamily="34" charset="0"/>
              <a:buChar char="•"/>
            </a:pPr>
            <a:r>
              <a:rPr lang="en-US" dirty="0">
                <a:ea typeface="Calibri"/>
                <a:cs typeface="Calibri"/>
              </a:rPr>
              <a:t>Time of course lays on the x axis for each visual</a:t>
            </a:r>
          </a:p>
          <a:p>
            <a:pPr marL="342900" indent="-342900">
              <a:buFont typeface="Arial" panose="020B0604020202020204" pitchFamily="34" charset="0"/>
              <a:buChar char="•"/>
            </a:pPr>
            <a:endParaRPr lang="en-US" dirty="0">
              <a:ea typeface="Calibri"/>
              <a:cs typeface="Calibri"/>
            </a:endParaRPr>
          </a:p>
          <a:p>
            <a:r>
              <a:rPr lang="en-US" dirty="0">
                <a:ea typeface="Calibri"/>
                <a:cs typeface="Calibri"/>
              </a:rPr>
              <a:t>You will also notice not all visuals are related to trend. These are not meant to be hard rules, but as helpful thought exercises to get a report that displays your benchmarking data in a meaningful way.</a:t>
            </a:r>
          </a:p>
        </p:txBody>
      </p:sp>
    </p:spTree>
    <p:extLst>
      <p:ext uri="{BB962C8B-B14F-4D97-AF65-F5344CB8AC3E}">
        <p14:creationId xmlns:p14="http://schemas.microsoft.com/office/powerpoint/2010/main" val="143385077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FF46A-F19F-D492-6F10-2C3775015C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27264-A598-3823-469B-687D4B21AA38}"/>
              </a:ext>
            </a:extLst>
          </p:cNvPr>
          <p:cNvSpPr>
            <a:spLocks noGrp="1"/>
          </p:cNvSpPr>
          <p:nvPr>
            <p:ph type="title"/>
          </p:nvPr>
        </p:nvSpPr>
        <p:spPr/>
        <p:txBody>
          <a:bodyPr/>
          <a:lstStyle/>
          <a:p>
            <a:r>
              <a:rPr lang="en-US" dirty="0"/>
              <a:t>Developing a Report</a:t>
            </a:r>
          </a:p>
        </p:txBody>
      </p:sp>
      <p:sp>
        <p:nvSpPr>
          <p:cNvPr id="3" name="Content Placeholder 2">
            <a:extLst>
              <a:ext uri="{FF2B5EF4-FFF2-40B4-BE49-F238E27FC236}">
                <a16:creationId xmlns:a16="http://schemas.microsoft.com/office/drawing/2014/main" id="{CC7E8C43-970B-7494-1E39-F48184E1942C}"/>
              </a:ext>
            </a:extLst>
          </p:cNvPr>
          <p:cNvSpPr>
            <a:spLocks noGrp="1"/>
          </p:cNvSpPr>
          <p:nvPr>
            <p:ph idx="1"/>
          </p:nvPr>
        </p:nvSpPr>
        <p:spPr>
          <a:xfrm>
            <a:off x="6096000" y="585980"/>
            <a:ext cx="3603171" cy="656318"/>
          </a:xfrm>
        </p:spPr>
        <p:txBody>
          <a:bodyPr vert="horz" lIns="91440" tIns="45720" rIns="91440" bIns="45720" rtlCol="0" anchor="t">
            <a:noAutofit/>
          </a:bodyPr>
          <a:lstStyle/>
          <a:p>
            <a:r>
              <a:rPr lang="en-US" b="1" dirty="0">
                <a:ea typeface="Calibri"/>
                <a:cs typeface="Calibri"/>
              </a:rPr>
              <a:t>Yearly Trend Comparison</a:t>
            </a:r>
          </a:p>
        </p:txBody>
      </p:sp>
      <p:pic>
        <p:nvPicPr>
          <p:cNvPr id="4" name="Picture 3">
            <a:extLst>
              <a:ext uri="{FF2B5EF4-FFF2-40B4-BE49-F238E27FC236}">
                <a16:creationId xmlns:a16="http://schemas.microsoft.com/office/drawing/2014/main" id="{DB049761-78FA-F257-E28B-07719133F49C}"/>
              </a:ext>
            </a:extLst>
          </p:cNvPr>
          <p:cNvPicPr>
            <a:picLocks noChangeAspect="1"/>
          </p:cNvPicPr>
          <p:nvPr/>
        </p:nvPicPr>
        <p:blipFill>
          <a:blip r:embed="rId2"/>
          <a:stretch>
            <a:fillRect/>
          </a:stretch>
        </p:blipFill>
        <p:spPr>
          <a:xfrm>
            <a:off x="1667001" y="1463152"/>
            <a:ext cx="8833402" cy="5029721"/>
          </a:xfrm>
          <a:prstGeom prst="rect">
            <a:avLst/>
          </a:prstGeom>
          <a:solidFill>
            <a:srgbClr val="002060"/>
          </a:solidFill>
          <a:ln w="101600">
            <a:solidFill>
              <a:schemeClr val="bg1"/>
            </a:solidFill>
          </a:ln>
          <a:effectLst>
            <a:outerShdw blurRad="1270000" dist="38100" dir="5400000" algn="t" rotWithShape="0">
              <a:prstClr val="black">
                <a:alpha val="40000"/>
              </a:prstClr>
            </a:outerShdw>
          </a:effectLst>
        </p:spPr>
      </p:pic>
    </p:spTree>
    <p:extLst>
      <p:ext uri="{BB962C8B-B14F-4D97-AF65-F5344CB8AC3E}">
        <p14:creationId xmlns:p14="http://schemas.microsoft.com/office/powerpoint/2010/main" val="24893116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itle 26">
            <a:extLst>
              <a:ext uri="{FF2B5EF4-FFF2-40B4-BE49-F238E27FC236}">
                <a16:creationId xmlns:a16="http://schemas.microsoft.com/office/drawing/2014/main" id="{120FFD0A-90FB-A086-AFB2-FDE3F66364DB}"/>
              </a:ext>
            </a:extLst>
          </p:cNvPr>
          <p:cNvSpPr>
            <a:spLocks noGrp="1"/>
          </p:cNvSpPr>
          <p:nvPr>
            <p:ph type="title"/>
          </p:nvPr>
        </p:nvSpPr>
        <p:spPr/>
        <p:txBody>
          <a:bodyPr/>
          <a:lstStyle/>
          <a:p>
            <a:r>
              <a:rPr lang="en-US" dirty="0"/>
              <a:t>Appendices</a:t>
            </a:r>
          </a:p>
        </p:txBody>
      </p:sp>
      <p:sp>
        <p:nvSpPr>
          <p:cNvPr id="28" name="Text Placeholder 27">
            <a:extLst>
              <a:ext uri="{FF2B5EF4-FFF2-40B4-BE49-F238E27FC236}">
                <a16:creationId xmlns:a16="http://schemas.microsoft.com/office/drawing/2014/main" id="{8BA6B1B2-3892-CE28-8303-FD7E82EA21D3}"/>
              </a:ext>
            </a:extLst>
          </p:cNvPr>
          <p:cNvSpPr>
            <a:spLocks noGrp="1"/>
          </p:cNvSpPr>
          <p:nvPr>
            <p:ph type="body" idx="1"/>
          </p:nvPr>
        </p:nvSpPr>
        <p:spPr/>
        <p:txBody>
          <a:bodyPr/>
          <a:lstStyle/>
          <a:p>
            <a:r>
              <a:rPr lang="en-US" dirty="0"/>
              <a:t>WSU Tech Metric Definitions</a:t>
            </a:r>
          </a:p>
          <a:p>
            <a:r>
              <a:rPr lang="en-US" dirty="0"/>
              <a:t>Notes on IPEDS Variables and Codes</a:t>
            </a:r>
          </a:p>
        </p:txBody>
      </p:sp>
    </p:spTree>
    <p:extLst>
      <p:ext uri="{BB962C8B-B14F-4D97-AF65-F5344CB8AC3E}">
        <p14:creationId xmlns:p14="http://schemas.microsoft.com/office/powerpoint/2010/main" val="28989165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94D07-8532-1957-FBD8-F4EB9B6EB6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702A6-1B25-0D0C-9250-756105041E5C}"/>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0D15D89-8E98-13D8-A47F-74C170EBE1DC}"/>
                  </a:ext>
                </a:extLst>
              </p:cNvPr>
              <p:cNvSpPr>
                <a:spLocks noGrp="1"/>
              </p:cNvSpPr>
              <p:nvPr>
                <p:ph idx="1"/>
              </p:nvPr>
            </p:nvSpPr>
            <p:spPr/>
            <p:txBody>
              <a:bodyPr vert="horz" lIns="91440" tIns="45720" rIns="91440" bIns="45720" rtlCol="0" anchor="t">
                <a:noAutofit/>
              </a:bodyPr>
              <a:lstStyle/>
              <a:p>
                <a:r>
                  <a:rPr lang="en-US" b="1" dirty="0">
                    <a:ea typeface="Calibri"/>
                    <a:cs typeface="Calibri"/>
                  </a:rPr>
                  <a:t>First-Year Retention Rate</a:t>
                </a:r>
              </a:p>
              <a:p>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m:rPr>
                              <m:nor/>
                            </m:rPr>
                            <a:rPr lang="en-US"/>
                            <m:t>RET</m:t>
                          </m:r>
                          <m:r>
                            <m:rPr>
                              <m:nor/>
                            </m:rPr>
                            <a:rPr lang="en-US"/>
                            <m:t>_</m:t>
                          </m:r>
                          <m:r>
                            <m:rPr>
                              <m:nor/>
                            </m:rPr>
                            <a:rPr lang="en-US"/>
                            <m:t>NMF</m:t>
                          </m:r>
                          <m:r>
                            <m:rPr>
                              <m:nor/>
                            </m:rPr>
                            <a:rPr lang="en-US"/>
                            <m:t> + </m:t>
                          </m:r>
                          <m:r>
                            <m:rPr>
                              <m:nor/>
                            </m:rPr>
                            <a:rPr lang="en-US"/>
                            <m:t>RET</m:t>
                          </m:r>
                          <m:r>
                            <m:rPr>
                              <m:nor/>
                            </m:rPr>
                            <a:rPr lang="en-US"/>
                            <m:t>_</m:t>
                          </m:r>
                          <m:r>
                            <m:rPr>
                              <m:nor/>
                            </m:rPr>
                            <a:rPr lang="en-US"/>
                            <m:t>NMP</m:t>
                          </m:r>
                        </m:num>
                        <m:den>
                          <m:r>
                            <m:rPr>
                              <m:nor/>
                            </m:rPr>
                            <a:rPr lang="en-US"/>
                            <m:t>RRFTCTA</m:t>
                          </m:r>
                          <m:r>
                            <m:rPr>
                              <m:nor/>
                            </m:rPr>
                            <a:rPr lang="en-US"/>
                            <m:t> + </m:t>
                          </m:r>
                          <m:r>
                            <m:rPr>
                              <m:nor/>
                            </m:rPr>
                            <a:rPr lang="en-US"/>
                            <m:t>RRPTCTA</m:t>
                          </m:r>
                          <m:r>
                            <m:rPr>
                              <m:nor/>
                            </m:rPr>
                            <a:rPr lang="en-US" dirty="0"/>
                            <m:t> </m:t>
                          </m:r>
                        </m:den>
                      </m:f>
                    </m:oMath>
                  </m:oMathPara>
                </a14:m>
                <a:endParaRPr lang="en-US" dirty="0"/>
              </a:p>
              <a:p>
                <a:r>
                  <a:rPr lang="en-US" dirty="0">
                    <a:ea typeface="Calibri"/>
                    <a:cs typeface="Calibri"/>
                  </a:rPr>
                  <a:t>IPEDS Surveys:</a:t>
                </a:r>
                <a:r>
                  <a:rPr lang="en-US" b="1" dirty="0">
                    <a:ea typeface="Calibri"/>
                    <a:cs typeface="Calibri"/>
                  </a:rPr>
                  <a:t> EF20##D</a:t>
                </a:r>
              </a:p>
            </p:txBody>
          </p:sp>
        </mc:Choice>
        <mc:Fallback>
          <p:sp>
            <p:nvSpPr>
              <p:cNvPr id="3" name="Content Placeholder 2">
                <a:extLst>
                  <a:ext uri="{FF2B5EF4-FFF2-40B4-BE49-F238E27FC236}">
                    <a16:creationId xmlns:a16="http://schemas.microsoft.com/office/drawing/2014/main" id="{60D15D89-8E98-13D8-A47F-74C170EBE1DC}"/>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2464796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460E-8EC8-A497-05CD-F4A0AB5CBE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FB6B9-BD68-070D-6CEB-6607D0EBE09A}"/>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71A6105-1211-23F8-A0B2-169E09CBEEA4}"/>
                  </a:ext>
                </a:extLst>
              </p:cNvPr>
              <p:cNvSpPr>
                <a:spLocks noGrp="1"/>
              </p:cNvSpPr>
              <p:nvPr>
                <p:ph idx="1"/>
              </p:nvPr>
            </p:nvSpPr>
            <p:spPr/>
            <p:txBody>
              <a:bodyPr vert="horz" lIns="91440" tIns="45720" rIns="91440" bIns="45720" rtlCol="0" anchor="t">
                <a:noAutofit/>
              </a:bodyPr>
              <a:lstStyle/>
              <a:p>
                <a:r>
                  <a:rPr lang="en-US" b="1" dirty="0">
                    <a:ea typeface="Calibri"/>
                    <a:cs typeface="Calibri"/>
                  </a:rPr>
                  <a:t>Completion &amp; Transfer Rate</a:t>
                </a:r>
              </a:p>
              <a:p>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eqArr>
                            <m:eqArrPr>
                              <m:ctrlPr>
                                <a:rPr lang="en-US" i="1">
                                  <a:latin typeface="Cambria Math" panose="02040503050406030204" pitchFamily="18" charset="0"/>
                                </a:rPr>
                              </m:ctrlPr>
                            </m:eqArrPr>
                            <m:e/>
                            <m:e>
                              <m:r>
                                <a:rPr lang="en-US" i="1">
                                  <a:latin typeface="Cambria Math" panose="02040503050406030204" pitchFamily="18" charset="0"/>
                                </a:rPr>
                                <m:t> </m:t>
                              </m:r>
                            </m:e>
                            <m:e>
                              <m:r>
                                <m:rPr>
                                  <m:nor/>
                                </m:rPr>
                                <a:rPr lang="en-US"/>
                                <m:t>OMCERT</m:t>
                              </m:r>
                              <m:r>
                                <m:rPr>
                                  <m:nor/>
                                </m:rPr>
                                <a:rPr lang="en-US"/>
                                <m:t>8 + </m:t>
                              </m:r>
                              <m:r>
                                <m:rPr>
                                  <m:nor/>
                                </m:rPr>
                                <a:rPr lang="en-US"/>
                                <m:t>OMASSC</m:t>
                              </m:r>
                              <m:r>
                                <m:rPr>
                                  <m:nor/>
                                </m:rPr>
                                <a:rPr lang="en-US"/>
                                <m:t>8</m:t>
                              </m:r>
                            </m:e>
                            <m:e>
                              <m:r>
                                <m:rPr>
                                  <m:nor/>
                                </m:rPr>
                                <a:rPr lang="en-US"/>
                                <m:t>+</m:t>
                              </m:r>
                              <m:r>
                                <m:rPr>
                                  <m:nor/>
                                </m:rPr>
                                <a:rPr lang="en-US"/>
                                <m:t>OMBACH</m:t>
                              </m:r>
                              <m:r>
                                <m:rPr>
                                  <m:nor/>
                                </m:rPr>
                                <a:rPr lang="en-US"/>
                                <m:t>8 +</m:t>
                              </m:r>
                              <m:r>
                                <m:rPr>
                                  <m:nor/>
                                </m:rPr>
                                <a:rPr lang="en-US"/>
                                <m:t>OMENRAI</m:t>
                              </m:r>
                            </m:e>
                          </m:eqArr>
                        </m:num>
                        <m:den>
                          <m:r>
                            <m:rPr>
                              <m:nor/>
                            </m:rPr>
                            <a:rPr lang="en-US"/>
                            <m:t>OMACHRT</m:t>
                          </m:r>
                          <m:r>
                            <m:rPr>
                              <m:nor/>
                            </m:rPr>
                            <a:rPr lang="en-US" dirty="0"/>
                            <m:t> </m:t>
                          </m:r>
                        </m:den>
                      </m:f>
                    </m:oMath>
                  </m:oMathPara>
                </a14:m>
                <a:endParaRPr lang="en-US" dirty="0"/>
              </a:p>
              <a:p>
                <a:r>
                  <a:rPr lang="en-US" dirty="0">
                    <a:ea typeface="Calibri"/>
                    <a:cs typeface="Calibri"/>
                  </a:rPr>
                  <a:t>IPEDS Surveys:</a:t>
                </a:r>
                <a:r>
                  <a:rPr lang="en-US" b="1" dirty="0">
                    <a:ea typeface="Calibri"/>
                    <a:cs typeface="Calibri"/>
                  </a:rPr>
                  <a:t> OM20##</a:t>
                </a:r>
              </a:p>
              <a:p>
                <a:r>
                  <a:rPr lang="en-US" dirty="0">
                    <a:ea typeface="Calibri"/>
                    <a:cs typeface="Calibri"/>
                  </a:rPr>
                  <a:t>Notes: Filter </a:t>
                </a:r>
                <a:r>
                  <a:rPr lang="en-US" b="1" dirty="0">
                    <a:ea typeface="Calibri"/>
                    <a:cs typeface="Calibri"/>
                  </a:rPr>
                  <a:t>OMCHRT = 50</a:t>
                </a:r>
                <a:endParaRPr lang="en-US" dirty="0">
                  <a:ea typeface="Calibri"/>
                  <a:cs typeface="Calibri"/>
                </a:endParaRPr>
              </a:p>
            </p:txBody>
          </p:sp>
        </mc:Choice>
        <mc:Fallback>
          <p:sp>
            <p:nvSpPr>
              <p:cNvPr id="3" name="Content Placeholder 2">
                <a:extLst>
                  <a:ext uri="{FF2B5EF4-FFF2-40B4-BE49-F238E27FC236}">
                    <a16:creationId xmlns:a16="http://schemas.microsoft.com/office/drawing/2014/main" id="{171A6105-1211-23F8-A0B2-169E09CBEEA4}"/>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447905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0AEC4-F9E3-79BE-987C-C21296167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3EA638-C13E-D8FC-01B1-24FE6602DC31}"/>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3E3F8F36-C33A-22EC-B31A-B912C63D2EE3}"/>
                  </a:ext>
                </a:extLst>
              </p:cNvPr>
              <p:cNvSpPr>
                <a:spLocks noGrp="1"/>
              </p:cNvSpPr>
              <p:nvPr>
                <p:ph idx="1"/>
              </p:nvPr>
            </p:nvSpPr>
            <p:spPr/>
            <p:txBody>
              <a:bodyPr vert="horz" lIns="91440" tIns="45720" rIns="91440" bIns="45720" rtlCol="0" anchor="t">
                <a:noAutofit/>
              </a:bodyPr>
              <a:lstStyle/>
              <a:p>
                <a:r>
                  <a:rPr lang="en-US" b="1" dirty="0">
                    <a:ea typeface="Calibri"/>
                    <a:cs typeface="Calibri"/>
                  </a:rPr>
                  <a:t>Graduation Rate</a:t>
                </a:r>
              </a:p>
              <a:p>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m:rPr>
                              <m:nor/>
                            </m:rPr>
                            <a:rPr lang="en-US"/>
                            <m:t>GRTOTLT</m:t>
                          </m:r>
                          <m:r>
                            <m:rPr>
                              <m:nor/>
                            </m:rPr>
                            <a:rPr lang="en-US"/>
                            <m:t> (</m:t>
                          </m:r>
                          <m:r>
                            <m:rPr>
                              <m:nor/>
                            </m:rPr>
                            <a:rPr lang="en-US"/>
                            <m:t>GRTYPE</m:t>
                          </m:r>
                          <m:r>
                            <m:rPr>
                              <m:nor/>
                            </m:rPr>
                            <a:rPr lang="en-US"/>
                            <m:t> = 3, 30)</m:t>
                          </m:r>
                        </m:num>
                        <m:den>
                          <m:r>
                            <m:rPr>
                              <m:nor/>
                            </m:rPr>
                            <a:rPr lang="en-US"/>
                            <m:t>GRTOTLT</m:t>
                          </m:r>
                          <m:r>
                            <m:rPr>
                              <m:nor/>
                            </m:rPr>
                            <a:rPr lang="en-US"/>
                            <m:t> (</m:t>
                          </m:r>
                          <m:r>
                            <m:rPr>
                              <m:nor/>
                            </m:rPr>
                            <a:rPr lang="en-US"/>
                            <m:t>GRTYPE</m:t>
                          </m:r>
                          <m:r>
                            <m:rPr>
                              <m:nor/>
                            </m:rPr>
                            <a:rPr lang="en-US"/>
                            <m:t> = 2, 29)</m:t>
                          </m:r>
                        </m:den>
                      </m:f>
                    </m:oMath>
                  </m:oMathPara>
                </a14:m>
                <a:endParaRPr lang="en-US" dirty="0"/>
              </a:p>
              <a:p>
                <a:r>
                  <a:rPr lang="en-US" dirty="0">
                    <a:ea typeface="Calibri"/>
                    <a:cs typeface="Calibri"/>
                  </a:rPr>
                  <a:t>IPEDS Surveys:</a:t>
                </a:r>
                <a:r>
                  <a:rPr lang="en-US" b="1" dirty="0">
                    <a:ea typeface="Calibri"/>
                    <a:cs typeface="Calibri"/>
                  </a:rPr>
                  <a:t> GR20##</a:t>
                </a:r>
              </a:p>
              <a:p>
                <a:r>
                  <a:rPr lang="en-US" dirty="0">
                    <a:ea typeface="Calibri"/>
                    <a:cs typeface="Calibri"/>
                  </a:rPr>
                  <a:t>Notes: </a:t>
                </a:r>
                <a:r>
                  <a:rPr lang="en-US" b="1" dirty="0">
                    <a:ea typeface="Calibri"/>
                    <a:cs typeface="Calibri"/>
                  </a:rPr>
                  <a:t>GRTYPE </a:t>
                </a:r>
                <a:r>
                  <a:rPr lang="en-US" dirty="0">
                    <a:ea typeface="Calibri"/>
                    <a:cs typeface="Calibri"/>
                  </a:rPr>
                  <a:t>is 3 or 30 for 2-year or 4-year schools respectively in the numerator.</a:t>
                </a:r>
              </a:p>
              <a:p>
                <a:r>
                  <a:rPr lang="en-US" dirty="0">
                    <a:ea typeface="Calibri"/>
                    <a:cs typeface="Calibri"/>
                  </a:rPr>
                  <a:t>And then 2 or 29 for the denominator. In this case it was easiest for us to make two separate joins with the same table, one for the top and another for the bottom. Then make the division calculation. For more information, consult the IPEDS dictionary for GR2024. </a:t>
                </a:r>
              </a:p>
            </p:txBody>
          </p:sp>
        </mc:Choice>
        <mc:Fallback>
          <p:sp>
            <p:nvSpPr>
              <p:cNvPr id="3" name="Content Placeholder 2">
                <a:extLst>
                  <a:ext uri="{FF2B5EF4-FFF2-40B4-BE49-F238E27FC236}">
                    <a16:creationId xmlns:a16="http://schemas.microsoft.com/office/drawing/2014/main" id="{3E3F8F36-C33A-22EC-B31A-B912C63D2EE3}"/>
                  </a:ext>
                </a:extLst>
              </p:cNvPr>
              <p:cNvSpPr>
                <a:spLocks noGrp="1" noRot="1" noChangeAspect="1" noMove="1" noResize="1" noEditPoints="1" noAdjustHandles="1" noChangeArrowheads="1" noChangeShapeType="1" noTextEdit="1"/>
              </p:cNvSpPr>
              <p:nvPr>
                <p:ph idx="1"/>
              </p:nvPr>
            </p:nvSpPr>
            <p:spPr>
              <a:blipFill>
                <a:blip r:embed="rId2"/>
                <a:stretch>
                  <a:fillRect l="-928" t="-1961" r="-580"/>
                </a:stretch>
              </a:blipFill>
            </p:spPr>
            <p:txBody>
              <a:bodyPr/>
              <a:lstStyle/>
              <a:p>
                <a:r>
                  <a:rPr lang="en-US">
                    <a:noFill/>
                  </a:rPr>
                  <a:t> </a:t>
                </a:r>
              </a:p>
            </p:txBody>
          </p:sp>
        </mc:Fallback>
      </mc:AlternateContent>
    </p:spTree>
    <p:extLst>
      <p:ext uri="{BB962C8B-B14F-4D97-AF65-F5344CB8AC3E}">
        <p14:creationId xmlns:p14="http://schemas.microsoft.com/office/powerpoint/2010/main" val="157473850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59E323-A77E-0B5F-5C3E-172304E16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17D5DD-6F9C-C748-E8C2-9B060AEED624}"/>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912D4BF-A4A0-F271-7D07-41A4C25AAA65}"/>
                  </a:ext>
                </a:extLst>
              </p:cNvPr>
              <p:cNvSpPr>
                <a:spLocks noGrp="1"/>
              </p:cNvSpPr>
              <p:nvPr>
                <p:ph idx="1"/>
              </p:nvPr>
            </p:nvSpPr>
            <p:spPr/>
            <p:txBody>
              <a:bodyPr vert="horz" lIns="91440" tIns="45720" rIns="91440" bIns="45720" rtlCol="0" anchor="t">
                <a:noAutofit/>
              </a:bodyPr>
              <a:lstStyle/>
              <a:p>
                <a:r>
                  <a:rPr lang="en-US" b="1" dirty="0">
                    <a:ea typeface="Calibri"/>
                    <a:cs typeface="Calibri"/>
                  </a:rPr>
                  <a:t>Outcome Efficiency Index</a:t>
                </a:r>
              </a:p>
              <a:p>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m:rPr>
                              <m:sty m:val="p"/>
                            </m:rPr>
                            <a:rPr lang="en-US" i="1">
                              <a:latin typeface="Cambria Math" panose="02040503050406030204" pitchFamily="18" charset="0"/>
                            </a:rPr>
                            <m:t>CSTOTLT</m:t>
                          </m:r>
                          <m:r>
                            <a:rPr lang="en-US" i="1">
                              <a:latin typeface="Cambria Math" panose="02040503050406030204" pitchFamily="18" charset="0"/>
                            </a:rPr>
                            <m:t> ∗ $100,000</m:t>
                          </m:r>
                        </m:num>
                        <m:den>
                          <m:r>
                            <m:rPr>
                              <m:sty m:val="p"/>
                            </m:rPr>
                            <a:rPr lang="en-US" i="1">
                              <a:latin typeface="Cambria Math" panose="02040503050406030204" pitchFamily="18" charset="0"/>
                            </a:rPr>
                            <m:t>F</m:t>
                          </m:r>
                          <m:r>
                            <a:rPr lang="en-US" i="1">
                              <a:latin typeface="Cambria Math" panose="02040503050406030204" pitchFamily="18" charset="0"/>
                            </a:rPr>
                            <m:t>1</m:t>
                          </m:r>
                          <m:r>
                            <m:rPr>
                              <m:sty m:val="p"/>
                            </m:rPr>
                            <a:rPr lang="en-US" i="1">
                              <a:latin typeface="Cambria Math" panose="02040503050406030204" pitchFamily="18" charset="0"/>
                            </a:rPr>
                            <m:t>C</m:t>
                          </m:r>
                          <m:r>
                            <a:rPr lang="en-US" i="1">
                              <a:latin typeface="Cambria Math" panose="02040503050406030204" pitchFamily="18" charset="0"/>
                            </a:rPr>
                            <m:t>191</m:t>
                          </m:r>
                        </m:den>
                      </m:f>
                    </m:oMath>
                  </m:oMathPara>
                </a14:m>
                <a:endParaRPr lang="en-US" dirty="0"/>
              </a:p>
              <a:p>
                <a:r>
                  <a:rPr lang="en-US" dirty="0">
                    <a:ea typeface="Calibri"/>
                    <a:cs typeface="Calibri"/>
                  </a:rPr>
                  <a:t>IPEDS Surveys:</a:t>
                </a:r>
                <a:r>
                  <a:rPr lang="en-US" b="1" dirty="0">
                    <a:ea typeface="Calibri"/>
                    <a:cs typeface="Calibri"/>
                  </a:rPr>
                  <a:t> C20##_B + F2#2#_F1A</a:t>
                </a:r>
              </a:p>
              <a:p>
                <a:r>
                  <a:rPr lang="en-US" dirty="0">
                    <a:ea typeface="Calibri"/>
                    <a:cs typeface="Calibri"/>
                  </a:rPr>
                  <a:t>Notes: The number of distinct students who have completed per $100,000 of total expenses in the same FY.</a:t>
                </a:r>
              </a:p>
            </p:txBody>
          </p:sp>
        </mc:Choice>
        <mc:Fallback>
          <p:sp>
            <p:nvSpPr>
              <p:cNvPr id="3" name="Content Placeholder 2">
                <a:extLst>
                  <a:ext uri="{FF2B5EF4-FFF2-40B4-BE49-F238E27FC236}">
                    <a16:creationId xmlns:a16="http://schemas.microsoft.com/office/drawing/2014/main" id="{7912D4BF-A4A0-F271-7D07-41A4C25AAA65}"/>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42413538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4DCF-7E3E-6737-D56F-7A7F988D28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2ED635-39F0-0436-E9E9-03DFFD999528}"/>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35978CC-CE95-B67A-51B4-6BA37D5F0595}"/>
                  </a:ext>
                </a:extLst>
              </p:cNvPr>
              <p:cNvSpPr>
                <a:spLocks noGrp="1"/>
              </p:cNvSpPr>
              <p:nvPr>
                <p:ph idx="1"/>
              </p:nvPr>
            </p:nvSpPr>
            <p:spPr/>
            <p:txBody>
              <a:bodyPr vert="horz" lIns="91440" tIns="45720" rIns="91440" bIns="45720" rtlCol="0" anchor="t">
                <a:noAutofit/>
              </a:bodyPr>
              <a:lstStyle/>
              <a:p>
                <a:r>
                  <a:rPr lang="en-US" b="1" dirty="0">
                    <a:ea typeface="Calibri"/>
                    <a:cs typeface="Calibri"/>
                  </a:rPr>
                  <a:t>Composite Financial Index</a:t>
                </a:r>
                <a:endParaRPr lang="en-US" dirty="0"/>
              </a:p>
              <a:p>
                <a:r>
                  <a:rPr lang="en-US" dirty="0">
                    <a:ea typeface="Calibri"/>
                    <a:cs typeface="Calibri"/>
                  </a:rPr>
                  <a:t>IPEDS Surveys:</a:t>
                </a:r>
                <a:r>
                  <a:rPr lang="en-US" b="1" dirty="0">
                    <a:ea typeface="Calibri"/>
                    <a:cs typeface="Calibri"/>
                  </a:rPr>
                  <a:t> F2#2#_F1A</a:t>
                </a:r>
              </a:p>
              <a:p>
                <a:r>
                  <a:rPr lang="en-US" dirty="0">
                    <a:ea typeface="Calibri"/>
                    <a:cs typeface="Calibri"/>
                  </a:rPr>
                  <a:t>Calculation: </a:t>
                </a:r>
              </a:p>
              <a:p>
                <a:r>
                  <a:rPr lang="en-US" b="1" dirty="0"/>
                  <a:t>1. Primary Reserve Ratio (35%)</a:t>
                </a:r>
                <a:endParaRPr lang="en-US" dirty="0"/>
              </a:p>
              <a:p>
                <a14:m>
                  <m:oMathPara xmlns:m="http://schemas.openxmlformats.org/officeDocument/2006/math">
                    <m:oMathParaPr>
                      <m:jc m:val="centerGroup"/>
                    </m:oMathParaPr>
                    <m:oMath xmlns:m="http://schemas.openxmlformats.org/officeDocument/2006/math">
                      <m:r>
                        <a:rPr lang="en-US" i="1"/>
                        <m:t>𝑃𝑅𝑅</m:t>
                      </m:r>
                      <m:r>
                        <a:rPr lang="en-US" i="1"/>
                        <m:t>=</m:t>
                      </m:r>
                      <m:f>
                        <m:fPr>
                          <m:ctrlPr>
                            <a:rPr lang="en-US" i="1"/>
                          </m:ctrlPr>
                        </m:fPr>
                        <m:num>
                          <m:r>
                            <a:rPr lang="en-US" i="1"/>
                            <m:t>𝐹</m:t>
                          </m:r>
                          <m:r>
                            <a:rPr lang="en-US" i="1"/>
                            <m:t>1</m:t>
                          </m:r>
                          <m:r>
                            <a:rPr lang="en-US" i="1"/>
                            <m:t>𝐴</m:t>
                          </m:r>
                          <m:r>
                            <a:rPr lang="en-US" i="1"/>
                            <m:t>17+</m:t>
                          </m:r>
                          <m:r>
                            <a:rPr lang="en-US" i="1"/>
                            <m:t>𝐹</m:t>
                          </m:r>
                          <m:r>
                            <a:rPr lang="en-US" i="1"/>
                            <m:t>1</m:t>
                          </m:r>
                          <m:r>
                            <a:rPr lang="en-US" i="1"/>
                            <m:t>𝐴</m:t>
                          </m:r>
                          <m:r>
                            <a:rPr lang="en-US" i="1"/>
                            <m:t>15</m:t>
                          </m:r>
                        </m:num>
                        <m:den>
                          <m:r>
                            <a:rPr lang="en-US" i="1"/>
                            <m:t>𝐹</m:t>
                          </m:r>
                          <m:r>
                            <a:rPr lang="en-US" i="1"/>
                            <m:t>1</m:t>
                          </m:r>
                          <m:r>
                            <a:rPr lang="en-US" i="1"/>
                            <m:t>𝐷</m:t>
                          </m:r>
                          <m:r>
                            <a:rPr lang="en-US" i="1"/>
                            <m:t>02</m:t>
                          </m:r>
                        </m:den>
                      </m:f>
                    </m:oMath>
                  </m:oMathPara>
                </a14:m>
                <a:endParaRPr lang="en-US" dirty="0"/>
              </a:p>
              <a:p>
                <a:br>
                  <a:rPr lang="en-US" dirty="0"/>
                </a:br>
                <a14:m>
                  <m:oMathPara xmlns:m="http://schemas.openxmlformats.org/officeDocument/2006/math">
                    <m:oMathParaPr>
                      <m:jc m:val="centerGroup"/>
                    </m:oMathParaPr>
                    <m:oMath xmlns:m="http://schemas.openxmlformats.org/officeDocument/2006/math">
                      <m:sSub>
                        <m:sSubPr>
                          <m:ctrlPr>
                            <a:rPr lang="en-US" i="1"/>
                          </m:ctrlPr>
                        </m:sSubPr>
                        <m:e>
                          <m:r>
                            <a:rPr lang="en-US" i="1"/>
                            <m:t>𝐶</m:t>
                          </m:r>
                        </m:e>
                        <m:sub>
                          <m:r>
                            <a:rPr lang="en-US" i="1"/>
                            <m:t>1</m:t>
                          </m:r>
                        </m:sub>
                      </m:sSub>
                      <m:r>
                        <a:rPr lang="en-US" i="1"/>
                        <m:t>=0.35×</m:t>
                      </m:r>
                      <m:d>
                        <m:dPr>
                          <m:ctrlPr>
                            <a:rPr lang="en-US" i="1"/>
                          </m:ctrlPr>
                        </m:dPr>
                        <m:e>
                          <m:f>
                            <m:fPr>
                              <m:ctrlPr>
                                <a:rPr lang="en-US" i="1"/>
                              </m:ctrlPr>
                            </m:fPr>
                            <m:num>
                              <m:r>
                                <a:rPr lang="en-US" i="1"/>
                                <m:t>𝑃𝑅𝑅</m:t>
                              </m:r>
                            </m:num>
                            <m:den>
                              <m:r>
                                <a:rPr lang="en-US" i="1"/>
                                <m:t>0.133</m:t>
                              </m:r>
                            </m:den>
                          </m:f>
                          <m:r>
                            <a:rPr lang="en-US" i="1"/>
                            <m:t>,−4,10</m:t>
                          </m:r>
                        </m:e>
                      </m:d>
                    </m:oMath>
                  </m:oMathPara>
                </a14:m>
                <a:endParaRPr lang="en-US" dirty="0"/>
              </a:p>
              <a:p>
                <a:endParaRPr lang="en-US" dirty="0">
                  <a:ea typeface="Calibri"/>
                  <a:cs typeface="Calibri"/>
                </a:endParaRPr>
              </a:p>
            </p:txBody>
          </p:sp>
        </mc:Choice>
        <mc:Fallback>
          <p:sp>
            <p:nvSpPr>
              <p:cNvPr id="3" name="Content Placeholder 2">
                <a:extLst>
                  <a:ext uri="{FF2B5EF4-FFF2-40B4-BE49-F238E27FC236}">
                    <a16:creationId xmlns:a16="http://schemas.microsoft.com/office/drawing/2014/main" id="{A35978CC-CE95-B67A-51B4-6BA37D5F0595}"/>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39958897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0E858-44BB-B432-5FBE-B10CB284AC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255E2D-AF70-ED7F-0966-4971AEC7E872}"/>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84A1599-233F-6DEA-3A4E-95B6774C651E}"/>
                  </a:ext>
                </a:extLst>
              </p:cNvPr>
              <p:cNvSpPr>
                <a:spLocks noGrp="1"/>
              </p:cNvSpPr>
              <p:nvPr>
                <p:ph idx="1"/>
              </p:nvPr>
            </p:nvSpPr>
            <p:spPr>
              <a:xfrm>
                <a:off x="1912257" y="1268152"/>
                <a:ext cx="10515600" cy="4351338"/>
              </a:xfrm>
            </p:spPr>
            <p:txBody>
              <a:bodyPr vert="horz" lIns="91440" tIns="45720" rIns="91440" bIns="45720" rtlCol="0" anchor="t">
                <a:noAutofit/>
              </a:bodyPr>
              <a:lstStyle/>
              <a:p>
                <a:r>
                  <a:rPr lang="en-US" b="1" dirty="0">
                    <a:ea typeface="Calibri"/>
                    <a:cs typeface="Calibri"/>
                  </a:rPr>
                  <a:t>Composite Financial Index</a:t>
                </a:r>
                <a:endParaRPr lang="en-US" dirty="0"/>
              </a:p>
              <a:p>
                <a:r>
                  <a:rPr lang="en-US" b="1" dirty="0"/>
                  <a:t>2. Operating Revenue Ratio (10%) ORR</a:t>
                </a:r>
                <a:endParaRPr lang="en-US" dirty="0"/>
              </a:p>
              <a:p>
                <a:r>
                  <a:rPr lang="en-US" dirty="0"/>
                  <a:t>Loss Expenses</a:t>
                </a:r>
              </a:p>
              <a:p>
                <a:pPr lvl="0"/>
                <a:r>
                  <a:rPr lang="en-US" b="1" dirty="0"/>
                  <a:t>	≤ 2019:</a:t>
                </a:r>
                <a:r>
                  <a:rPr lang="en-US" dirty="0"/>
                  <a:t> </a:t>
                </a:r>
                <a14:m>
                  <m:oMath xmlns:m="http://schemas.openxmlformats.org/officeDocument/2006/math">
                    <m:r>
                      <a:rPr lang="en-US" i="1"/>
                      <m:t>𝐹</m:t>
                    </m:r>
                    <m:r>
                      <a:rPr lang="en-US" i="1"/>
                      <m:t>1</m:t>
                    </m:r>
                    <m:r>
                      <a:rPr lang="en-US" i="1"/>
                      <m:t>𝐵</m:t>
                    </m:r>
                    <m:r>
                      <a:rPr lang="en-US" i="1"/>
                      <m:t>27−</m:t>
                    </m:r>
                    <m:r>
                      <a:rPr lang="en-US" i="1"/>
                      <m:t>𝐹</m:t>
                    </m:r>
                    <m:r>
                      <a:rPr lang="en-US" i="1"/>
                      <m:t>1</m:t>
                    </m:r>
                    <m:r>
                      <a:rPr lang="en-US" i="1"/>
                      <m:t>𝐶</m:t>
                    </m:r>
                    <m:r>
                      <a:rPr lang="en-US" i="1"/>
                      <m:t>191</m:t>
                    </m:r>
                  </m:oMath>
                </a14:m>
                <a:endParaRPr lang="en-US" dirty="0"/>
              </a:p>
              <a:p>
                <a:pPr lvl="0"/>
                <a:r>
                  <a:rPr lang="en-US" b="1" dirty="0"/>
                  <a:t>	&gt; 2019:</a:t>
                </a:r>
                <a:r>
                  <a:rPr lang="en-US" dirty="0"/>
                  <a:t> </a:t>
                </a:r>
                <a14:m>
                  <m:oMath xmlns:m="http://schemas.openxmlformats.org/officeDocument/2006/math">
                    <m:r>
                      <a:rPr lang="en-US" i="1"/>
                      <m:t>𝐹</m:t>
                    </m:r>
                    <m:r>
                      <a:rPr lang="en-US" i="1"/>
                      <m:t>1</m:t>
                    </m:r>
                    <m:r>
                      <a:rPr lang="en-US" i="1"/>
                      <m:t>𝑁</m:t>
                    </m:r>
                    <m:r>
                      <a:rPr lang="en-US" i="1"/>
                      <m:t>01</m:t>
                    </m:r>
                  </m:oMath>
                </a14:m>
                <a:endParaRPr lang="en-US" dirty="0"/>
              </a:p>
              <a:p>
                <a:r>
                  <a:rPr lang="en-US" dirty="0"/>
                  <a:t>Revenue</a:t>
                </a:r>
              </a:p>
              <a:p>
                <a:pPr lvl="0"/>
                <a:r>
                  <a:rPr lang="en-US" b="1" dirty="0"/>
                  <a:t>	≤ 2019:</a:t>
                </a:r>
                <a:r>
                  <a:rPr lang="en-US" dirty="0"/>
                  <a:t> </a:t>
                </a:r>
                <a14:m>
                  <m:oMath xmlns:m="http://schemas.openxmlformats.org/officeDocument/2006/math">
                    <m:r>
                      <a:rPr lang="en-US" i="1"/>
                      <m:t>𝐹</m:t>
                    </m:r>
                    <m:r>
                      <a:rPr lang="en-US" i="1"/>
                      <m:t>1</m:t>
                    </m:r>
                    <m:r>
                      <a:rPr lang="en-US" i="1"/>
                      <m:t>𝐵</m:t>
                    </m:r>
                    <m:r>
                      <a:rPr lang="en-US" i="1"/>
                      <m:t>27−</m:t>
                    </m:r>
                    <m:r>
                      <a:rPr lang="en-US" i="1"/>
                      <m:t>𝐹</m:t>
                    </m:r>
                    <m:r>
                      <a:rPr lang="en-US" i="1"/>
                      <m:t>1</m:t>
                    </m:r>
                    <m:r>
                      <a:rPr lang="en-US" i="1"/>
                      <m:t>𝐶</m:t>
                    </m:r>
                    <m:r>
                      <a:rPr lang="en-US" i="1"/>
                      <m:t>19</m:t>
                    </m:r>
                    <m:r>
                      <a:rPr lang="en-US" i="1"/>
                      <m:t>𝐼𝑁</m:t>
                    </m:r>
                  </m:oMath>
                </a14:m>
                <a:endParaRPr lang="en-US" dirty="0"/>
              </a:p>
              <a:p>
                <a:pPr lvl="0"/>
                <a:r>
                  <a:rPr lang="en-US" b="1" dirty="0"/>
                  <a:t>	&gt; 2019:</a:t>
                </a:r>
                <a:r>
                  <a:rPr lang="en-US" dirty="0"/>
                  <a:t> </a:t>
                </a:r>
                <a14:m>
                  <m:oMath xmlns:m="http://schemas.openxmlformats.org/officeDocument/2006/math">
                    <m:r>
                      <a:rPr lang="en-US" i="1"/>
                      <m:t>𝐹</m:t>
                    </m:r>
                    <m:r>
                      <a:rPr lang="en-US" i="1"/>
                      <m:t>1</m:t>
                    </m:r>
                    <m:r>
                      <a:rPr lang="en-US" i="1"/>
                      <m:t>𝑁</m:t>
                    </m:r>
                    <m:r>
                      <a:rPr lang="en-US" i="1"/>
                      <m:t>02</m:t>
                    </m:r>
                  </m:oMath>
                </a14:m>
                <a:endParaRPr lang="en-US" dirty="0"/>
              </a:p>
              <a:p>
                <a14:m>
                  <m:oMathPara xmlns:m="http://schemas.openxmlformats.org/officeDocument/2006/math">
                    <m:oMathParaPr>
                      <m:jc m:val="centerGroup"/>
                    </m:oMathParaPr>
                    <m:oMath xmlns:m="http://schemas.openxmlformats.org/officeDocument/2006/math">
                      <m:r>
                        <a:rPr lang="en-US" i="1"/>
                        <m:t>𝑂𝑅𝑅</m:t>
                      </m:r>
                      <m:r>
                        <a:rPr lang="en-US" i="1"/>
                        <m:t>=</m:t>
                      </m:r>
                      <m:f>
                        <m:fPr>
                          <m:ctrlPr>
                            <a:rPr lang="en-US" i="1"/>
                          </m:ctrlPr>
                        </m:fPr>
                        <m:num>
                          <m:r>
                            <m:rPr>
                              <m:nor/>
                            </m:rPr>
                            <a:rPr lang="en-US"/>
                            <m:t>Loss</m:t>
                          </m:r>
                          <m:r>
                            <m:rPr>
                              <m:nor/>
                            </m:rPr>
                            <a:rPr lang="en-US"/>
                            <m:t> </m:t>
                          </m:r>
                          <m:r>
                            <m:rPr>
                              <m:nor/>
                            </m:rPr>
                            <a:rPr lang="en-US"/>
                            <m:t>Expenses</m:t>
                          </m:r>
                        </m:num>
                        <m:den>
                          <m:r>
                            <m:rPr>
                              <m:nor/>
                            </m:rPr>
                            <a:rPr lang="en-US"/>
                            <m:t>Revenue</m:t>
                          </m:r>
                        </m:den>
                      </m:f>
                    </m:oMath>
                  </m:oMathPara>
                </a14:m>
                <a:endParaRPr lang="en-US" dirty="0"/>
              </a:p>
              <a:p>
                <a:br>
                  <a:rPr lang="en-US" dirty="0"/>
                </a:br>
                <a14:m>
                  <m:oMathPara xmlns:m="http://schemas.openxmlformats.org/officeDocument/2006/math">
                    <m:oMathParaPr>
                      <m:jc m:val="centerGroup"/>
                    </m:oMathParaPr>
                    <m:oMath xmlns:m="http://schemas.openxmlformats.org/officeDocument/2006/math">
                      <m:sSub>
                        <m:sSubPr>
                          <m:ctrlPr>
                            <a:rPr lang="en-US" i="1"/>
                          </m:ctrlPr>
                        </m:sSubPr>
                        <m:e>
                          <m:r>
                            <a:rPr lang="en-US" i="1"/>
                            <m:t>𝐶</m:t>
                          </m:r>
                        </m:e>
                        <m:sub>
                          <m:r>
                            <a:rPr lang="en-US" i="1"/>
                            <m:t>2</m:t>
                          </m:r>
                        </m:sub>
                      </m:sSub>
                      <m:r>
                        <a:rPr lang="en-US" i="1"/>
                        <m:t>=0.10×</m:t>
                      </m:r>
                      <m:r>
                        <m:rPr>
                          <m:nor/>
                        </m:rPr>
                        <a:rPr lang="en-US"/>
                        <m:t>clip</m:t>
                      </m:r>
                      <m:d>
                        <m:dPr>
                          <m:ctrlPr>
                            <a:rPr lang="en-US" i="1"/>
                          </m:ctrlPr>
                        </m:dPr>
                        <m:e>
                          <m:f>
                            <m:fPr>
                              <m:ctrlPr>
                                <a:rPr lang="en-US" i="1"/>
                              </m:ctrlPr>
                            </m:fPr>
                            <m:num>
                              <m:r>
                                <a:rPr lang="en-US" i="1"/>
                                <m:t>𝑂𝑅𝑅</m:t>
                              </m:r>
                            </m:num>
                            <m:den>
                              <m:r>
                                <a:rPr lang="en-US" i="1"/>
                                <m:t>0.013</m:t>
                              </m:r>
                            </m:den>
                          </m:f>
                          <m:r>
                            <a:rPr lang="en-US" i="1"/>
                            <m:t>,−4,10</m:t>
                          </m:r>
                        </m:e>
                      </m:d>
                    </m:oMath>
                  </m:oMathPara>
                </a14:m>
                <a:endParaRPr lang="en-US" dirty="0"/>
              </a:p>
              <a:p>
                <a:endParaRPr lang="en-US" dirty="0">
                  <a:ea typeface="Calibri"/>
                  <a:cs typeface="Calibri"/>
                </a:endParaRPr>
              </a:p>
            </p:txBody>
          </p:sp>
        </mc:Choice>
        <mc:Fallback>
          <p:sp>
            <p:nvSpPr>
              <p:cNvPr id="3" name="Content Placeholder 2">
                <a:extLst>
                  <a:ext uri="{FF2B5EF4-FFF2-40B4-BE49-F238E27FC236}">
                    <a16:creationId xmlns:a16="http://schemas.microsoft.com/office/drawing/2014/main" id="{A84A1599-233F-6DEA-3A4E-95B6774C651E}"/>
                  </a:ext>
                </a:extLst>
              </p:cNvPr>
              <p:cNvSpPr>
                <a:spLocks noGrp="1" noRot="1" noChangeAspect="1" noMove="1" noResize="1" noEditPoints="1" noAdjustHandles="1" noChangeArrowheads="1" noChangeShapeType="1" noTextEdit="1"/>
              </p:cNvSpPr>
              <p:nvPr>
                <p:ph idx="1"/>
              </p:nvPr>
            </p:nvSpPr>
            <p:spPr>
              <a:xfrm>
                <a:off x="1912257" y="1268152"/>
                <a:ext cx="10515600" cy="4351338"/>
              </a:xfrm>
              <a:blipFill>
                <a:blip r:embed="rId2"/>
                <a:stretch>
                  <a:fillRect l="-928" t="-1961" b="-23950"/>
                </a:stretch>
              </a:blipFill>
            </p:spPr>
            <p:txBody>
              <a:bodyPr/>
              <a:lstStyle/>
              <a:p>
                <a:r>
                  <a:rPr lang="en-US">
                    <a:noFill/>
                  </a:rPr>
                  <a:t> </a:t>
                </a:r>
              </a:p>
            </p:txBody>
          </p:sp>
        </mc:Fallback>
      </mc:AlternateContent>
    </p:spTree>
    <p:extLst>
      <p:ext uri="{BB962C8B-B14F-4D97-AF65-F5344CB8AC3E}">
        <p14:creationId xmlns:p14="http://schemas.microsoft.com/office/powerpoint/2010/main" val="1349941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01F891-44E1-2A4C-0F69-CFCA18D659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1E5C38-B420-1CD4-7560-84894776E3E5}"/>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0A7940A-262B-88EF-0F00-336079993E7B}"/>
                  </a:ext>
                </a:extLst>
              </p:cNvPr>
              <p:cNvSpPr>
                <a:spLocks noGrp="1"/>
              </p:cNvSpPr>
              <p:nvPr>
                <p:ph idx="1"/>
              </p:nvPr>
            </p:nvSpPr>
            <p:spPr/>
            <p:txBody>
              <a:bodyPr vert="horz" lIns="91440" tIns="45720" rIns="91440" bIns="45720" rtlCol="0" anchor="t">
                <a:noAutofit/>
              </a:bodyPr>
              <a:lstStyle/>
              <a:p>
                <a:r>
                  <a:rPr lang="en-US" b="1" dirty="0">
                    <a:ea typeface="Calibri"/>
                    <a:cs typeface="Calibri"/>
                  </a:rPr>
                  <a:t>Composite Financial Index</a:t>
                </a:r>
                <a:endParaRPr lang="en-US" dirty="0"/>
              </a:p>
              <a:p>
                <a:r>
                  <a:rPr lang="en-US" b="1" dirty="0"/>
                  <a:t>3. Return on Net Assets (20%)</a:t>
                </a:r>
                <a:endParaRPr lang="en-US" dirty="0"/>
              </a:p>
              <a:p>
                <a14:m>
                  <m:oMathPara xmlns:m="http://schemas.openxmlformats.org/officeDocument/2006/math">
                    <m:oMathParaPr>
                      <m:jc m:val="centerGroup"/>
                    </m:oMathParaPr>
                    <m:oMath xmlns:m="http://schemas.openxmlformats.org/officeDocument/2006/math">
                      <m:r>
                        <a:rPr lang="en-US" i="1"/>
                        <m:t>𝑅𝑂𝑁𝐴</m:t>
                      </m:r>
                      <m:r>
                        <a:rPr lang="en-US" i="1"/>
                        <m:t>=</m:t>
                      </m:r>
                      <m:f>
                        <m:fPr>
                          <m:ctrlPr>
                            <a:rPr lang="en-US" i="1"/>
                          </m:ctrlPr>
                        </m:fPr>
                        <m:num>
                          <m:r>
                            <a:rPr lang="en-US" i="1"/>
                            <m:t>𝐹</m:t>
                          </m:r>
                          <m:r>
                            <a:rPr lang="en-US" i="1"/>
                            <m:t>1</m:t>
                          </m:r>
                          <m:r>
                            <a:rPr lang="en-US" i="1"/>
                            <m:t>𝐷</m:t>
                          </m:r>
                          <m:r>
                            <a:rPr lang="en-US" i="1"/>
                            <m:t>03</m:t>
                          </m:r>
                        </m:num>
                        <m:den>
                          <m:r>
                            <a:rPr lang="en-US" i="1"/>
                            <m:t>𝐹</m:t>
                          </m:r>
                          <m:r>
                            <a:rPr lang="en-US" i="1"/>
                            <m:t>1</m:t>
                          </m:r>
                          <m:r>
                            <a:rPr lang="en-US" i="1"/>
                            <m:t>𝐷</m:t>
                          </m:r>
                          <m:r>
                            <a:rPr lang="en-US" i="1"/>
                            <m:t>04</m:t>
                          </m:r>
                        </m:den>
                      </m:f>
                    </m:oMath>
                    <m:oMath xmlns:m="http://schemas.openxmlformats.org/officeDocument/2006/math">
                      <m:sSub>
                        <m:sSubPr>
                          <m:ctrlPr>
                            <a:rPr lang="en-US" i="1"/>
                          </m:ctrlPr>
                        </m:sSubPr>
                        <m:e>
                          <m:r>
                            <a:rPr lang="en-US" i="1"/>
                            <m:t>𝐶</m:t>
                          </m:r>
                        </m:e>
                        <m:sub>
                          <m:r>
                            <a:rPr lang="en-US" i="1"/>
                            <m:t>3</m:t>
                          </m:r>
                        </m:sub>
                      </m:sSub>
                      <m:r>
                        <a:rPr lang="en-US" i="1"/>
                        <m:t>=0.20×</m:t>
                      </m:r>
                      <m:r>
                        <m:rPr>
                          <m:nor/>
                        </m:rPr>
                        <a:rPr lang="en-US"/>
                        <m:t>clip</m:t>
                      </m:r>
                      <m:d>
                        <m:dPr>
                          <m:ctrlPr>
                            <a:rPr lang="en-US" i="1"/>
                          </m:ctrlPr>
                        </m:dPr>
                        <m:e>
                          <m:f>
                            <m:fPr>
                              <m:ctrlPr>
                                <a:rPr lang="en-US" i="1"/>
                              </m:ctrlPr>
                            </m:fPr>
                            <m:num>
                              <m:r>
                                <a:rPr lang="en-US" i="1"/>
                                <m:t>𝑅𝑂𝑁𝐴</m:t>
                              </m:r>
                            </m:num>
                            <m:den>
                              <m:r>
                                <a:rPr lang="en-US" i="1"/>
                                <m:t>0.02</m:t>
                              </m:r>
                            </m:den>
                          </m:f>
                          <m:r>
                            <a:rPr lang="en-US" i="1"/>
                            <m:t>,−4,10</m:t>
                          </m:r>
                        </m:e>
                      </m:d>
                    </m:oMath>
                  </m:oMathPara>
                </a14:m>
                <a:endParaRPr lang="en-US" dirty="0"/>
              </a:p>
              <a:p>
                <a:endParaRPr lang="en-US" dirty="0">
                  <a:ea typeface="Calibri"/>
                  <a:cs typeface="Calibri"/>
                </a:endParaRPr>
              </a:p>
            </p:txBody>
          </p:sp>
        </mc:Choice>
        <mc:Fallback>
          <p:sp>
            <p:nvSpPr>
              <p:cNvPr id="3" name="Content Placeholder 2">
                <a:extLst>
                  <a:ext uri="{FF2B5EF4-FFF2-40B4-BE49-F238E27FC236}">
                    <a16:creationId xmlns:a16="http://schemas.microsoft.com/office/drawing/2014/main" id="{B0A7940A-262B-88EF-0F00-336079993E7B}"/>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16905457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B433C-D9A3-5CB3-F13B-85CB9F33DD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E7A4F0-84AD-E4FB-75F0-5620D7C5524E}"/>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F8B4B5F-346A-8722-69F4-EE2B96CC7C7D}"/>
                  </a:ext>
                </a:extLst>
              </p:cNvPr>
              <p:cNvSpPr>
                <a:spLocks noGrp="1"/>
              </p:cNvSpPr>
              <p:nvPr>
                <p:ph idx="1"/>
              </p:nvPr>
            </p:nvSpPr>
            <p:spPr/>
            <p:txBody>
              <a:bodyPr vert="horz" lIns="91440" tIns="45720" rIns="91440" bIns="45720" rtlCol="0" anchor="t">
                <a:noAutofit/>
              </a:bodyPr>
              <a:lstStyle/>
              <a:p>
                <a:r>
                  <a:rPr lang="en-US" b="1" dirty="0">
                    <a:ea typeface="Calibri"/>
                    <a:cs typeface="Calibri"/>
                  </a:rPr>
                  <a:t>Composite Financial Index</a:t>
                </a:r>
                <a:endParaRPr lang="en-US" dirty="0"/>
              </a:p>
              <a:p>
                <a:r>
                  <a:rPr lang="en-US" b="1" dirty="0"/>
                  <a:t>4. Viability Ratio (35%)</a:t>
                </a:r>
                <a:endParaRPr lang="en-US" dirty="0"/>
              </a:p>
              <a:p>
                <a14:m>
                  <m:oMathPara xmlns:m="http://schemas.openxmlformats.org/officeDocument/2006/math">
                    <m:oMathParaPr>
                      <m:jc m:val="centerGroup"/>
                    </m:oMathParaPr>
                    <m:oMath xmlns:m="http://schemas.openxmlformats.org/officeDocument/2006/math">
                      <m:r>
                        <a:rPr lang="en-US" i="1"/>
                        <m:t>𝑉𝑅</m:t>
                      </m:r>
                      <m:r>
                        <a:rPr lang="en-US" i="1"/>
                        <m:t>=</m:t>
                      </m:r>
                      <m:f>
                        <m:fPr>
                          <m:ctrlPr>
                            <a:rPr lang="en-US" i="1"/>
                          </m:ctrlPr>
                        </m:fPr>
                        <m:num>
                          <m:r>
                            <a:rPr lang="en-US" i="1"/>
                            <m:t>𝐹</m:t>
                          </m:r>
                          <m:r>
                            <a:rPr lang="en-US" i="1"/>
                            <m:t>1</m:t>
                          </m:r>
                          <m:r>
                            <a:rPr lang="en-US" i="1"/>
                            <m:t>𝑁</m:t>
                          </m:r>
                          <m:r>
                            <a:rPr lang="en-US" i="1"/>
                            <m:t>05</m:t>
                          </m:r>
                        </m:num>
                        <m:den>
                          <m:r>
                            <a:rPr lang="en-US" i="1"/>
                            <m:t>𝐹</m:t>
                          </m:r>
                          <m:r>
                            <a:rPr lang="en-US" i="1"/>
                            <m:t>1</m:t>
                          </m:r>
                          <m:r>
                            <a:rPr lang="en-US" i="1"/>
                            <m:t>𝐴</m:t>
                          </m:r>
                          <m:r>
                            <a:rPr lang="en-US" i="1"/>
                            <m:t>10</m:t>
                          </m:r>
                        </m:den>
                      </m:f>
                    </m:oMath>
                    <m:oMath xmlns:m="http://schemas.openxmlformats.org/officeDocument/2006/math">
                      <m:sSub>
                        <m:sSubPr>
                          <m:ctrlPr>
                            <a:rPr lang="en-US" i="1"/>
                          </m:ctrlPr>
                        </m:sSubPr>
                        <m:e>
                          <m:r>
                            <a:rPr lang="en-US" i="1"/>
                            <m:t>𝐶</m:t>
                          </m:r>
                        </m:e>
                        <m:sub>
                          <m:r>
                            <a:rPr lang="en-US" i="1"/>
                            <m:t>4</m:t>
                          </m:r>
                        </m:sub>
                      </m:sSub>
                      <m:r>
                        <a:rPr lang="en-US" i="1"/>
                        <m:t>=0.35×</m:t>
                      </m:r>
                      <m:r>
                        <m:rPr>
                          <m:nor/>
                        </m:rPr>
                        <a:rPr lang="en-US"/>
                        <m:t>clip</m:t>
                      </m:r>
                      <m:d>
                        <m:dPr>
                          <m:ctrlPr>
                            <a:rPr lang="en-US" i="1"/>
                          </m:ctrlPr>
                        </m:dPr>
                        <m:e>
                          <m:f>
                            <m:fPr>
                              <m:ctrlPr>
                                <a:rPr lang="en-US" i="1"/>
                              </m:ctrlPr>
                            </m:fPr>
                            <m:num>
                              <m:r>
                                <a:rPr lang="en-US" i="1"/>
                                <m:t>𝑉𝑅</m:t>
                              </m:r>
                            </m:num>
                            <m:den>
                              <m:r>
                                <a:rPr lang="en-US" i="1"/>
                                <m:t>0.417</m:t>
                              </m:r>
                            </m:den>
                          </m:f>
                          <m:r>
                            <a:rPr lang="en-US" i="1"/>
                            <m:t>,−4,10</m:t>
                          </m:r>
                        </m:e>
                      </m:d>
                    </m:oMath>
                  </m:oMathPara>
                </a14:m>
                <a:endParaRPr lang="en-US" dirty="0">
                  <a:ea typeface="Calibri"/>
                  <a:cs typeface="Calibri"/>
                </a:endParaRPr>
              </a:p>
              <a:p>
                <a:r>
                  <a:rPr lang="en-US" dirty="0"/>
                  <a:t>If viability inputs are missing, </a:t>
                </a:r>
                <a:r>
                  <a:rPr lang="en-US" b="1" dirty="0"/>
                  <a:t>maximum score is assigned</a:t>
                </a:r>
                <a:r>
                  <a:rPr lang="en-US" dirty="0"/>
                  <a:t>.</a:t>
                </a:r>
              </a:p>
              <a:p>
                <a:r>
                  <a:rPr lang="en-US" b="1" dirty="0">
                    <a:ea typeface="Calibri"/>
                    <a:cs typeface="Calibri"/>
                  </a:rPr>
                  <a:t>Composite Financial Index </a:t>
                </a:r>
                <a:r>
                  <a:rPr lang="en-US" dirty="0"/>
                  <a:t>= C1​+C2​+C3​+C4​</a:t>
                </a:r>
              </a:p>
              <a:p>
                <a:r>
                  <a:rPr lang="en-US" dirty="0">
                    <a:ea typeface="Calibri"/>
                    <a:cs typeface="Calibri"/>
                  </a:rPr>
                  <a:t>Notes: IPEDS codes and variables can change collection to collection. </a:t>
                </a:r>
                <a:r>
                  <a:rPr lang="en-US" b="1" dirty="0">
                    <a:ea typeface="Calibri"/>
                    <a:cs typeface="Calibri"/>
                  </a:rPr>
                  <a:t>ORR </a:t>
                </a:r>
                <a:r>
                  <a:rPr lang="en-US" dirty="0">
                    <a:ea typeface="Calibri"/>
                    <a:cs typeface="Calibri"/>
                  </a:rPr>
                  <a:t>was a case where F1N01 was a replacement variable in 2020, so you need to make some adjustments to keep consistent measurements. </a:t>
                </a:r>
              </a:p>
            </p:txBody>
          </p:sp>
        </mc:Choice>
        <mc:Fallback>
          <p:sp>
            <p:nvSpPr>
              <p:cNvPr id="3" name="Content Placeholder 2">
                <a:extLst>
                  <a:ext uri="{FF2B5EF4-FFF2-40B4-BE49-F238E27FC236}">
                    <a16:creationId xmlns:a16="http://schemas.microsoft.com/office/drawing/2014/main" id="{5F8B4B5F-346A-8722-69F4-EE2B96CC7C7D}"/>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28090461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70F02-761A-7D51-0F9A-9CD4ADBC5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3BF793-6876-BC64-396E-97E949998048}"/>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52614E6-7F69-DAF5-554B-775D3882166C}"/>
                  </a:ext>
                </a:extLst>
              </p:cNvPr>
              <p:cNvSpPr>
                <a:spLocks noGrp="1"/>
              </p:cNvSpPr>
              <p:nvPr>
                <p:ph idx="1"/>
              </p:nvPr>
            </p:nvSpPr>
            <p:spPr/>
            <p:txBody>
              <a:bodyPr vert="horz" lIns="91440" tIns="45720" rIns="91440" bIns="45720" rtlCol="0" anchor="t">
                <a:noAutofit/>
              </a:bodyPr>
              <a:lstStyle/>
              <a:p>
                <a:r>
                  <a:rPr lang="en-US" b="1" dirty="0">
                    <a:ea typeface="Calibri"/>
                    <a:cs typeface="Calibri"/>
                  </a:rPr>
                  <a:t>Expenditure per FTE Student</a:t>
                </a:r>
              </a:p>
              <a:p>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m:rPr>
                              <m:sty m:val="p"/>
                            </m:rPr>
                            <a:rPr lang="en-US" i="1">
                              <a:latin typeface="Cambria Math" panose="02040503050406030204" pitchFamily="18" charset="0"/>
                            </a:rPr>
                            <m:t>F</m:t>
                          </m:r>
                          <m:r>
                            <a:rPr lang="en-US" i="1">
                              <a:latin typeface="Cambria Math" panose="02040503050406030204" pitchFamily="18" charset="0"/>
                            </a:rPr>
                            <m:t>1</m:t>
                          </m:r>
                          <m:r>
                            <m:rPr>
                              <m:sty m:val="p"/>
                            </m:rPr>
                            <a:rPr lang="en-US" i="1">
                              <a:latin typeface="Cambria Math" panose="02040503050406030204" pitchFamily="18" charset="0"/>
                            </a:rPr>
                            <m:t>C</m:t>
                          </m:r>
                          <m:r>
                            <a:rPr lang="en-US" i="1">
                              <a:latin typeface="Cambria Math" panose="02040503050406030204" pitchFamily="18" charset="0"/>
                            </a:rPr>
                            <m:t>191</m:t>
                          </m:r>
                        </m:num>
                        <m:den>
                          <m:r>
                            <m:rPr>
                              <m:sty m:val="p"/>
                            </m:rPr>
                            <a:rPr lang="en-US" i="1">
                              <a:latin typeface="Cambria Math" panose="02040503050406030204" pitchFamily="18" charset="0"/>
                            </a:rPr>
                            <m:t>EFTEUG</m:t>
                          </m:r>
                        </m:den>
                      </m:f>
                    </m:oMath>
                  </m:oMathPara>
                </a14:m>
                <a:endParaRPr lang="en-US" dirty="0"/>
              </a:p>
              <a:p>
                <a:r>
                  <a:rPr lang="en-US" dirty="0">
                    <a:ea typeface="Calibri"/>
                    <a:cs typeface="Calibri"/>
                  </a:rPr>
                  <a:t>IPEDS Surveys:</a:t>
                </a:r>
                <a:r>
                  <a:rPr lang="en-US" b="1" dirty="0">
                    <a:ea typeface="Calibri"/>
                    <a:cs typeface="Calibri"/>
                  </a:rPr>
                  <a:t> </a:t>
                </a:r>
                <a:r>
                  <a:rPr lang="en-US" dirty="0">
                    <a:ea typeface="Calibri"/>
                    <a:cs typeface="Calibri"/>
                  </a:rPr>
                  <a:t>:</a:t>
                </a:r>
                <a:r>
                  <a:rPr lang="en-US" b="1" dirty="0">
                    <a:ea typeface="Calibri"/>
                    <a:cs typeface="Calibri"/>
                  </a:rPr>
                  <a:t> F2#2#_F1A + EFIA20##</a:t>
                </a:r>
              </a:p>
              <a:p>
                <a:r>
                  <a:rPr lang="en-US" dirty="0">
                    <a:ea typeface="Calibri"/>
                    <a:cs typeface="Calibri"/>
                  </a:rPr>
                  <a:t>Notes: </a:t>
                </a:r>
                <a:r>
                  <a:rPr lang="en-US" b="1" dirty="0">
                    <a:ea typeface="Calibri"/>
                    <a:cs typeface="Calibri"/>
                  </a:rPr>
                  <a:t>EFTEUG </a:t>
                </a:r>
                <a:r>
                  <a:rPr lang="en-US" dirty="0">
                    <a:ea typeface="Calibri"/>
                    <a:cs typeface="Calibri"/>
                  </a:rPr>
                  <a:t>is the estimated full-time equivalent (FTE) undergraduate enrollment.</a:t>
                </a:r>
              </a:p>
            </p:txBody>
          </p:sp>
        </mc:Choice>
        <mc:Fallback>
          <p:sp>
            <p:nvSpPr>
              <p:cNvPr id="3" name="Content Placeholder 2">
                <a:extLst>
                  <a:ext uri="{FF2B5EF4-FFF2-40B4-BE49-F238E27FC236}">
                    <a16:creationId xmlns:a16="http://schemas.microsoft.com/office/drawing/2014/main" id="{B52614E6-7F69-DAF5-554B-775D3882166C}"/>
                  </a:ext>
                </a:extLst>
              </p:cNvPr>
              <p:cNvSpPr>
                <a:spLocks noGrp="1" noRot="1" noChangeAspect="1" noMove="1" noResize="1" noEditPoints="1" noAdjustHandles="1" noChangeArrowheads="1" noChangeShapeType="1" noTextEdit="1"/>
              </p:cNvSpPr>
              <p:nvPr>
                <p:ph idx="1"/>
              </p:nvPr>
            </p:nvSpPr>
            <p:spPr>
              <a:blipFill>
                <a:blip r:embed="rId2"/>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27844775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1CEFD-868A-CFB6-EFAD-61B7FDC95F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5946F5-8C64-4B71-B39F-7516BFB818D8}"/>
              </a:ext>
            </a:extLst>
          </p:cNvPr>
          <p:cNvSpPr>
            <a:spLocks noGrp="1"/>
          </p:cNvSpPr>
          <p:nvPr>
            <p:ph type="title"/>
          </p:nvPr>
        </p:nvSpPr>
        <p:spPr/>
        <p:txBody>
          <a:bodyPr/>
          <a:lstStyle/>
          <a:p>
            <a:r>
              <a:rPr lang="en-US" dirty="0"/>
              <a:t>Metric Definitions</a:t>
            </a:r>
          </a:p>
        </p:txBody>
      </p:sp>
      <p:sp>
        <p:nvSpPr>
          <p:cNvPr id="3" name="Content Placeholder 2">
            <a:extLst>
              <a:ext uri="{FF2B5EF4-FFF2-40B4-BE49-F238E27FC236}">
                <a16:creationId xmlns:a16="http://schemas.microsoft.com/office/drawing/2014/main" id="{EAC83C52-50C5-6B44-EDEA-EFEB7D84C4D0}"/>
              </a:ext>
            </a:extLst>
          </p:cNvPr>
          <p:cNvSpPr>
            <a:spLocks noGrp="1"/>
          </p:cNvSpPr>
          <p:nvPr>
            <p:ph idx="1"/>
          </p:nvPr>
        </p:nvSpPr>
        <p:spPr/>
        <p:txBody>
          <a:bodyPr vert="horz" lIns="91440" tIns="45720" rIns="91440" bIns="45720" rtlCol="0" anchor="t">
            <a:noAutofit/>
          </a:bodyPr>
          <a:lstStyle/>
          <a:p>
            <a:r>
              <a:rPr lang="en-US" b="1" dirty="0">
                <a:ea typeface="Calibri"/>
                <a:cs typeface="Calibri"/>
              </a:rPr>
              <a:t>Student-to-Faculty Ratio</a:t>
            </a:r>
          </a:p>
          <a:p>
            <a:r>
              <a:rPr lang="en-US" dirty="0">
                <a:latin typeface="Cambria Math" panose="02040503050406030204" pitchFamily="18" charset="0"/>
                <a:ea typeface="Cambria Math" panose="02040503050406030204" pitchFamily="18" charset="0"/>
              </a:rPr>
              <a:t>					STUFACR</a:t>
            </a:r>
            <a:endParaRPr lang="en-US" dirty="0"/>
          </a:p>
          <a:p>
            <a:r>
              <a:rPr lang="en-US" dirty="0">
                <a:ea typeface="Calibri"/>
                <a:cs typeface="Calibri"/>
              </a:rPr>
              <a:t>IPEDS Surveys:</a:t>
            </a:r>
            <a:r>
              <a:rPr lang="en-US" b="1" dirty="0">
                <a:ea typeface="Calibri"/>
                <a:cs typeface="Calibri"/>
              </a:rPr>
              <a:t> EF20##D</a:t>
            </a:r>
          </a:p>
          <a:p>
            <a:r>
              <a:rPr lang="en-US" dirty="0">
                <a:ea typeface="Calibri"/>
                <a:cs typeface="Calibri"/>
              </a:rPr>
              <a:t>Notes: IPEDS uses their own definition for FTE students and faculty so make sure to consult the EF2024D or relevant collection definition.</a:t>
            </a:r>
          </a:p>
        </p:txBody>
      </p:sp>
    </p:spTree>
    <p:extLst>
      <p:ext uri="{BB962C8B-B14F-4D97-AF65-F5344CB8AC3E}">
        <p14:creationId xmlns:p14="http://schemas.microsoft.com/office/powerpoint/2010/main" val="21503215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DC99F-B1EE-6DCC-99AB-9CBCF82715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465156-BF7C-B25A-492B-291A221A948C}"/>
              </a:ext>
            </a:extLst>
          </p:cNvPr>
          <p:cNvSpPr>
            <a:spLocks noGrp="1"/>
          </p:cNvSpPr>
          <p:nvPr>
            <p:ph type="title"/>
          </p:nvPr>
        </p:nvSpPr>
        <p:spPr/>
        <p:txBody>
          <a:bodyPr/>
          <a:lstStyle/>
          <a:p>
            <a:r>
              <a:rPr lang="en-US" dirty="0"/>
              <a:t>Metric Definitions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C9B8DCE-522A-BFB4-A75E-E2B4A3FA59C5}"/>
                  </a:ext>
                </a:extLst>
              </p:cNvPr>
              <p:cNvSpPr>
                <a:spLocks noGrp="1"/>
              </p:cNvSpPr>
              <p:nvPr>
                <p:ph idx="1"/>
              </p:nvPr>
            </p:nvSpPr>
            <p:spPr/>
            <p:txBody>
              <a:bodyPr vert="horz" lIns="91440" tIns="45720" rIns="91440" bIns="45720" rtlCol="0" anchor="t">
                <a:noAutofit/>
              </a:bodyPr>
              <a:lstStyle/>
              <a:p>
                <a:r>
                  <a:rPr lang="en-US" b="1" dirty="0">
                    <a:ea typeface="Calibri"/>
                    <a:cs typeface="Calibri"/>
                  </a:rPr>
                  <a:t>Weighted Market Share Index</a:t>
                </a:r>
              </a:p>
              <a:p>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m:rPr>
                              <m:sty m:val="p"/>
                            </m:rPr>
                            <a:rPr lang="en-US" i="1">
                              <a:latin typeface="Cambria Math" panose="02040503050406030204" pitchFamily="18" charset="0"/>
                            </a:rPr>
                            <m:t>EFRES</m:t>
                          </m:r>
                          <m:r>
                            <a:rPr lang="en-US" i="1">
                              <a:latin typeface="Cambria Math" panose="02040503050406030204" pitchFamily="18" charset="0"/>
                            </a:rPr>
                            <m:t>02</m:t>
                          </m:r>
                        </m:num>
                        <m:den>
                          <m:r>
                            <m:rPr>
                              <m:sty m:val="p"/>
                            </m:rPr>
                            <a:rPr lang="en-US" i="1">
                              <a:latin typeface="Cambria Math" panose="02040503050406030204" pitchFamily="18" charset="0"/>
                            </a:rPr>
                            <m:t>HS</m:t>
                          </m:r>
                          <m:r>
                            <a:rPr lang="en-US" i="1">
                              <a:latin typeface="Cambria Math" panose="02040503050406030204" pitchFamily="18" charset="0"/>
                            </a:rPr>
                            <m:t> </m:t>
                          </m:r>
                          <m:r>
                            <m:rPr>
                              <m:sty m:val="p"/>
                            </m:rPr>
                            <a:rPr lang="en-US" i="1">
                              <a:latin typeface="Cambria Math" panose="02040503050406030204" pitchFamily="18" charset="0"/>
                            </a:rPr>
                            <m:t>Grads</m:t>
                          </m:r>
                          <m:r>
                            <a:rPr lang="en-US" i="1">
                              <a:latin typeface="Cambria Math" panose="02040503050406030204" pitchFamily="18" charset="0"/>
                            </a:rPr>
                            <m:t> ∗ (</m:t>
                          </m:r>
                          <m:f>
                            <m:fPr>
                              <m:ctrlPr>
                                <a:rPr lang="en-US" i="1">
                                  <a:latin typeface="Cambria Math" panose="02040503050406030204" pitchFamily="18" charset="0"/>
                                </a:rPr>
                              </m:ctrlPr>
                            </m:fPr>
                            <m:num>
                              <m:r>
                                <m:rPr>
                                  <m:sty m:val="p"/>
                                </m:rPr>
                                <a:rPr lang="en-US" i="1">
                                  <a:latin typeface="Cambria Math" panose="02040503050406030204" pitchFamily="18" charset="0"/>
                                </a:rPr>
                                <m:t>DS</m:t>
                              </m:r>
                            </m:num>
                            <m:den>
                              <m:r>
                                <m:rPr>
                                  <m:sty m:val="p"/>
                                </m:rPr>
                                <a:rPr lang="en-US" i="1">
                                  <a:latin typeface="Cambria Math" panose="02040503050406030204" pitchFamily="18" charset="0"/>
                                </a:rPr>
                                <m:t>SUM</m:t>
                              </m:r>
                              <m:r>
                                <a:rPr lang="en-US" i="1">
                                  <a:latin typeface="Cambria Math" panose="02040503050406030204" pitchFamily="18" charset="0"/>
                                </a:rPr>
                                <m:t>(</m:t>
                              </m:r>
                              <m:r>
                                <m:rPr>
                                  <m:sty m:val="p"/>
                                </m:rPr>
                                <a:rPr lang="en-US" i="1">
                                  <a:latin typeface="Cambria Math" panose="02040503050406030204" pitchFamily="18" charset="0"/>
                                </a:rPr>
                                <m:t>DS</m:t>
                              </m:r>
                              <m:r>
                                <a:rPr lang="en-US" i="1">
                                  <a:latin typeface="Cambria Math" panose="02040503050406030204" pitchFamily="18" charset="0"/>
                                </a:rPr>
                                <m:t>)</m:t>
                              </m:r>
                            </m:den>
                          </m:f>
                          <m:r>
                            <m:rPr>
                              <m:nor/>
                            </m:rPr>
                            <a:rPr lang="en-US">
                              <a:latin typeface="Cambria Math" panose="02040503050406030204" pitchFamily="18" charset="0"/>
                            </a:rPr>
                            <m:t>)</m:t>
                          </m:r>
                          <m:r>
                            <m:rPr>
                              <m:nor/>
                            </m:rPr>
                            <a:rPr lang="en-US" dirty="0"/>
                            <m:t> </m:t>
                          </m:r>
                        </m:den>
                      </m:f>
                    </m:oMath>
                  </m:oMathPara>
                </a14:m>
                <a:endParaRPr lang="en-US" dirty="0"/>
              </a:p>
              <a:p>
                <a:r>
                  <a:rPr lang="en-US" dirty="0">
                    <a:ea typeface="Calibri"/>
                    <a:cs typeface="Calibri"/>
                  </a:rPr>
                  <a:t>IPEDS Surveys:</a:t>
                </a:r>
                <a:r>
                  <a:rPr lang="en-US" b="1" dirty="0">
                    <a:ea typeface="Calibri"/>
                    <a:cs typeface="Calibri"/>
                  </a:rPr>
                  <a:t> EF20##C + DRVEF20##</a:t>
                </a:r>
              </a:p>
              <a:p>
                <a:r>
                  <a:rPr lang="en-US" dirty="0">
                    <a:ea typeface="Calibri"/>
                    <a:cs typeface="Calibri"/>
                  </a:rPr>
                  <a:t>Common Core Data: </a:t>
                </a:r>
                <a:r>
                  <a:rPr lang="en-US" i="1" dirty="0">
                    <a:ea typeface="Calibri"/>
                    <a:cs typeface="Calibri"/>
                    <a:hlinkClick r:id="rId2"/>
                  </a:rPr>
                  <a:t>https://nces.ed.gov/ccd/elsi/</a:t>
                </a:r>
                <a:endParaRPr lang="en-US" i="1" dirty="0">
                  <a:ea typeface="Calibri"/>
                  <a:cs typeface="Calibri"/>
                </a:endParaRPr>
              </a:p>
              <a:p>
                <a:r>
                  <a:rPr lang="en-US" dirty="0">
                    <a:ea typeface="Calibri"/>
                    <a:cs typeface="Calibri"/>
                  </a:rPr>
                  <a:t>Notes: EFRES02 is the count of recently graduated high school students, and then we also filtered it to the institutions state code. </a:t>
                </a:r>
              </a:p>
              <a:p>
                <a:r>
                  <a:rPr lang="en-US" dirty="0">
                    <a:ea typeface="Calibri"/>
                    <a:cs typeface="Calibri"/>
                  </a:rPr>
                  <a:t>HS Grads comes from the Common Core Data site using the </a:t>
                </a:r>
                <a:r>
                  <a:rPr lang="en-US" i="1" dirty="0"/>
                  <a:t>Public School Student Enrollments by Grade </a:t>
                </a:r>
                <a:r>
                  <a:rPr lang="en-US" dirty="0"/>
                  <a:t>table. For each institution, we subset the high schools in a 25-mile radius</a:t>
                </a:r>
                <a:endParaRPr lang="en-US" i="1"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i="1" dirty="0">
                  <a:ea typeface="Calibri"/>
                  <a:cs typeface="Calibri"/>
                </a:endParaRPr>
              </a:p>
            </p:txBody>
          </p:sp>
        </mc:Choice>
        <mc:Fallback>
          <p:sp>
            <p:nvSpPr>
              <p:cNvPr id="3" name="Content Placeholder 2">
                <a:extLst>
                  <a:ext uri="{FF2B5EF4-FFF2-40B4-BE49-F238E27FC236}">
                    <a16:creationId xmlns:a16="http://schemas.microsoft.com/office/drawing/2014/main" id="{FC9B8DCE-522A-BFB4-A75E-E2B4A3FA59C5}"/>
                  </a:ext>
                </a:extLst>
              </p:cNvPr>
              <p:cNvSpPr>
                <a:spLocks noGrp="1" noRot="1" noChangeAspect="1" noMove="1" noResize="1" noEditPoints="1" noAdjustHandles="1" noChangeArrowheads="1" noChangeShapeType="1" noTextEdit="1"/>
              </p:cNvSpPr>
              <p:nvPr>
                <p:ph idx="1"/>
              </p:nvPr>
            </p:nvSpPr>
            <p:spPr>
              <a:blipFill>
                <a:blip r:embed="rId3"/>
                <a:stretch>
                  <a:fillRect l="-928" t="-1961"/>
                </a:stretch>
              </a:blipFill>
            </p:spPr>
            <p:txBody>
              <a:bodyPr/>
              <a:lstStyle/>
              <a:p>
                <a:r>
                  <a:rPr lang="en-US">
                    <a:noFill/>
                  </a:rPr>
                  <a:t> </a:t>
                </a:r>
              </a:p>
            </p:txBody>
          </p:sp>
        </mc:Fallback>
      </mc:AlternateContent>
    </p:spTree>
    <p:extLst>
      <p:ext uri="{BB962C8B-B14F-4D97-AF65-F5344CB8AC3E}">
        <p14:creationId xmlns:p14="http://schemas.microsoft.com/office/powerpoint/2010/main" val="302959658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06C586-0B69-CB6A-D888-36C83C3F7F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83F44-063F-86CB-ED12-3B86FBCD3230}"/>
              </a:ext>
            </a:extLst>
          </p:cNvPr>
          <p:cNvSpPr>
            <a:spLocks noGrp="1"/>
          </p:cNvSpPr>
          <p:nvPr>
            <p:ph type="title"/>
          </p:nvPr>
        </p:nvSpPr>
        <p:spPr/>
        <p:txBody>
          <a:bodyPr/>
          <a:lstStyle/>
          <a:p>
            <a:r>
              <a:rPr lang="en-US" dirty="0"/>
              <a:t>Metric Definitions</a:t>
            </a:r>
          </a:p>
        </p:txBody>
      </p:sp>
      <p:sp>
        <p:nvSpPr>
          <p:cNvPr id="3" name="Content Placeholder 2">
            <a:extLst>
              <a:ext uri="{FF2B5EF4-FFF2-40B4-BE49-F238E27FC236}">
                <a16:creationId xmlns:a16="http://schemas.microsoft.com/office/drawing/2014/main" id="{F294328B-7B0E-4F32-7E92-7C36225C1490}"/>
              </a:ext>
            </a:extLst>
          </p:cNvPr>
          <p:cNvSpPr>
            <a:spLocks noGrp="1"/>
          </p:cNvSpPr>
          <p:nvPr>
            <p:ph idx="1"/>
          </p:nvPr>
        </p:nvSpPr>
        <p:spPr/>
        <p:txBody>
          <a:bodyPr vert="horz" lIns="91440" tIns="45720" rIns="91440" bIns="45720" rtlCol="0" anchor="t">
            <a:noAutofit/>
          </a:bodyPr>
          <a:lstStyle/>
          <a:p>
            <a:r>
              <a:rPr lang="en-US" b="1" dirty="0">
                <a:ea typeface="Calibri"/>
                <a:cs typeface="Calibri"/>
              </a:rPr>
              <a:t>Weighted Market Share Index (</a:t>
            </a:r>
            <a:r>
              <a:rPr lang="en-US" b="1" dirty="0" err="1">
                <a:ea typeface="Calibri"/>
                <a:cs typeface="Calibri"/>
              </a:rPr>
              <a:t>cont</a:t>
            </a:r>
            <a:r>
              <a:rPr lang="en-US" b="1" dirty="0">
                <a:ea typeface="Calibri"/>
                <a:cs typeface="Calibri"/>
              </a:rPr>
              <a:t>)</a:t>
            </a:r>
          </a:p>
          <a:p>
            <a:r>
              <a:rPr lang="en-US" dirty="0">
                <a:ea typeface="Calibri"/>
                <a:cs typeface="Calibri"/>
              </a:rPr>
              <a:t>Notes: </a:t>
            </a:r>
            <a:r>
              <a:rPr lang="en-US" b="1" dirty="0">
                <a:ea typeface="Calibri"/>
                <a:cs typeface="Calibri"/>
              </a:rPr>
              <a:t>HS Grads </a:t>
            </a:r>
            <a:r>
              <a:rPr lang="en-US" dirty="0">
                <a:ea typeface="Calibri"/>
                <a:cs typeface="Calibri"/>
              </a:rPr>
              <a:t>comes from the Common Core Data site using the </a:t>
            </a:r>
            <a:r>
              <a:rPr lang="en-US" i="1" dirty="0"/>
              <a:t>Public School Student Enrollments by Grade </a:t>
            </a:r>
            <a:r>
              <a:rPr lang="en-US" dirty="0"/>
              <a:t>table. For each institution, we subset the high schools in a 25 mile radius from the institution, and then added the HS membership for each AY to get the 12</a:t>
            </a:r>
            <a:r>
              <a:rPr lang="en-US" baseline="30000" dirty="0"/>
              <a:t>th</a:t>
            </a:r>
            <a:r>
              <a:rPr lang="en-US" dirty="0"/>
              <a:t> grade counts. We then multiplied this by the state average HS graduation rate to proxy the number of available graduates in for the following Fall after their 12</a:t>
            </a:r>
            <a:r>
              <a:rPr lang="en-US" baseline="30000" dirty="0"/>
              <a:t>th</a:t>
            </a:r>
            <a:r>
              <a:rPr lang="en-US" dirty="0"/>
              <a:t> grade year.</a:t>
            </a:r>
            <a:endParaRPr lang="en-US" i="1"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i="1" dirty="0">
              <a:ea typeface="Calibri"/>
              <a:cs typeface="Calibri"/>
            </a:endParaRPr>
          </a:p>
        </p:txBody>
      </p:sp>
    </p:spTree>
    <p:extLst>
      <p:ext uri="{BB962C8B-B14F-4D97-AF65-F5344CB8AC3E}">
        <p14:creationId xmlns:p14="http://schemas.microsoft.com/office/powerpoint/2010/main" val="11584643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DA458-3AA7-4507-CDC9-97948F1C9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FBCD8-C859-79D9-A023-6C786520B9D3}"/>
              </a:ext>
            </a:extLst>
          </p:cNvPr>
          <p:cNvSpPr>
            <a:spLocks noGrp="1"/>
          </p:cNvSpPr>
          <p:nvPr>
            <p:ph type="title"/>
          </p:nvPr>
        </p:nvSpPr>
        <p:spPr/>
        <p:txBody>
          <a:bodyPr/>
          <a:lstStyle/>
          <a:p>
            <a:r>
              <a:rPr lang="en-US" dirty="0"/>
              <a:t>Metric Definitions</a:t>
            </a:r>
          </a:p>
        </p:txBody>
      </p:sp>
      <p:sp>
        <p:nvSpPr>
          <p:cNvPr id="3" name="Content Placeholder 2">
            <a:extLst>
              <a:ext uri="{FF2B5EF4-FFF2-40B4-BE49-F238E27FC236}">
                <a16:creationId xmlns:a16="http://schemas.microsoft.com/office/drawing/2014/main" id="{29125580-D432-E864-88DB-45058F066106}"/>
              </a:ext>
            </a:extLst>
          </p:cNvPr>
          <p:cNvSpPr>
            <a:spLocks noGrp="1"/>
          </p:cNvSpPr>
          <p:nvPr>
            <p:ph idx="1"/>
          </p:nvPr>
        </p:nvSpPr>
        <p:spPr/>
        <p:txBody>
          <a:bodyPr vert="horz" lIns="91440" tIns="45720" rIns="91440" bIns="45720" rtlCol="0" anchor="t">
            <a:noAutofit/>
          </a:bodyPr>
          <a:lstStyle/>
          <a:p>
            <a:r>
              <a:rPr lang="en-US" b="1" dirty="0">
                <a:ea typeface="Calibri"/>
                <a:cs typeface="Calibri"/>
              </a:rPr>
              <a:t>Weighted Market Share Index (</a:t>
            </a:r>
            <a:r>
              <a:rPr lang="en-US" b="1" dirty="0" err="1">
                <a:ea typeface="Calibri"/>
                <a:cs typeface="Calibri"/>
              </a:rPr>
              <a:t>cont</a:t>
            </a:r>
            <a:r>
              <a:rPr lang="en-US" b="1" dirty="0">
                <a:ea typeface="Calibri"/>
                <a:cs typeface="Calibri"/>
              </a:rPr>
              <a:t>)</a:t>
            </a:r>
          </a:p>
          <a:p>
            <a:r>
              <a:rPr lang="en-US" dirty="0">
                <a:ea typeface="Calibri"/>
                <a:cs typeface="Calibri"/>
              </a:rPr>
              <a:t>Notes: Lastly, </a:t>
            </a:r>
            <a:r>
              <a:rPr lang="en-US" b="1" dirty="0">
                <a:ea typeface="Calibri"/>
                <a:cs typeface="Calibri"/>
              </a:rPr>
              <a:t>DS </a:t>
            </a:r>
            <a:r>
              <a:rPr lang="en-US" dirty="0">
                <a:ea typeface="Calibri"/>
                <a:cs typeface="Calibri"/>
              </a:rPr>
              <a:t>is </a:t>
            </a:r>
            <a:r>
              <a:rPr lang="en-US" b="1" dirty="0">
                <a:ea typeface="Calibri"/>
                <a:cs typeface="Calibri"/>
              </a:rPr>
              <a:t>EFUG1ST + EFUGTRN + EFUGCNT </a:t>
            </a:r>
            <a:r>
              <a:rPr lang="en-US" dirty="0">
                <a:ea typeface="Calibri"/>
                <a:cs typeface="Calibri"/>
              </a:rPr>
              <a:t>from the DRVEF20## survey in IPEDS. It is the total number of degree seeking students, which we filtered to only the institutions within a 25-mile radius of the target institution. The numerator is the target institutions DS and the denominator is the total local DS enrollment. The product of this ratio and </a:t>
            </a:r>
            <a:r>
              <a:rPr lang="en-US" b="1" dirty="0">
                <a:ea typeface="Calibri"/>
                <a:cs typeface="Calibri"/>
              </a:rPr>
              <a:t>HS Grads </a:t>
            </a:r>
            <a:r>
              <a:rPr lang="en-US" dirty="0">
                <a:ea typeface="Calibri"/>
                <a:cs typeface="Calibri"/>
              </a:rPr>
              <a:t>ensures that a school is indexed weighted on their local enrollment size. If there is only one college in the area, they will have a higher recent HS graduate enrollment than a college that has multiple local competitors. </a:t>
            </a:r>
            <a:endParaRPr lang="en-US" b="1" i="1"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dirty="0">
              <a:ea typeface="Calibri"/>
              <a:cs typeface="Calibri"/>
            </a:endParaRPr>
          </a:p>
          <a:p>
            <a:endParaRPr lang="en-US" i="1" dirty="0">
              <a:ea typeface="Calibri"/>
              <a:cs typeface="Calibri"/>
            </a:endParaRPr>
          </a:p>
        </p:txBody>
      </p:sp>
    </p:spTree>
    <p:extLst>
      <p:ext uri="{BB962C8B-B14F-4D97-AF65-F5344CB8AC3E}">
        <p14:creationId xmlns:p14="http://schemas.microsoft.com/office/powerpoint/2010/main" val="39532790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960DA-5E86-07EC-6B8A-CC971B73D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DE328-DCD9-D9D2-9BD5-892E098BF358}"/>
              </a:ext>
            </a:extLst>
          </p:cNvPr>
          <p:cNvSpPr>
            <a:spLocks noGrp="1"/>
          </p:cNvSpPr>
          <p:nvPr>
            <p:ph type="title"/>
          </p:nvPr>
        </p:nvSpPr>
        <p:spPr/>
        <p:txBody>
          <a:bodyPr/>
          <a:lstStyle/>
          <a:p>
            <a:r>
              <a:rPr lang="en-US" dirty="0"/>
              <a:t>Metric Definitions</a:t>
            </a:r>
          </a:p>
        </p:txBody>
      </p:sp>
      <p:sp>
        <p:nvSpPr>
          <p:cNvPr id="3" name="Content Placeholder 2">
            <a:extLst>
              <a:ext uri="{FF2B5EF4-FFF2-40B4-BE49-F238E27FC236}">
                <a16:creationId xmlns:a16="http://schemas.microsoft.com/office/drawing/2014/main" id="{8EDAE4A1-6145-B995-5775-71A6CD302529}"/>
              </a:ext>
            </a:extLst>
          </p:cNvPr>
          <p:cNvSpPr>
            <a:spLocks noGrp="1"/>
          </p:cNvSpPr>
          <p:nvPr>
            <p:ph idx="1"/>
          </p:nvPr>
        </p:nvSpPr>
        <p:spPr/>
        <p:txBody>
          <a:bodyPr vert="horz" lIns="91440" tIns="45720" rIns="91440" bIns="45720" rtlCol="0" anchor="t">
            <a:noAutofit/>
          </a:bodyPr>
          <a:lstStyle/>
          <a:p>
            <a:r>
              <a:rPr lang="en-US" b="1" dirty="0">
                <a:ea typeface="Calibri"/>
                <a:cs typeface="Calibri"/>
              </a:rPr>
              <a:t>Fall Enrollment</a:t>
            </a:r>
          </a:p>
          <a:p>
            <a:r>
              <a:rPr lang="en-US" dirty="0"/>
              <a:t>					ENRTOT</a:t>
            </a:r>
          </a:p>
          <a:p>
            <a:r>
              <a:rPr lang="en-US" dirty="0">
                <a:ea typeface="Calibri"/>
                <a:cs typeface="Calibri"/>
              </a:rPr>
              <a:t>IPEDS Surveys:</a:t>
            </a:r>
            <a:r>
              <a:rPr lang="en-US" b="1" dirty="0">
                <a:ea typeface="Calibri"/>
                <a:cs typeface="Calibri"/>
              </a:rPr>
              <a:t> DRVEF20##</a:t>
            </a:r>
          </a:p>
        </p:txBody>
      </p:sp>
    </p:spTree>
    <p:extLst>
      <p:ext uri="{BB962C8B-B14F-4D97-AF65-F5344CB8AC3E}">
        <p14:creationId xmlns:p14="http://schemas.microsoft.com/office/powerpoint/2010/main" val="15032595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2FAC4-F3B4-587C-54C9-3E10FAE6D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802D06-AC3E-AAA5-9362-E6A33A788362}"/>
              </a:ext>
            </a:extLst>
          </p:cNvPr>
          <p:cNvSpPr>
            <a:spLocks noGrp="1"/>
          </p:cNvSpPr>
          <p:nvPr>
            <p:ph type="title"/>
          </p:nvPr>
        </p:nvSpPr>
        <p:spPr/>
        <p:txBody>
          <a:bodyPr/>
          <a:lstStyle/>
          <a:p>
            <a:r>
              <a:rPr lang="en-US" dirty="0"/>
              <a:t>Notes on IPEDS Variables and Codes</a:t>
            </a:r>
          </a:p>
        </p:txBody>
      </p:sp>
      <p:sp>
        <p:nvSpPr>
          <p:cNvPr id="3" name="Content Placeholder 2">
            <a:extLst>
              <a:ext uri="{FF2B5EF4-FFF2-40B4-BE49-F238E27FC236}">
                <a16:creationId xmlns:a16="http://schemas.microsoft.com/office/drawing/2014/main" id="{BF1690D8-D44B-B449-A3E9-0A69F3D9CA15}"/>
              </a:ext>
            </a:extLst>
          </p:cNvPr>
          <p:cNvSpPr>
            <a:spLocks noGrp="1"/>
          </p:cNvSpPr>
          <p:nvPr>
            <p:ph idx="1"/>
          </p:nvPr>
        </p:nvSpPr>
        <p:spPr/>
        <p:txBody>
          <a:bodyPr vert="horz" lIns="91440" tIns="45720" rIns="91440" bIns="45720" rtlCol="0" anchor="t">
            <a:noAutofit/>
          </a:bodyPr>
          <a:lstStyle/>
          <a:p>
            <a:r>
              <a:rPr lang="en-US" b="1" dirty="0">
                <a:ea typeface="Calibri"/>
                <a:cs typeface="Calibri"/>
              </a:rPr>
              <a:t>Inconsistencies</a:t>
            </a:r>
          </a:p>
          <a:p>
            <a:r>
              <a:rPr lang="en-US" dirty="0">
                <a:ea typeface="Calibri"/>
                <a:cs typeface="Calibri"/>
              </a:rPr>
              <a:t>Some surveys like the finance </a:t>
            </a:r>
            <a:r>
              <a:rPr lang="en-US" b="1" dirty="0">
                <a:ea typeface="Calibri"/>
                <a:cs typeface="Calibri"/>
              </a:rPr>
              <a:t>F2020_F1A </a:t>
            </a:r>
            <a:r>
              <a:rPr lang="en-US" dirty="0">
                <a:ea typeface="Calibri"/>
                <a:cs typeface="Calibri"/>
              </a:rPr>
              <a:t>will update and add/delete variables. Another change could be the codes being used year to year. In a few of our metrics, we use the codes to filter to total students or some subset, but these codes are liable to change to mean something different. However, this may not be immediately evident, especially for unfamiliar institutions. So it is beneficial to go through each collection definition being used for your own created metric to make sure you are staying consistent throughout your collection years.</a:t>
            </a:r>
            <a:endParaRPr lang="en-US" b="1" dirty="0">
              <a:ea typeface="Calibri"/>
              <a:cs typeface="Calibri"/>
            </a:endParaRPr>
          </a:p>
        </p:txBody>
      </p:sp>
    </p:spTree>
    <p:extLst>
      <p:ext uri="{BB962C8B-B14F-4D97-AF65-F5344CB8AC3E}">
        <p14:creationId xmlns:p14="http://schemas.microsoft.com/office/powerpoint/2010/main" val="91837122"/>
      </p:ext>
    </p:extLst>
  </p:cSld>
  <p:clrMapOvr>
    <a:masterClrMapping/>
  </p:clrMapOvr>
</p:sld>
</file>

<file path=ppt/theme/theme1.xml><?xml version="1.0" encoding="utf-8"?>
<a:theme xmlns:a="http://schemas.openxmlformats.org/drawingml/2006/main" name="Master Light">
  <a:themeElements>
    <a:clrScheme name="AIR Forum 2026">
      <a:dk1>
        <a:srgbClr val="0C2244"/>
      </a:dk1>
      <a:lt1>
        <a:srgbClr val="FFFFFF"/>
      </a:lt1>
      <a:dk2>
        <a:srgbClr val="9A3434"/>
      </a:dk2>
      <a:lt2>
        <a:srgbClr val="FFFFFF"/>
      </a:lt2>
      <a:accent1>
        <a:srgbClr val="2878BE"/>
      </a:accent1>
      <a:accent2>
        <a:srgbClr val="9B6969"/>
      </a:accent2>
      <a:accent3>
        <a:srgbClr val="C3A359"/>
      </a:accent3>
      <a:accent4>
        <a:srgbClr val="B19D8D"/>
      </a:accent4>
      <a:accent5>
        <a:srgbClr val="0C2244"/>
      </a:accent5>
      <a:accent6>
        <a:srgbClr val="939598"/>
      </a:accent6>
      <a:hlink>
        <a:srgbClr val="2878BE"/>
      </a:hlink>
      <a:folHlink>
        <a:srgbClr val="2878BE"/>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1049BB170560E4B902D25840F593189" ma:contentTypeVersion="3" ma:contentTypeDescription="Create a new document." ma:contentTypeScope="" ma:versionID="f7cf7b4155d32cb80781f7e22a8450d0">
  <xsd:schema xmlns:xsd="http://www.w3.org/2001/XMLSchema" xmlns:xs="http://www.w3.org/2001/XMLSchema" xmlns:p="http://schemas.microsoft.com/office/2006/metadata/properties" xmlns:ns2="4da59184-df73-4fed-8d88-baff151abc02" targetNamespace="http://schemas.microsoft.com/office/2006/metadata/properties" ma:root="true" ma:fieldsID="7245327e3169c79b06969a731c28fb5b" ns2:_="">
    <xsd:import namespace="4da59184-df73-4fed-8d88-baff151abc02"/>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da59184-df73-4fed-8d88-baff151abc0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EDDA036-857E-44E9-8142-4FEE41F3CEAD}">
  <ds:schemaRefs>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dcmitype/"/>
    <ds:schemaRef ds:uri="http://www.w3.org/XML/1998/namespace"/>
    <ds:schemaRef ds:uri="4da59184-df73-4fed-8d88-baff151abc02"/>
    <ds:schemaRef ds:uri="http://purl.org/dc/terms/"/>
  </ds:schemaRefs>
</ds:datastoreItem>
</file>

<file path=customXml/itemProps2.xml><?xml version="1.0" encoding="utf-8"?>
<ds:datastoreItem xmlns:ds="http://schemas.openxmlformats.org/officeDocument/2006/customXml" ds:itemID="{893CAC5A-4FA5-45A6-A901-5AAFC34B7C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da59184-df73-4fed-8d88-baff151abc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A61D40E5-A5CF-4368-82FA-42EFB1CB7CC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16421</TotalTime>
  <Words>2402</Words>
  <Application>Microsoft Office PowerPoint</Application>
  <PresentationFormat>Widescreen</PresentationFormat>
  <Paragraphs>304</Paragraphs>
  <Slides>44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44</vt:i4>
      </vt:variant>
    </vt:vector>
  </HeadingPairs>
  <TitlesOfParts>
    <vt:vector size="48" baseType="lpstr">
      <vt:lpstr>Arial</vt:lpstr>
      <vt:lpstr>Calibri</vt:lpstr>
      <vt:lpstr>Cambria Math</vt:lpstr>
      <vt:lpstr>Master Light</vt:lpstr>
      <vt:lpstr>The Benchmarking Process</vt:lpstr>
      <vt:lpstr>Start with Purpose</vt:lpstr>
      <vt:lpstr>Start with Purpose</vt:lpstr>
      <vt:lpstr>Start with Purpose</vt:lpstr>
      <vt:lpstr>Start with Purpose</vt:lpstr>
      <vt:lpstr>Start with Purpose</vt:lpstr>
      <vt:lpstr>Create a Benchmarking Data Store</vt:lpstr>
      <vt:lpstr>Create a Benchmarking Data Store</vt:lpstr>
      <vt:lpstr>Create a Benchmarking Data Store</vt:lpstr>
      <vt:lpstr>Create a Benchmarking Data Store</vt:lpstr>
      <vt:lpstr>Create a Benchmarking Data Store</vt:lpstr>
      <vt:lpstr>Create a Benchmarking Data Store</vt:lpstr>
      <vt:lpstr>Create a Benchmarking Data Store</vt:lpstr>
      <vt:lpstr>Grouping Peers</vt:lpstr>
      <vt:lpstr>Grouping Peers</vt:lpstr>
      <vt:lpstr>Grouping Peers</vt:lpstr>
      <vt:lpstr>Grouping Peers (cont)</vt:lpstr>
      <vt:lpstr>Grouping Peers (cont)</vt:lpstr>
      <vt:lpstr>Grouping Peers (cont)</vt:lpstr>
      <vt:lpstr>Selecting Peers</vt:lpstr>
      <vt:lpstr>Selecting Peers</vt:lpstr>
      <vt:lpstr>Selecting Peers</vt:lpstr>
      <vt:lpstr>Developing a Report</vt:lpstr>
      <vt:lpstr>Developing a Report</vt:lpstr>
      <vt:lpstr>Developing a Report</vt:lpstr>
      <vt:lpstr>Developing a Report</vt:lpstr>
      <vt:lpstr>Developing a Report</vt:lpstr>
      <vt:lpstr>Developing a Report</vt:lpstr>
      <vt:lpstr>Appendices</vt:lpstr>
      <vt:lpstr>Metric Definitions</vt:lpstr>
      <vt:lpstr>Metric Definitions</vt:lpstr>
      <vt:lpstr>Metric Definitions</vt:lpstr>
      <vt:lpstr>Metric Definitions</vt:lpstr>
      <vt:lpstr>Metric Definitions</vt:lpstr>
      <vt:lpstr>Metric Definitions</vt:lpstr>
      <vt:lpstr>Metric Definitions</vt:lpstr>
      <vt:lpstr>Metric Definitions</vt:lpstr>
      <vt:lpstr>Metric Definitions</vt:lpstr>
      <vt:lpstr>Metric Definitions</vt:lpstr>
      <vt:lpstr>Metric Definitions</vt:lpstr>
      <vt:lpstr>Metric Definitions</vt:lpstr>
      <vt:lpstr>Metric Definitions</vt:lpstr>
      <vt:lpstr>Metric Definitions</vt:lpstr>
      <vt:lpstr>Notes on IPEDS Variables and Codes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Forum Presentation</dc:title>
  <dc:subject/>
  <dc:creator>Jonathan Gallegos</dc:creator>
  <cp:keywords/>
  <dc:description/>
  <cp:lastModifiedBy>Jonathan Gallegos</cp:lastModifiedBy>
  <cp:revision>299</cp:revision>
  <dcterms:created xsi:type="dcterms:W3CDTF">2020-03-18T13:48:37Z</dcterms:created>
  <dcterms:modified xsi:type="dcterms:W3CDTF">2026-04-23T15:04:25Z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0x01010041049BB170560E4B902D25840F593189</vt:lpwstr>
  </property>
  <property fmtid="{D5CDD505-2E9C-101B-9397-08002B2CF9AE}" pid="3" name="_dlc_DocIdItemGuid">
    <vt:lpwstr>4aff275e-6af8-46b7-9ff2-8d87414cb898</vt:lpwstr>
  </property>
  <property fmtid="{D5CDD505-2E9C-101B-9397-08002B2CF9AE}" pid="4" name="MediaServiceImageTags">
    <vt:lpwstr/>
  </property>
</Properties>
</file>